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A9CB82-9281-485F-A1CE-9E6190AA0E14}">
  <a:tblStyle styleId="{ECA9CB82-9281-485F-A1CE-9E6190AA0E1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CE376EB-0B3B-45D6-8590-C8E22B5B27CD}"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EF8E6"/>
          </a:solidFill>
        </a:fill>
      </a:tcStyle>
    </a:wholeTbl>
    <a:band1H>
      <a:tcTxStyle/>
      <a:tcStyle>
        <a:fill>
          <a:solidFill>
            <a:srgbClr val="FDF1CA"/>
          </a:solidFill>
        </a:fill>
      </a:tcStyle>
    </a:band1H>
    <a:band2H>
      <a:tcTxStyle/>
    </a:band2H>
    <a:band1V>
      <a:tcTxStyle/>
      <a:tcStyle>
        <a:fill>
          <a:solidFill>
            <a:srgbClr val="FDF1C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n"/>
          <p:cNvSpPr txBox="1"/>
          <p:nvPr>
            <p:ph idx="2" type="hdr"/>
          </p:nvPr>
        </p:nvSpPr>
        <p:spPr>
          <a:xfrm>
            <a:off x="0" y="0"/>
            <a:ext cx="3962400" cy="344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n"/>
          <p:cNvSpPr txBox="1"/>
          <p:nvPr>
            <p:ph idx="10" type="dt"/>
          </p:nvPr>
        </p:nvSpPr>
        <p:spPr>
          <a:xfrm>
            <a:off x="5179484" y="0"/>
            <a:ext cx="3962400" cy="3441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n"/>
          <p:cNvSpPr/>
          <p:nvPr>
            <p:ph idx="3"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n"/>
          <p:cNvSpPr txBox="1"/>
          <p:nvPr>
            <p:ph idx="1" type="body"/>
          </p:nvPr>
        </p:nvSpPr>
        <p:spPr>
          <a:xfrm>
            <a:off x="914400" y="3300412"/>
            <a:ext cx="7315200" cy="27003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9" name="Google Shape;49;n"/>
          <p:cNvSpPr txBox="1"/>
          <p:nvPr>
            <p:ph idx="11" type="ftr"/>
          </p:nvPr>
        </p:nvSpPr>
        <p:spPr>
          <a:xfrm>
            <a:off x="0" y="6513910"/>
            <a:ext cx="3962400" cy="3441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n"/>
          <p:cNvSpPr txBox="1"/>
          <p:nvPr>
            <p:ph idx="12" type="sldNum"/>
          </p:nvPr>
        </p:nvSpPr>
        <p:spPr>
          <a:xfrm>
            <a:off x="5179484" y="6513910"/>
            <a:ext cx="3962400" cy="3441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tr-T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4: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5: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5: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6: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9: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9: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0: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1: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1: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2: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3: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3: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4: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24: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5: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25: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6: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6: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7:notes"/>
          <p:cNvSpPr txBox="1"/>
          <p:nvPr>
            <p:ph idx="1" type="body"/>
          </p:nvPr>
        </p:nvSpPr>
        <p:spPr>
          <a:xfrm>
            <a:off x="914400" y="3300412"/>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27: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blipFill>
          <a:blip r:embed="rId2">
            <a:alphaModFix/>
          </a:blip>
          <a:stretch>
            <a:fillRect/>
          </a:stretch>
        </a:blipFill>
      </p:bgPr>
    </p:bg>
    <p:spTree>
      <p:nvGrpSpPr>
        <p:cNvPr id="55" name="Shape 55"/>
        <p:cNvGrpSpPr/>
        <p:nvPr/>
      </p:nvGrpSpPr>
      <p:grpSpPr>
        <a:xfrm>
          <a:off x="0" y="0"/>
          <a:ext cx="0" cy="0"/>
          <a:chOff x="0" y="0"/>
          <a:chExt cx="0" cy="0"/>
        </a:xfrm>
      </p:grpSpPr>
      <p:pic>
        <p:nvPicPr>
          <p:cNvPr id="56" name="Google Shape;56;p2"/>
          <p:cNvPicPr preferRelativeResize="0"/>
          <p:nvPr/>
        </p:nvPicPr>
        <p:blipFill rotWithShape="1">
          <a:blip r:embed="rId3">
            <a:alphaModFix/>
          </a:blip>
          <a:srcRect b="0" l="0" r="0" t="0"/>
          <a:stretch/>
        </p:blipFill>
        <p:spPr>
          <a:xfrm>
            <a:off x="-23978" y="-10183"/>
            <a:ext cx="12215978" cy="6878365"/>
          </a:xfrm>
          <a:prstGeom prst="rect">
            <a:avLst/>
          </a:prstGeom>
          <a:noFill/>
          <a:ln>
            <a:noFill/>
          </a:ln>
        </p:spPr>
      </p:pic>
      <p:sp>
        <p:nvSpPr>
          <p:cNvPr id="57" name="Google Shape;57;p2"/>
          <p:cNvSpPr txBox="1"/>
          <p:nvPr>
            <p:ph type="ctrTitle"/>
          </p:nvPr>
        </p:nvSpPr>
        <p:spPr>
          <a:xfrm>
            <a:off x="2905751" y="2235199"/>
            <a:ext cx="6356400" cy="2387700"/>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4800"/>
              <a:buFont typeface="Helvetica Neue"/>
              <a:buNone/>
              <a:defRPr b="0" i="0" sz="4800" u="none" cap="none" strike="noStrike">
                <a:solidFill>
                  <a:schemeClr val="dk1"/>
                </a:solidFill>
                <a:latin typeface="Helvetica Neue"/>
                <a:ea typeface="Helvetica Neue"/>
                <a:cs typeface="Helvetica Neue"/>
                <a:sym typeface="Helvetica Neu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pic>
        <p:nvPicPr>
          <p:cNvPr id="58" name="Google Shape;58;p2"/>
          <p:cNvPicPr preferRelativeResize="0"/>
          <p:nvPr/>
        </p:nvPicPr>
        <p:blipFill rotWithShape="1">
          <a:blip r:embed="rId4">
            <a:alphaModFix/>
          </a:blip>
          <a:srcRect b="0" l="0" r="0" t="0"/>
          <a:stretch/>
        </p:blipFill>
        <p:spPr>
          <a:xfrm>
            <a:off x="10210800" y="6356425"/>
            <a:ext cx="1828801" cy="387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3"/>
          <p:cNvSpPr txBox="1"/>
          <p:nvPr>
            <p:ph type="title"/>
          </p:nvPr>
        </p:nvSpPr>
        <p:spPr>
          <a:xfrm>
            <a:off x="837220" y="876301"/>
            <a:ext cx="10516500" cy="28527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Helvetica Neue"/>
              <a:buNone/>
              <a:defRPr b="0" i="0" sz="6000" u="none" cap="none" strike="noStrike">
                <a:solidFill>
                  <a:schemeClr val="dk1"/>
                </a:solidFill>
                <a:latin typeface="Helvetica Neue"/>
                <a:ea typeface="Helvetica Neue"/>
                <a:cs typeface="Helvetica Neue"/>
                <a:sym typeface="Helvetica Neu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61" name="Google Shape;61;p3"/>
          <p:cNvSpPr txBox="1"/>
          <p:nvPr>
            <p:ph idx="1" type="body"/>
          </p:nvPr>
        </p:nvSpPr>
        <p:spPr>
          <a:xfrm>
            <a:off x="837221" y="3817938"/>
            <a:ext cx="10516500" cy="150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Helvetica Neue"/>
                <a:ea typeface="Helvetica Neue"/>
                <a:cs typeface="Helvetica Neue"/>
                <a:sym typeface="Helvetica Neue"/>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Helvetica Neue"/>
                <a:ea typeface="Helvetica Neue"/>
                <a:cs typeface="Helvetica Neue"/>
                <a:sym typeface="Helvetica Neue"/>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Helvetica Neue"/>
                <a:ea typeface="Helvetica Neue"/>
                <a:cs typeface="Helvetica Neue"/>
                <a:sym typeface="Helvetica Neue"/>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Helvetica Neue"/>
                <a:ea typeface="Helvetica Neue"/>
                <a:cs typeface="Helvetica Neue"/>
                <a:sym typeface="Helvetica Neue"/>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Helvetica Neue"/>
                <a:ea typeface="Helvetica Neue"/>
                <a:cs typeface="Helvetica Neue"/>
                <a:sym typeface="Helvetica Neue"/>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62" name="Google Shape;62;p3"/>
          <p:cNvSpPr/>
          <p:nvPr/>
        </p:nvSpPr>
        <p:spPr>
          <a:xfrm>
            <a:off x="-3314" y="768350"/>
            <a:ext cx="360600" cy="4549800"/>
          </a:xfrm>
          <a:prstGeom prst="rect">
            <a:avLst/>
          </a:prstGeom>
          <a:solidFill>
            <a:srgbClr val="FDDD0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Helvetica Neue"/>
              <a:ea typeface="Helvetica Neue"/>
              <a:cs typeface="Helvetica Neue"/>
              <a:sym typeface="Helvetica Neue"/>
            </a:endParaRPr>
          </a:p>
        </p:txBody>
      </p:sp>
      <p:sp>
        <p:nvSpPr>
          <p:cNvPr id="63" name="Google Shape;63;p3"/>
          <p:cNvSpPr/>
          <p:nvPr/>
        </p:nvSpPr>
        <p:spPr>
          <a:xfrm>
            <a:off x="445639" y="768350"/>
            <a:ext cx="107700" cy="4549800"/>
          </a:xfrm>
          <a:prstGeom prst="rect">
            <a:avLst/>
          </a:prstGeom>
          <a:solidFill>
            <a:srgbClr val="FDDD0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Helvetica Neue"/>
              <a:ea typeface="Helvetica Neue"/>
              <a:cs typeface="Helvetica Neue"/>
              <a:sym typeface="Helvetica Neue"/>
            </a:endParaRPr>
          </a:p>
        </p:txBody>
      </p:sp>
      <p:sp>
        <p:nvSpPr>
          <p:cNvPr id="64" name="Google Shape;64;p3"/>
          <p:cNvSpPr txBox="1"/>
          <p:nvPr>
            <p:ph idx="11" type="ftr"/>
          </p:nvPr>
        </p:nvSpPr>
        <p:spPr>
          <a:xfrm>
            <a:off x="0" y="5915024"/>
            <a:ext cx="12192000" cy="954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5" name="Google Shape;65;p3"/>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66" name="Shape 66"/>
        <p:cNvGrpSpPr/>
        <p:nvPr/>
      </p:nvGrpSpPr>
      <p:grpSpPr>
        <a:xfrm>
          <a:off x="0" y="0"/>
          <a:ext cx="0" cy="0"/>
          <a:chOff x="0" y="0"/>
          <a:chExt cx="0" cy="0"/>
        </a:xfrm>
      </p:grpSpPr>
      <p:sp>
        <p:nvSpPr>
          <p:cNvPr id="67" name="Google Shape;67;p4"/>
          <p:cNvSpPr txBox="1"/>
          <p:nvPr>
            <p:ph idx="1" type="body"/>
          </p:nvPr>
        </p:nvSpPr>
        <p:spPr>
          <a:xfrm>
            <a:off x="482600" y="1588576"/>
            <a:ext cx="5328000" cy="41691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Helvetica Neue"/>
                <a:ea typeface="Helvetica Neue"/>
                <a:cs typeface="Helvetica Neue"/>
                <a:sym typeface="Helvetica Neue"/>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9pPr>
          </a:lstStyle>
          <a:p/>
        </p:txBody>
      </p:sp>
      <p:sp>
        <p:nvSpPr>
          <p:cNvPr id="68" name="Google Shape;68;p4"/>
          <p:cNvSpPr txBox="1"/>
          <p:nvPr>
            <p:ph idx="2" type="body"/>
          </p:nvPr>
        </p:nvSpPr>
        <p:spPr>
          <a:xfrm>
            <a:off x="6242404" y="1588576"/>
            <a:ext cx="5328000" cy="41691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Helvetica Neue"/>
                <a:ea typeface="Helvetica Neue"/>
                <a:cs typeface="Helvetica Neue"/>
                <a:sym typeface="Helvetica Neue"/>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9pPr>
          </a:lstStyle>
          <a:p/>
        </p:txBody>
      </p:sp>
      <p:sp>
        <p:nvSpPr>
          <p:cNvPr id="69" name="Google Shape;69;p4"/>
          <p:cNvSpPr txBox="1"/>
          <p:nvPr>
            <p:ph idx="11" type="ftr"/>
          </p:nvPr>
        </p:nvSpPr>
        <p:spPr>
          <a:xfrm>
            <a:off x="0" y="5915024"/>
            <a:ext cx="12192000" cy="954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0" name="Google Shape;70;p4"/>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tr-TR"/>
              <a:t>‹#›</a:t>
            </a:fld>
            <a:endParaRPr/>
          </a:p>
        </p:txBody>
      </p:sp>
      <p:sp>
        <p:nvSpPr>
          <p:cNvPr id="71" name="Google Shape;71;p4"/>
          <p:cNvSpPr/>
          <p:nvPr/>
        </p:nvSpPr>
        <p:spPr>
          <a:xfrm>
            <a:off x="-3314" y="400148"/>
            <a:ext cx="8290800" cy="806400"/>
          </a:xfrm>
          <a:prstGeom prst="rect">
            <a:avLst/>
          </a:prstGeom>
          <a:solidFill>
            <a:srgbClr val="FDDD0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Helvetica Neue"/>
              <a:ea typeface="Helvetica Neue"/>
              <a:cs typeface="Helvetica Neue"/>
              <a:sym typeface="Helvetica Neue"/>
            </a:endParaRPr>
          </a:p>
        </p:txBody>
      </p:sp>
      <p:sp>
        <p:nvSpPr>
          <p:cNvPr id="72" name="Google Shape;72;p4"/>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800"/>
              <a:buFont typeface="Helvetica Neue"/>
              <a:buNone/>
              <a:defRPr b="0" i="0" sz="2800" u="none" cap="none" strike="noStrike">
                <a:solidFill>
                  <a:schemeClr val="dk1"/>
                </a:solidFill>
                <a:latin typeface="Helvetica Neue"/>
                <a:ea typeface="Helvetica Neue"/>
                <a:cs typeface="Helvetica Neue"/>
                <a:sym typeface="Helvetica Neu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3" name="Shape 73"/>
        <p:cNvGrpSpPr/>
        <p:nvPr/>
      </p:nvGrpSpPr>
      <p:grpSpPr>
        <a:xfrm>
          <a:off x="0" y="0"/>
          <a:ext cx="0" cy="0"/>
          <a:chOff x="0" y="0"/>
          <a:chExt cx="0" cy="0"/>
        </a:xfrm>
      </p:grpSpPr>
      <p:sp>
        <p:nvSpPr>
          <p:cNvPr id="74" name="Google Shape;74;p5"/>
          <p:cNvSpPr txBox="1"/>
          <p:nvPr>
            <p:ph idx="1" type="body"/>
          </p:nvPr>
        </p:nvSpPr>
        <p:spPr>
          <a:xfrm>
            <a:off x="-100739" y="1588576"/>
            <a:ext cx="12026700" cy="4169100"/>
          </a:xfrm>
          <a:prstGeom prst="rect">
            <a:avLst/>
          </a:prstGeom>
          <a:noFill/>
          <a:ln>
            <a:noFill/>
          </a:ln>
        </p:spPr>
        <p:txBody>
          <a:bodyPr anchorCtr="0" anchor="t" bIns="45700" lIns="91425" spcFirstLastPara="1" rIns="91425" wrap="square" tIns="45700">
            <a:normAutofit/>
          </a:bodyPr>
          <a:lstStyle>
            <a:lvl1pPr indent="-353060" lvl="0" marL="457200" marR="0" rtl="0" algn="l">
              <a:lnSpc>
                <a:spcPct val="90000"/>
              </a:lnSpc>
              <a:spcBef>
                <a:spcPts val="1000"/>
              </a:spcBef>
              <a:spcAft>
                <a:spcPts val="0"/>
              </a:spcAft>
              <a:buClr>
                <a:schemeClr val="dk1"/>
              </a:buClr>
              <a:buSzPts val="1960"/>
              <a:buFont typeface="Arial"/>
              <a:buChar char="•"/>
              <a:defRPr b="0" i="0" sz="2800" u="none" cap="none" strike="noStrike">
                <a:solidFill>
                  <a:schemeClr val="dk1"/>
                </a:solidFill>
                <a:latin typeface="Helvetica Neue"/>
                <a:ea typeface="Helvetica Neue"/>
                <a:cs typeface="Helvetica Neue"/>
                <a:sym typeface="Helvetica Neue"/>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Helvetica Neue"/>
                <a:ea typeface="Helvetica Neue"/>
                <a:cs typeface="Helvetica Neue"/>
                <a:sym typeface="Helvetica Neue"/>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Helvetica Neue"/>
                <a:ea typeface="Helvetica Neue"/>
                <a:cs typeface="Helvetica Neue"/>
                <a:sym typeface="Helvetica Neue"/>
              </a:defRPr>
            </a:lvl5pPr>
            <a:lvl6pPr indent="-406400" lvl="5" marL="27432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Helvetica Neue"/>
                <a:ea typeface="Helvetica Neue"/>
                <a:cs typeface="Helvetica Neue"/>
                <a:sym typeface="Helvetica Neue"/>
              </a:defRPr>
            </a:lvl6pPr>
            <a:lvl7pPr indent="-406400" lvl="6" marL="3200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Helvetica Neue"/>
                <a:ea typeface="Helvetica Neue"/>
                <a:cs typeface="Helvetica Neue"/>
                <a:sym typeface="Helvetica Neue"/>
              </a:defRPr>
            </a:lvl7pPr>
            <a:lvl8pPr indent="-406400" lvl="7" marL="36576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Helvetica Neue"/>
                <a:ea typeface="Helvetica Neue"/>
                <a:cs typeface="Helvetica Neue"/>
                <a:sym typeface="Helvetica Neue"/>
              </a:defRPr>
            </a:lvl8pPr>
            <a:lvl9pPr indent="-406400" lvl="8" marL="41148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Helvetica Neue"/>
                <a:ea typeface="Helvetica Neue"/>
                <a:cs typeface="Helvetica Neue"/>
                <a:sym typeface="Helvetica Neue"/>
              </a:defRPr>
            </a:lvl9pPr>
          </a:lstStyle>
          <a:p/>
        </p:txBody>
      </p:sp>
      <p:sp>
        <p:nvSpPr>
          <p:cNvPr id="75" name="Google Shape;75;p5"/>
          <p:cNvSpPr/>
          <p:nvPr/>
        </p:nvSpPr>
        <p:spPr>
          <a:xfrm>
            <a:off x="-3314" y="400148"/>
            <a:ext cx="8290800" cy="806400"/>
          </a:xfrm>
          <a:prstGeom prst="rect">
            <a:avLst/>
          </a:prstGeom>
          <a:solidFill>
            <a:srgbClr val="FDDD0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Helvetica Neue"/>
              <a:ea typeface="Helvetica Neue"/>
              <a:cs typeface="Helvetica Neue"/>
              <a:sym typeface="Helvetica Neue"/>
            </a:endParaRPr>
          </a:p>
        </p:txBody>
      </p:sp>
      <p:sp>
        <p:nvSpPr>
          <p:cNvPr id="76" name="Google Shape;76;p5"/>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800"/>
              <a:buFont typeface="Helvetica Neue"/>
              <a:buNone/>
              <a:defRPr b="0" i="0" sz="2800" u="none" cap="none" strike="noStrike">
                <a:solidFill>
                  <a:schemeClr val="dk1"/>
                </a:solidFill>
                <a:latin typeface="Helvetica Neue"/>
                <a:ea typeface="Helvetica Neue"/>
                <a:cs typeface="Helvetica Neue"/>
                <a:sym typeface="Helvetica Neu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7" name="Google Shape;77;p5"/>
          <p:cNvSpPr txBox="1"/>
          <p:nvPr>
            <p:ph idx="11" type="ftr"/>
          </p:nvPr>
        </p:nvSpPr>
        <p:spPr>
          <a:xfrm>
            <a:off x="0" y="5915024"/>
            <a:ext cx="12192000" cy="954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8" name="Google Shape;78;p5"/>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79" name="Shape 79"/>
        <p:cNvGrpSpPr/>
        <p:nvPr/>
      </p:nvGrpSpPr>
      <p:grpSpPr>
        <a:xfrm>
          <a:off x="0" y="0"/>
          <a:ext cx="0" cy="0"/>
          <a:chOff x="0" y="0"/>
          <a:chExt cx="0" cy="0"/>
        </a:xfrm>
      </p:grpSpPr>
      <p:sp>
        <p:nvSpPr>
          <p:cNvPr id="80" name="Google Shape;80;p6"/>
          <p:cNvSpPr txBox="1"/>
          <p:nvPr/>
        </p:nvSpPr>
        <p:spPr>
          <a:xfrm>
            <a:off x="2937114" y="2970968"/>
            <a:ext cx="63294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tr-TR" sz="4000">
                <a:solidFill>
                  <a:schemeClr val="dk1"/>
                </a:solidFill>
                <a:latin typeface="Helvetica Neue"/>
                <a:ea typeface="Helvetica Neue"/>
                <a:cs typeface="Helvetica Neue"/>
                <a:sym typeface="Helvetica Neue"/>
              </a:rPr>
              <a:t>TEŞEKKÜRLER</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7"/>
          <p:cNvSpPr txBox="1"/>
          <p:nvPr>
            <p:ph idx="11" type="ftr"/>
          </p:nvPr>
        </p:nvSpPr>
        <p:spPr>
          <a:xfrm>
            <a:off x="0" y="5915024"/>
            <a:ext cx="12192000" cy="954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3" name="Google Shape;83;p7"/>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 Footer">
  <p:cSld name="Blank No Footer">
    <p:spTree>
      <p:nvGrpSpPr>
        <p:cNvPr id="84" name="Shape 8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 Background">
  <p:cSld name="S Background">
    <p:spTree>
      <p:nvGrpSpPr>
        <p:cNvPr id="85" name="Shape 85"/>
        <p:cNvGrpSpPr/>
        <p:nvPr/>
      </p:nvGrpSpPr>
      <p:grpSpPr>
        <a:xfrm>
          <a:off x="0" y="0"/>
          <a:ext cx="0" cy="0"/>
          <a:chOff x="0" y="0"/>
          <a:chExt cx="0" cy="0"/>
        </a:xfrm>
      </p:grpSpPr>
      <p:pic>
        <p:nvPicPr>
          <p:cNvPr id="86" name="Google Shape;86;p9"/>
          <p:cNvPicPr preferRelativeResize="0"/>
          <p:nvPr/>
        </p:nvPicPr>
        <p:blipFill rotWithShape="1">
          <a:blip r:embed="rId2">
            <a:alphaModFix/>
          </a:blip>
          <a:srcRect b="0" l="0" r="0" t="0"/>
          <a:stretch/>
        </p:blipFill>
        <p:spPr>
          <a:xfrm>
            <a:off x="0" y="0"/>
            <a:ext cx="12192005" cy="6858003"/>
          </a:xfrm>
          <a:prstGeom prst="rect">
            <a:avLst/>
          </a:prstGeom>
          <a:noFill/>
          <a:ln>
            <a:noFill/>
          </a:ln>
        </p:spPr>
      </p:pic>
      <p:sp>
        <p:nvSpPr>
          <p:cNvPr id="87" name="Google Shape;87;p9"/>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tr-TR"/>
              <a:t>‹#›</a:t>
            </a:fld>
            <a:endParaRPr/>
          </a:p>
        </p:txBody>
      </p:sp>
      <p:sp>
        <p:nvSpPr>
          <p:cNvPr id="88" name="Google Shape;88;p9"/>
          <p:cNvSpPr txBox="1"/>
          <p:nvPr>
            <p:ph type="ctrTitle"/>
          </p:nvPr>
        </p:nvSpPr>
        <p:spPr>
          <a:xfrm>
            <a:off x="2905751" y="2235199"/>
            <a:ext cx="6356400" cy="2387700"/>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4000"/>
              <a:buFont typeface="Helvetica Neue"/>
              <a:buNone/>
              <a:defRPr b="0" i="0" sz="4000" u="none" cap="none" strike="noStrike">
                <a:solidFill>
                  <a:schemeClr val="dk1"/>
                </a:solidFill>
                <a:latin typeface="Helvetica Neue"/>
                <a:ea typeface="Helvetica Neue"/>
                <a:cs typeface="Helvetica Neue"/>
                <a:sym typeface="Helvetica Neue"/>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11" Type="http://schemas.openxmlformats.org/officeDocument/2006/relationships/theme" Target="../theme/theme2.xml"/><Relationship Id="rId10" Type="http://schemas.openxmlformats.org/officeDocument/2006/relationships/slideLayout" Target="../slideLayouts/slideLayout8.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1" name="Shape 51"/>
        <p:cNvGrpSpPr/>
        <p:nvPr/>
      </p:nvGrpSpPr>
      <p:grpSpPr>
        <a:xfrm>
          <a:off x="0" y="0"/>
          <a:ext cx="0" cy="0"/>
          <a:chOff x="0" y="0"/>
          <a:chExt cx="0" cy="0"/>
        </a:xfrm>
      </p:grpSpPr>
      <p:sp>
        <p:nvSpPr>
          <p:cNvPr id="52" name="Google Shape;52;p1"/>
          <p:cNvSpPr txBox="1"/>
          <p:nvPr/>
        </p:nvSpPr>
        <p:spPr>
          <a:xfrm>
            <a:off x="5368227" y="149629"/>
            <a:ext cx="1455600" cy="13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tr-TR" sz="900" u="none" cap="none" strike="noStrike">
                <a:solidFill>
                  <a:srgbClr val="000000"/>
                </a:solidFill>
                <a:latin typeface="Helvetica Neue"/>
                <a:ea typeface="Helvetica Neue"/>
                <a:cs typeface="Helvetica Neue"/>
                <a:sym typeface="Helvetica Neue"/>
              </a:rPr>
              <a:t>Kurum İçi - Internal Use </a:t>
            </a:r>
            <a:endParaRPr/>
          </a:p>
        </p:txBody>
      </p:sp>
      <p:sp>
        <p:nvSpPr>
          <p:cNvPr id="53" name="Google Shape;53;p1"/>
          <p:cNvSpPr txBox="1"/>
          <p:nvPr>
            <p:ph idx="11" type="ftr"/>
          </p:nvPr>
        </p:nvSpPr>
        <p:spPr>
          <a:xfrm>
            <a:off x="0" y="5915024"/>
            <a:ext cx="12192000" cy="954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1400" u="none" cap="none" strike="noStrike">
                <a:solidFill>
                  <a:srgbClr val="888888"/>
                </a:solidFill>
                <a:latin typeface="Helvetica Neue"/>
                <a:ea typeface="Helvetica Neue"/>
                <a:cs typeface="Helvetica Neue"/>
                <a:sym typeface="Helvetica Neue"/>
              </a:defRPr>
            </a:lvl1pPr>
            <a:lvl2pPr indent="0" lvl="1" marL="0" marR="0" rtl="0" algn="ctr">
              <a:spcBef>
                <a:spcPts val="0"/>
              </a:spcBef>
              <a:buNone/>
              <a:defRPr b="0" i="0" sz="1400" u="none" cap="none" strike="noStrike">
                <a:solidFill>
                  <a:srgbClr val="888888"/>
                </a:solidFill>
                <a:latin typeface="Helvetica Neue"/>
                <a:ea typeface="Helvetica Neue"/>
                <a:cs typeface="Helvetica Neue"/>
                <a:sym typeface="Helvetica Neue"/>
              </a:defRPr>
            </a:lvl2pPr>
            <a:lvl3pPr indent="0" lvl="2" marL="0" marR="0" rtl="0" algn="ctr">
              <a:spcBef>
                <a:spcPts val="0"/>
              </a:spcBef>
              <a:buNone/>
              <a:defRPr b="0" i="0" sz="1400" u="none" cap="none" strike="noStrike">
                <a:solidFill>
                  <a:srgbClr val="888888"/>
                </a:solidFill>
                <a:latin typeface="Helvetica Neue"/>
                <a:ea typeface="Helvetica Neue"/>
                <a:cs typeface="Helvetica Neue"/>
                <a:sym typeface="Helvetica Neue"/>
              </a:defRPr>
            </a:lvl3pPr>
            <a:lvl4pPr indent="0" lvl="3" marL="0" marR="0" rtl="0" algn="ctr">
              <a:spcBef>
                <a:spcPts val="0"/>
              </a:spcBef>
              <a:buNone/>
              <a:defRPr b="0" i="0" sz="1400" u="none" cap="none" strike="noStrike">
                <a:solidFill>
                  <a:srgbClr val="888888"/>
                </a:solidFill>
                <a:latin typeface="Helvetica Neue"/>
                <a:ea typeface="Helvetica Neue"/>
                <a:cs typeface="Helvetica Neue"/>
                <a:sym typeface="Helvetica Neue"/>
              </a:defRPr>
            </a:lvl4pPr>
            <a:lvl5pPr indent="0" lvl="4" marL="0" marR="0" rtl="0" algn="ctr">
              <a:spcBef>
                <a:spcPts val="0"/>
              </a:spcBef>
              <a:buNone/>
              <a:defRPr b="0" i="0" sz="1400" u="none" cap="none" strike="noStrike">
                <a:solidFill>
                  <a:srgbClr val="888888"/>
                </a:solidFill>
                <a:latin typeface="Helvetica Neue"/>
                <a:ea typeface="Helvetica Neue"/>
                <a:cs typeface="Helvetica Neue"/>
                <a:sym typeface="Helvetica Neue"/>
              </a:defRPr>
            </a:lvl5pPr>
            <a:lvl6pPr indent="0" lvl="5" marL="0" marR="0" rtl="0" algn="ctr">
              <a:spcBef>
                <a:spcPts val="0"/>
              </a:spcBef>
              <a:buNone/>
              <a:defRPr b="0" i="0" sz="1400" u="none" cap="none" strike="noStrike">
                <a:solidFill>
                  <a:srgbClr val="888888"/>
                </a:solidFill>
                <a:latin typeface="Helvetica Neue"/>
                <a:ea typeface="Helvetica Neue"/>
                <a:cs typeface="Helvetica Neue"/>
                <a:sym typeface="Helvetica Neue"/>
              </a:defRPr>
            </a:lvl6pPr>
            <a:lvl7pPr indent="0" lvl="6" marL="0" marR="0" rtl="0" algn="ctr">
              <a:spcBef>
                <a:spcPts val="0"/>
              </a:spcBef>
              <a:buNone/>
              <a:defRPr b="0" i="0" sz="1400" u="none" cap="none" strike="noStrike">
                <a:solidFill>
                  <a:srgbClr val="888888"/>
                </a:solidFill>
                <a:latin typeface="Helvetica Neue"/>
                <a:ea typeface="Helvetica Neue"/>
                <a:cs typeface="Helvetica Neue"/>
                <a:sym typeface="Helvetica Neue"/>
              </a:defRPr>
            </a:lvl7pPr>
            <a:lvl8pPr indent="0" lvl="7" marL="0" marR="0" rtl="0" algn="ctr">
              <a:spcBef>
                <a:spcPts val="0"/>
              </a:spcBef>
              <a:buNone/>
              <a:defRPr b="0" i="0" sz="1400" u="none" cap="none" strike="noStrike">
                <a:solidFill>
                  <a:srgbClr val="888888"/>
                </a:solidFill>
                <a:latin typeface="Helvetica Neue"/>
                <a:ea typeface="Helvetica Neue"/>
                <a:cs typeface="Helvetica Neue"/>
                <a:sym typeface="Helvetica Neue"/>
              </a:defRPr>
            </a:lvl8pPr>
            <a:lvl9pPr indent="0" lvl="8" marL="0" marR="0" rtl="0" algn="ctr">
              <a:spcBef>
                <a:spcPts val="0"/>
              </a:spcBef>
              <a:buNone/>
              <a:defRPr b="0" i="0" sz="1400" u="none" cap="none" strike="noStrike">
                <a:solidFill>
                  <a:srgbClr val="888888"/>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tr-TR"/>
              <a:t>‹#›</a:t>
            </a:fld>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0"/>
          <p:cNvSpPr txBox="1"/>
          <p:nvPr>
            <p:ph type="ctrTitle"/>
          </p:nvPr>
        </p:nvSpPr>
        <p:spPr>
          <a:xfrm>
            <a:off x="475375" y="2235200"/>
            <a:ext cx="11241300" cy="2387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00"/>
              </a:buClr>
              <a:buSzPts val="5400"/>
              <a:buFont typeface="Arial"/>
              <a:buNone/>
            </a:pPr>
            <a:r>
              <a:rPr b="0" i="0" lang="tr-TR" sz="5400" u="none" strike="noStrike">
                <a:solidFill>
                  <a:srgbClr val="000000"/>
                </a:solidFill>
                <a:latin typeface="Arial"/>
                <a:ea typeface="Arial"/>
                <a:cs typeface="Arial"/>
                <a:sym typeface="Arial"/>
              </a:rPr>
              <a:t>Hava Durumu Satışları Yönlendirir mi? </a:t>
            </a:r>
            <a:br>
              <a:rPr b="0" i="0" lang="tr-TR" u="none" strike="noStrike">
                <a:solidFill>
                  <a:srgbClr val="000000"/>
                </a:solidFill>
                <a:latin typeface="Arial"/>
                <a:ea typeface="Arial"/>
                <a:cs typeface="Arial"/>
                <a:sym typeface="Arial"/>
              </a:rPr>
            </a:br>
            <a:r>
              <a:rPr b="0" i="0" lang="tr-TR" sz="4400" u="none" strike="noStrike">
                <a:solidFill>
                  <a:srgbClr val="000000"/>
                </a:solidFill>
                <a:latin typeface="Arial"/>
                <a:ea typeface="Arial"/>
                <a:cs typeface="Arial"/>
                <a:sym typeface="Arial"/>
              </a:rPr>
              <a:t>Satılık Dairelerde Dijital Talep Analizi</a:t>
            </a:r>
            <a:endParaRPr sz="4400"/>
          </a:p>
        </p:txBody>
      </p:sp>
      <p:sp>
        <p:nvSpPr>
          <p:cNvPr id="94" name="Google Shape;94;p10"/>
          <p:cNvSpPr txBox="1"/>
          <p:nvPr/>
        </p:nvSpPr>
        <p:spPr>
          <a:xfrm>
            <a:off x="4690004" y="4967375"/>
            <a:ext cx="2811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2800" u="none" cap="none" strike="noStrike">
                <a:solidFill>
                  <a:schemeClr val="dk1"/>
                </a:solidFill>
                <a:latin typeface="Calibri"/>
                <a:ea typeface="Calibri"/>
                <a:cs typeface="Calibri"/>
                <a:sym typeface="Calibri"/>
              </a:rPr>
              <a:t>EDA ÇELİKELOĞLU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1"/>
          <p:cNvSpPr txBox="1"/>
          <p:nvPr>
            <p:ph type="title"/>
          </p:nvPr>
        </p:nvSpPr>
        <p:spPr>
          <a:xfrm>
            <a:off x="837220" y="876301"/>
            <a:ext cx="10516500" cy="2852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Helvetica Neue"/>
              <a:buNone/>
            </a:pPr>
            <a:r>
              <a:rPr lang="tr-TR"/>
              <a:t>1.Veri Hazırlığı</a:t>
            </a:r>
            <a:endParaRPr/>
          </a:p>
        </p:txBody>
      </p:sp>
      <p:sp>
        <p:nvSpPr>
          <p:cNvPr id="100" name="Google Shape;100;p11"/>
          <p:cNvSpPr txBox="1"/>
          <p:nvPr>
            <p:ph idx="1" type="body"/>
          </p:nvPr>
        </p:nvSpPr>
        <p:spPr>
          <a:xfrm>
            <a:off x="837221" y="3817938"/>
            <a:ext cx="10516500" cy="150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rPr lang="tr-TR"/>
              <a:t>1.1. Sahibinden.com Satılık Daire Verileri</a:t>
            </a:r>
            <a:endParaRPr/>
          </a:p>
          <a:p>
            <a:pPr indent="0" lvl="0" marL="0" rtl="0" algn="l">
              <a:lnSpc>
                <a:spcPct val="90000"/>
              </a:lnSpc>
              <a:spcBef>
                <a:spcPts val="1000"/>
              </a:spcBef>
              <a:spcAft>
                <a:spcPts val="0"/>
              </a:spcAft>
              <a:buClr>
                <a:srgbClr val="888888"/>
              </a:buClr>
              <a:buSzPts val="2400"/>
              <a:buNone/>
            </a:pPr>
            <a:r>
              <a:rPr lang="tr-TR"/>
              <a:t>1.2. Hava Durumu Verileri ve Yeni Özellikler</a:t>
            </a:r>
            <a:endParaRPr/>
          </a:p>
          <a:p>
            <a:pPr indent="0" lvl="0" marL="0" rtl="0" algn="l">
              <a:lnSpc>
                <a:spcPct val="90000"/>
              </a:lnSpc>
              <a:spcBef>
                <a:spcPts val="1000"/>
              </a:spcBef>
              <a:spcAft>
                <a:spcPts val="0"/>
              </a:spcAft>
              <a:buClr>
                <a:srgbClr val="888888"/>
              </a:buClr>
              <a:buSzPts val="2400"/>
              <a:buNone/>
            </a:pPr>
            <a:r>
              <a:rPr lang="tr-TR"/>
              <a:t>1.3. Veri Birleşimi</a:t>
            </a:r>
            <a:endParaRPr/>
          </a:p>
        </p:txBody>
      </p:sp>
      <p:sp>
        <p:nvSpPr>
          <p:cNvPr id="101" name="Google Shape;101;p11"/>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02" name="Google Shape;102;p11"/>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2"/>
          <p:cNvPicPr preferRelativeResize="0"/>
          <p:nvPr/>
        </p:nvPicPr>
        <p:blipFill rotWithShape="1">
          <a:blip r:embed="rId3">
            <a:alphaModFix/>
          </a:blip>
          <a:srcRect b="0" l="0" r="0" t="0"/>
          <a:stretch/>
        </p:blipFill>
        <p:spPr>
          <a:xfrm>
            <a:off x="588908" y="1357723"/>
            <a:ext cx="11014187" cy="4142553"/>
          </a:xfrm>
          <a:prstGeom prst="rect">
            <a:avLst/>
          </a:prstGeom>
          <a:noFill/>
          <a:ln>
            <a:noFill/>
          </a:ln>
        </p:spPr>
      </p:pic>
      <p:sp>
        <p:nvSpPr>
          <p:cNvPr id="108" name="Google Shape;108;p12"/>
          <p:cNvSpPr txBox="1"/>
          <p:nvPr>
            <p:ph idx="11" type="ftr"/>
          </p:nvPr>
        </p:nvSpPr>
        <p:spPr>
          <a:xfrm>
            <a:off x="0" y="5915024"/>
            <a:ext cx="12192000" cy="9540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09" name="Google Shape;109;p12"/>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
        <p:nvSpPr>
          <p:cNvPr id="110" name="Google Shape;110;p12"/>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1.1. Sahibinden.com Satılık Daire Verileri*</a:t>
            </a:r>
            <a:endParaRPr/>
          </a:p>
        </p:txBody>
      </p:sp>
      <p:sp>
        <p:nvSpPr>
          <p:cNvPr id="111" name="Google Shape;111;p12"/>
          <p:cNvSpPr txBox="1"/>
          <p:nvPr/>
        </p:nvSpPr>
        <p:spPr>
          <a:xfrm>
            <a:off x="374465" y="5578246"/>
            <a:ext cx="11443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600">
                <a:solidFill>
                  <a:schemeClr val="dk1"/>
                </a:solidFill>
                <a:latin typeface="Calibri"/>
                <a:ea typeface="Calibri"/>
                <a:cs typeface="Calibri"/>
                <a:sym typeface="Calibri"/>
              </a:rPr>
              <a:t>*Kullanılan veriler 24.12.2024 – 24.03.2025 tarihleri arasında İstanbul Satılık Daire ilanlarının günlük toplam View ve Call Click sayılarıdır.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3"/>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1.2. Hava Durumu Verileri* ve Yeni Özellikler</a:t>
            </a:r>
            <a:endParaRPr/>
          </a:p>
        </p:txBody>
      </p:sp>
      <p:sp>
        <p:nvSpPr>
          <p:cNvPr id="117" name="Google Shape;117;p13"/>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18" name="Google Shape;118;p13"/>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graphicFrame>
        <p:nvGraphicFramePr>
          <p:cNvPr id="119" name="Google Shape;119;p13"/>
          <p:cNvGraphicFramePr/>
          <p:nvPr/>
        </p:nvGraphicFramePr>
        <p:xfrm>
          <a:off x="973842" y="1659314"/>
          <a:ext cx="3000000" cy="3000000"/>
        </p:xfrm>
        <a:graphic>
          <a:graphicData uri="http://schemas.openxmlformats.org/drawingml/2006/table">
            <a:tbl>
              <a:tblPr bandRow="1" firstRow="1" lastRow="1">
                <a:noFill/>
                <a:tableStyleId>{ECA9CB82-9281-485F-A1CE-9E6190AA0E14}</a:tableStyleId>
              </a:tblPr>
              <a:tblGrid>
                <a:gridCol w="1758000"/>
                <a:gridCol w="3510300"/>
              </a:tblGrid>
              <a:tr h="246325">
                <a:tc>
                  <a:txBody>
                    <a:bodyPr/>
                    <a:lstStyle/>
                    <a:p>
                      <a:pPr indent="0" lvl="0" marL="0" marR="0" rtl="0" algn="l">
                        <a:spcBef>
                          <a:spcPts val="0"/>
                        </a:spcBef>
                        <a:spcAft>
                          <a:spcPts val="0"/>
                        </a:spcAft>
                        <a:buNone/>
                      </a:pPr>
                      <a:r>
                        <a:rPr lang="tr-TR" sz="1000" u="none" cap="none" strike="noStrike">
                          <a:solidFill>
                            <a:schemeClr val="dk1"/>
                          </a:solidFill>
                          <a:latin typeface="Helvetica Neue"/>
                          <a:ea typeface="Helvetica Neue"/>
                          <a:cs typeface="Helvetica Neue"/>
                          <a:sym typeface="Helvetica Neue"/>
                        </a:rPr>
                        <a:t>Özellik Adı</a:t>
                      </a:r>
                      <a:endParaRPr sz="1000">
                        <a:solidFill>
                          <a:schemeClr val="dk1"/>
                        </a:solidFill>
                        <a:latin typeface="Helvetica Neue"/>
                        <a:ea typeface="Helvetica Neue"/>
                        <a:cs typeface="Helvetica Neue"/>
                        <a:sym typeface="Helvetica Neue"/>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solidFill>
                            <a:schemeClr val="dk1"/>
                          </a:solidFill>
                        </a:rPr>
                        <a:t>Açıklama</a:t>
                      </a:r>
                      <a:endParaRPr sz="1000">
                        <a:solidFill>
                          <a:schemeClr val="dk1"/>
                        </a:solidFill>
                        <a:latin typeface="Helvetica Neue"/>
                        <a:ea typeface="Helvetica Neue"/>
                        <a:cs typeface="Helvetica Neue"/>
                        <a:sym typeface="Helvetica Neue"/>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date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Günlük kayıt tarihi</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weather_code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Hava durumu kodu (örneğin: yağmur, kar, sis gibi)</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temperature_2m_mean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Ortalama sıcaklık (°C)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apparent_temperature_mean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Hissedilen ortalama sıcaklık (°C)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precipitation_sum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Günlük toplam yağış miktarı (mm)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snowfall_sum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Günlük toplam kar yağışı (mm)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rain_sum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Günlük toplam yağmur miktarı (mm)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sunshine_duration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Günlük toplam güneşli saat süresi (saniye cinsinden)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daylight_duration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 ışığı süresi (saniye cinsinden)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apparent_temperature_max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 içindeki maksimum hissedilen sıcaklık (°C)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apparent_temperature_min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Gün içindeki minimum hissedilen sıcaklık (°C)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precipitation_hours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Yağışın gerçekleştiği toplam saat sayısı</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lang="tr-TR" sz="1000"/>
                        <a:t>wind_speed_10m_max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tr-TR" sz="1000"/>
                        <a:t>Maksimum rüzgar hızı (10m yükseklikte, km/h)</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400">
                <a:tc>
                  <a:txBody>
                    <a:bodyPr/>
                    <a:lstStyle/>
                    <a:p>
                      <a:pPr indent="0" lvl="0" marL="0" marR="0" rtl="0" algn="l">
                        <a:spcBef>
                          <a:spcPts val="0"/>
                        </a:spcBef>
                        <a:spcAft>
                          <a:spcPts val="0"/>
                        </a:spcAft>
                        <a:buNone/>
                      </a:pPr>
                      <a:r>
                        <a:rPr b="0" lang="tr-TR" sz="1000"/>
                        <a:t>wind_gusts_10m_max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tr-TR" sz="1000"/>
                        <a:t>Maksimum rüzgar ani artışı (km/h)</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20" name="Google Shape;120;p13"/>
          <p:cNvGraphicFramePr/>
          <p:nvPr/>
        </p:nvGraphicFramePr>
        <p:xfrm>
          <a:off x="6952639" y="1659317"/>
          <a:ext cx="3000000" cy="3000000"/>
        </p:xfrm>
        <a:graphic>
          <a:graphicData uri="http://schemas.openxmlformats.org/drawingml/2006/table">
            <a:tbl>
              <a:tblPr bandRow="1" firstRow="1">
                <a:noFill/>
                <a:tableStyleId>{DCE376EB-0B3B-45D6-8590-C8E22B5B27CD}</a:tableStyleId>
              </a:tblPr>
              <a:tblGrid>
                <a:gridCol w="1238550"/>
                <a:gridCol w="3295950"/>
              </a:tblGrid>
              <a:tr h="283825">
                <a:tc>
                  <a:txBody>
                    <a:bodyPr/>
                    <a:lstStyle/>
                    <a:p>
                      <a:pPr indent="0" lvl="0" marL="0" marR="0" rtl="0" algn="l">
                        <a:lnSpc>
                          <a:spcPct val="100000"/>
                        </a:lnSpc>
                        <a:spcBef>
                          <a:spcPts val="0"/>
                        </a:spcBef>
                        <a:spcAft>
                          <a:spcPts val="0"/>
                        </a:spcAft>
                        <a:buClr>
                          <a:schemeClr val="dk1"/>
                        </a:buClr>
                        <a:buSzPts val="1000"/>
                        <a:buFont typeface="Calibri"/>
                        <a:buNone/>
                      </a:pPr>
                      <a:r>
                        <a:rPr lang="tr-TR" sz="1000"/>
                        <a:t>Özellik Adı</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000"/>
                        <a:buFont typeface="Calibri"/>
                        <a:buNone/>
                      </a:pPr>
                      <a:r>
                        <a:rPr lang="tr-TR" sz="1000"/>
                        <a:t>Açıklama </a:t>
                      </a:r>
                      <a:endParaRPr/>
                    </a:p>
                  </a:txBody>
                  <a:tcPr marT="45725" marB="45725" marR="91450" marL="91450"/>
                </a:tc>
              </a:tr>
              <a:tr h="415050">
                <a:tc>
                  <a:txBody>
                    <a:bodyPr/>
                    <a:lstStyle/>
                    <a:p>
                      <a:pPr indent="0" lvl="0" marL="0" marR="0" rtl="0" algn="l">
                        <a:spcBef>
                          <a:spcPts val="0"/>
                        </a:spcBef>
                        <a:spcAft>
                          <a:spcPts val="0"/>
                        </a:spcAft>
                        <a:buNone/>
                      </a:pPr>
                      <a:r>
                        <a:rPr lang="tr-TR" sz="1000"/>
                        <a:t>holidays</a:t>
                      </a:r>
                      <a:endParaRPr/>
                    </a:p>
                  </a:txBody>
                  <a:tcPr marT="38850" marB="38850" marR="77700" marL="77700" anchor="ctr"/>
                </a:tc>
                <a:tc>
                  <a:txBody>
                    <a:bodyPr/>
                    <a:lstStyle/>
                    <a:p>
                      <a:pPr indent="0" lvl="0" marL="0" marR="0" rtl="0" algn="l">
                        <a:spcBef>
                          <a:spcPts val="0"/>
                        </a:spcBef>
                        <a:spcAft>
                          <a:spcPts val="0"/>
                        </a:spcAft>
                        <a:buNone/>
                      </a:pPr>
                      <a:r>
                        <a:rPr lang="tr-TR" sz="1000"/>
                        <a:t>Tatil türü (örneğin: Kar Tatili, Bayram)</a:t>
                      </a:r>
                      <a:endParaRPr/>
                    </a:p>
                  </a:txBody>
                  <a:tcPr marT="38850" marB="38850" marR="77700" marL="77700" anchor="ctr"/>
                </a:tc>
              </a:tr>
              <a:tr h="237675">
                <a:tc>
                  <a:txBody>
                    <a:bodyPr/>
                    <a:lstStyle/>
                    <a:p>
                      <a:pPr indent="0" lvl="0" marL="0" marR="0" rtl="0" algn="l">
                        <a:spcBef>
                          <a:spcPts val="0"/>
                        </a:spcBef>
                        <a:spcAft>
                          <a:spcPts val="0"/>
                        </a:spcAft>
                        <a:buNone/>
                      </a:pPr>
                      <a:r>
                        <a:rPr lang="tr-TR" sz="1000"/>
                        <a:t>is_ramadan</a:t>
                      </a:r>
                      <a:endParaRPr/>
                    </a:p>
                  </a:txBody>
                  <a:tcPr marT="38850" marB="38850" marR="77700" marL="77700" anchor="ctr"/>
                </a:tc>
                <a:tc>
                  <a:txBody>
                    <a:bodyPr/>
                    <a:lstStyle/>
                    <a:p>
                      <a:pPr indent="0" lvl="0" marL="0" marR="0" rtl="0" algn="l">
                        <a:spcBef>
                          <a:spcPts val="0"/>
                        </a:spcBef>
                        <a:spcAft>
                          <a:spcPts val="0"/>
                        </a:spcAft>
                        <a:buNone/>
                      </a:pPr>
                      <a:r>
                        <a:rPr lang="tr-TR" sz="1000"/>
                        <a:t>Ramazan dönemi mi? (bool)</a:t>
                      </a:r>
                      <a:endParaRPr/>
                    </a:p>
                  </a:txBody>
                  <a:tcPr marT="38850" marB="38850" marR="77700" marL="77700" anchor="ctr"/>
                </a:tc>
              </a:tr>
              <a:tr h="415050">
                <a:tc>
                  <a:txBody>
                    <a:bodyPr/>
                    <a:lstStyle/>
                    <a:p>
                      <a:pPr indent="0" lvl="0" marL="0" marR="0" rtl="0" algn="l">
                        <a:spcBef>
                          <a:spcPts val="0"/>
                        </a:spcBef>
                        <a:spcAft>
                          <a:spcPts val="0"/>
                        </a:spcAft>
                        <a:buNone/>
                      </a:pPr>
                      <a:r>
                        <a:rPr lang="tr-TR" sz="1000"/>
                        <a:t>is_level_shift</a:t>
                      </a:r>
                      <a:endParaRPr/>
                    </a:p>
                  </a:txBody>
                  <a:tcPr marT="38850" marB="38850" marR="77700" marL="77700" anchor="ctr"/>
                </a:tc>
                <a:tc>
                  <a:txBody>
                    <a:bodyPr/>
                    <a:lstStyle/>
                    <a:p>
                      <a:pPr indent="0" lvl="0" marL="0" marR="0" rtl="0" algn="l">
                        <a:spcBef>
                          <a:spcPts val="0"/>
                        </a:spcBef>
                        <a:spcAft>
                          <a:spcPts val="0"/>
                        </a:spcAft>
                        <a:buNone/>
                      </a:pPr>
                      <a:r>
                        <a:rPr lang="tr-TR" sz="1000"/>
                        <a:t>Seviyede ani değişim var mı? (bool)</a:t>
                      </a:r>
                      <a:endParaRPr/>
                    </a:p>
                  </a:txBody>
                  <a:tcPr marT="38850" marB="38850" marR="77700" marL="77700" anchor="ctr"/>
                </a:tc>
              </a:tr>
              <a:tr h="237675">
                <a:tc>
                  <a:txBody>
                    <a:bodyPr/>
                    <a:lstStyle/>
                    <a:p>
                      <a:pPr indent="0" lvl="0" marL="0" marR="0" rtl="0" algn="l">
                        <a:spcBef>
                          <a:spcPts val="0"/>
                        </a:spcBef>
                        <a:spcAft>
                          <a:spcPts val="0"/>
                        </a:spcAft>
                        <a:buNone/>
                      </a:pPr>
                      <a:r>
                        <a:rPr lang="tr-TR" sz="1000"/>
                        <a:t>is_snowy</a:t>
                      </a:r>
                      <a:endParaRPr/>
                    </a:p>
                  </a:txBody>
                  <a:tcPr marT="38850" marB="38850" marR="77700" marL="77700" anchor="ctr"/>
                </a:tc>
                <a:tc>
                  <a:txBody>
                    <a:bodyPr/>
                    <a:lstStyle/>
                    <a:p>
                      <a:pPr indent="0" lvl="0" marL="0" marR="0" rtl="0" algn="l">
                        <a:spcBef>
                          <a:spcPts val="0"/>
                        </a:spcBef>
                        <a:spcAft>
                          <a:spcPts val="0"/>
                        </a:spcAft>
                        <a:buNone/>
                      </a:pPr>
                      <a:r>
                        <a:rPr lang="tr-TR" sz="1000"/>
                        <a:t>Karlı gün (bool)</a:t>
                      </a:r>
                      <a:endParaRPr/>
                    </a:p>
                  </a:txBody>
                  <a:tcPr marT="38850" marB="38850" marR="77700" marL="77700" anchor="ctr"/>
                </a:tc>
              </a:tr>
              <a:tr h="237675">
                <a:tc>
                  <a:txBody>
                    <a:bodyPr/>
                    <a:lstStyle/>
                    <a:p>
                      <a:pPr indent="0" lvl="0" marL="0" marR="0" rtl="0" algn="l">
                        <a:spcBef>
                          <a:spcPts val="0"/>
                        </a:spcBef>
                        <a:spcAft>
                          <a:spcPts val="0"/>
                        </a:spcAft>
                        <a:buNone/>
                      </a:pPr>
                      <a:r>
                        <a:rPr lang="tr-TR" sz="1000"/>
                        <a:t>is_rainy</a:t>
                      </a:r>
                      <a:endParaRPr/>
                    </a:p>
                  </a:txBody>
                  <a:tcPr marT="38850" marB="38850" marR="77700" marL="77700" anchor="ctr"/>
                </a:tc>
                <a:tc>
                  <a:txBody>
                    <a:bodyPr/>
                    <a:lstStyle/>
                    <a:p>
                      <a:pPr indent="0" lvl="0" marL="0" marR="0" rtl="0" algn="l">
                        <a:spcBef>
                          <a:spcPts val="0"/>
                        </a:spcBef>
                        <a:spcAft>
                          <a:spcPts val="0"/>
                        </a:spcAft>
                        <a:buNone/>
                      </a:pPr>
                      <a:r>
                        <a:rPr lang="tr-TR" sz="1000"/>
                        <a:t>Yağmurlu gün (bool)</a:t>
                      </a:r>
                      <a:endParaRPr/>
                    </a:p>
                  </a:txBody>
                  <a:tcPr marT="38850" marB="38850" marR="77700" marL="77700" anchor="ctr"/>
                </a:tc>
              </a:tr>
              <a:tr h="237675">
                <a:tc>
                  <a:txBody>
                    <a:bodyPr/>
                    <a:lstStyle/>
                    <a:p>
                      <a:pPr indent="0" lvl="0" marL="0" marR="0" rtl="0" algn="l">
                        <a:spcBef>
                          <a:spcPts val="0"/>
                        </a:spcBef>
                        <a:spcAft>
                          <a:spcPts val="0"/>
                        </a:spcAft>
                        <a:buNone/>
                      </a:pPr>
                      <a:r>
                        <a:rPr lang="tr-TR" sz="1000"/>
                        <a:t>is_windy</a:t>
                      </a:r>
                      <a:endParaRPr/>
                    </a:p>
                  </a:txBody>
                  <a:tcPr marT="38850" marB="38850" marR="77700" marL="77700" anchor="ctr"/>
                </a:tc>
                <a:tc>
                  <a:txBody>
                    <a:bodyPr/>
                    <a:lstStyle/>
                    <a:p>
                      <a:pPr indent="0" lvl="0" marL="0" marR="0" rtl="0" algn="l">
                        <a:spcBef>
                          <a:spcPts val="0"/>
                        </a:spcBef>
                        <a:spcAft>
                          <a:spcPts val="0"/>
                        </a:spcAft>
                        <a:buNone/>
                      </a:pPr>
                      <a:r>
                        <a:rPr lang="tr-TR" sz="1000"/>
                        <a:t>Rüzgarlı gün (bool)</a:t>
                      </a:r>
                      <a:endParaRPr/>
                    </a:p>
                  </a:txBody>
                  <a:tcPr marT="38850" marB="38850" marR="77700" marL="77700" anchor="ctr"/>
                </a:tc>
              </a:tr>
              <a:tr h="237675">
                <a:tc>
                  <a:txBody>
                    <a:bodyPr/>
                    <a:lstStyle/>
                    <a:p>
                      <a:pPr indent="0" lvl="0" marL="0" marR="0" rtl="0" algn="l">
                        <a:spcBef>
                          <a:spcPts val="0"/>
                        </a:spcBef>
                        <a:spcAft>
                          <a:spcPts val="0"/>
                        </a:spcAft>
                        <a:buNone/>
                      </a:pPr>
                      <a:r>
                        <a:rPr lang="tr-TR" sz="1000"/>
                        <a:t>is_gusty</a:t>
                      </a:r>
                      <a:endParaRPr/>
                    </a:p>
                  </a:txBody>
                  <a:tcPr marT="38850" marB="38850" marR="77700" marL="77700" anchor="ctr"/>
                </a:tc>
                <a:tc>
                  <a:txBody>
                    <a:bodyPr/>
                    <a:lstStyle/>
                    <a:p>
                      <a:pPr indent="0" lvl="0" marL="0" marR="0" rtl="0" algn="l">
                        <a:spcBef>
                          <a:spcPts val="0"/>
                        </a:spcBef>
                        <a:spcAft>
                          <a:spcPts val="0"/>
                        </a:spcAft>
                        <a:buNone/>
                      </a:pPr>
                      <a:r>
                        <a:rPr lang="tr-TR" sz="1000"/>
                        <a:t>Ani rüzgar var mı? (bool)</a:t>
                      </a:r>
                      <a:endParaRPr/>
                    </a:p>
                  </a:txBody>
                  <a:tcPr marT="38850" marB="38850" marR="77700" marL="77700" anchor="ctr"/>
                </a:tc>
              </a:tr>
              <a:tr h="237675">
                <a:tc>
                  <a:txBody>
                    <a:bodyPr/>
                    <a:lstStyle/>
                    <a:p>
                      <a:pPr indent="0" lvl="0" marL="0" marR="0" rtl="0" algn="l">
                        <a:spcBef>
                          <a:spcPts val="0"/>
                        </a:spcBef>
                        <a:spcAft>
                          <a:spcPts val="0"/>
                        </a:spcAft>
                        <a:buNone/>
                      </a:pPr>
                      <a:r>
                        <a:rPr lang="tr-TR" sz="1000"/>
                        <a:t>temp_category</a:t>
                      </a:r>
                      <a:endParaRPr/>
                    </a:p>
                  </a:txBody>
                  <a:tcPr marT="38850" marB="38850" marR="77700" marL="77700" anchor="ctr"/>
                </a:tc>
                <a:tc>
                  <a:txBody>
                    <a:bodyPr/>
                    <a:lstStyle/>
                    <a:p>
                      <a:pPr indent="0" lvl="0" marL="0" marR="0" rtl="0" algn="l">
                        <a:spcBef>
                          <a:spcPts val="0"/>
                        </a:spcBef>
                        <a:spcAft>
                          <a:spcPts val="0"/>
                        </a:spcAft>
                        <a:buNone/>
                      </a:pPr>
                      <a:r>
                        <a:rPr lang="tr-TR" sz="1000"/>
                        <a:t>Sıcaklık kategorisi (ör. Soğuk, Ilık)</a:t>
                      </a:r>
                      <a:endParaRPr/>
                    </a:p>
                  </a:txBody>
                  <a:tcPr marT="38850" marB="38850" marR="77700" marL="77700" anchor="ctr"/>
                </a:tc>
              </a:tr>
              <a:tr h="237675">
                <a:tc>
                  <a:txBody>
                    <a:bodyPr/>
                    <a:lstStyle/>
                    <a:p>
                      <a:pPr indent="0" lvl="0" marL="0" marR="0" rtl="0" algn="l">
                        <a:spcBef>
                          <a:spcPts val="0"/>
                        </a:spcBef>
                        <a:spcAft>
                          <a:spcPts val="0"/>
                        </a:spcAft>
                        <a:buNone/>
                      </a:pPr>
                      <a:r>
                        <a:rPr lang="tr-TR" sz="1000"/>
                        <a:t>difficulty_score</a:t>
                      </a:r>
                      <a:endParaRPr/>
                    </a:p>
                  </a:txBody>
                  <a:tcPr marT="38850" marB="38850" marR="77700" marL="77700" anchor="ctr"/>
                </a:tc>
                <a:tc>
                  <a:txBody>
                    <a:bodyPr/>
                    <a:lstStyle/>
                    <a:p>
                      <a:pPr indent="0" lvl="0" marL="0" marR="0" rtl="0" algn="l">
                        <a:spcBef>
                          <a:spcPts val="0"/>
                        </a:spcBef>
                        <a:spcAft>
                          <a:spcPts val="0"/>
                        </a:spcAft>
                        <a:buNone/>
                      </a:pPr>
                      <a:r>
                        <a:rPr lang="tr-TR" sz="1000"/>
                        <a:t>Zorluk skoru</a:t>
                      </a:r>
                      <a:endParaRPr/>
                    </a:p>
                  </a:txBody>
                  <a:tcPr marT="38850" marB="38850" marR="77700" marL="77700" anchor="ctr"/>
                </a:tc>
              </a:tr>
              <a:tr h="237675">
                <a:tc>
                  <a:txBody>
                    <a:bodyPr/>
                    <a:lstStyle/>
                    <a:p>
                      <a:pPr indent="0" lvl="0" marL="0" marR="0" rtl="0" algn="l">
                        <a:spcBef>
                          <a:spcPts val="0"/>
                        </a:spcBef>
                        <a:spcAft>
                          <a:spcPts val="0"/>
                        </a:spcAft>
                        <a:buNone/>
                      </a:pPr>
                      <a:r>
                        <a:rPr lang="tr-TR" sz="1000"/>
                        <a:t>day_name</a:t>
                      </a:r>
                      <a:endParaRPr/>
                    </a:p>
                  </a:txBody>
                  <a:tcPr marT="38850" marB="38850" marR="77700" marL="77700" anchor="ctr"/>
                </a:tc>
                <a:tc>
                  <a:txBody>
                    <a:bodyPr/>
                    <a:lstStyle/>
                    <a:p>
                      <a:pPr indent="0" lvl="0" marL="0" marR="0" rtl="0" algn="l">
                        <a:spcBef>
                          <a:spcPts val="0"/>
                        </a:spcBef>
                        <a:spcAft>
                          <a:spcPts val="0"/>
                        </a:spcAft>
                        <a:buNone/>
                      </a:pPr>
                      <a:r>
                        <a:rPr lang="tr-TR" sz="1000"/>
                        <a:t>Günün adı (Pazartesi, Salı...)</a:t>
                      </a:r>
                      <a:endParaRPr/>
                    </a:p>
                  </a:txBody>
                  <a:tcPr marT="38850" marB="38850" marR="77700" marL="77700" anchor="ctr"/>
                </a:tc>
              </a:tr>
              <a:tr h="237675">
                <a:tc>
                  <a:txBody>
                    <a:bodyPr/>
                    <a:lstStyle/>
                    <a:p>
                      <a:pPr indent="0" lvl="0" marL="0" marR="0" rtl="0" algn="l">
                        <a:spcBef>
                          <a:spcPts val="0"/>
                        </a:spcBef>
                        <a:spcAft>
                          <a:spcPts val="0"/>
                        </a:spcAft>
                        <a:buNone/>
                      </a:pPr>
                      <a:r>
                        <a:rPr lang="tr-TR" sz="1000"/>
                        <a:t>is_weekend</a:t>
                      </a:r>
                      <a:endParaRPr/>
                    </a:p>
                  </a:txBody>
                  <a:tcPr marT="38850" marB="38850" marR="77700" marL="77700" anchor="ctr"/>
                </a:tc>
                <a:tc>
                  <a:txBody>
                    <a:bodyPr/>
                    <a:lstStyle/>
                    <a:p>
                      <a:pPr indent="0" lvl="0" marL="0" marR="0" rtl="0" algn="l">
                        <a:spcBef>
                          <a:spcPts val="0"/>
                        </a:spcBef>
                        <a:spcAft>
                          <a:spcPts val="0"/>
                        </a:spcAft>
                        <a:buNone/>
                      </a:pPr>
                      <a:r>
                        <a:rPr lang="tr-TR" sz="1000"/>
                        <a:t>Hafta sonu mu? (bool)</a:t>
                      </a:r>
                      <a:endParaRPr/>
                    </a:p>
                  </a:txBody>
                  <a:tcPr marT="38850" marB="38850" marR="77700" marL="77700" anchor="ctr"/>
                </a:tc>
              </a:tr>
              <a:tr h="237675">
                <a:tc>
                  <a:txBody>
                    <a:bodyPr/>
                    <a:lstStyle/>
                    <a:p>
                      <a:pPr indent="0" lvl="0" marL="0" marR="0" rtl="0" algn="l">
                        <a:spcBef>
                          <a:spcPts val="0"/>
                        </a:spcBef>
                        <a:spcAft>
                          <a:spcPts val="0"/>
                        </a:spcAft>
                        <a:buNone/>
                      </a:pPr>
                      <a:r>
                        <a:rPr lang="tr-TR" sz="1000"/>
                        <a:t>day_of_month</a:t>
                      </a:r>
                      <a:endParaRPr/>
                    </a:p>
                  </a:txBody>
                  <a:tcPr marT="38850" marB="38850" marR="77700" marL="77700" anchor="ctr"/>
                </a:tc>
                <a:tc>
                  <a:txBody>
                    <a:bodyPr/>
                    <a:lstStyle/>
                    <a:p>
                      <a:pPr indent="0" lvl="0" marL="0" marR="0" rtl="0" algn="l">
                        <a:spcBef>
                          <a:spcPts val="0"/>
                        </a:spcBef>
                        <a:spcAft>
                          <a:spcPts val="0"/>
                        </a:spcAft>
                        <a:buNone/>
                      </a:pPr>
                      <a:r>
                        <a:rPr lang="tr-TR" sz="1000"/>
                        <a:t>Ayın günü (1-31 arası)</a:t>
                      </a:r>
                      <a:endParaRPr/>
                    </a:p>
                  </a:txBody>
                  <a:tcPr marT="38850" marB="38850" marR="77700" marL="77700" anchor="ctr"/>
                </a:tc>
              </a:tr>
              <a:tr h="415050">
                <a:tc>
                  <a:txBody>
                    <a:bodyPr/>
                    <a:lstStyle/>
                    <a:p>
                      <a:pPr indent="0" lvl="0" marL="0" marR="0" rtl="0" algn="l">
                        <a:spcBef>
                          <a:spcPts val="0"/>
                        </a:spcBef>
                        <a:spcAft>
                          <a:spcPts val="0"/>
                        </a:spcAft>
                        <a:buNone/>
                      </a:pPr>
                      <a:r>
                        <a:rPr lang="tr-TR" sz="1000"/>
                        <a:t>weather_category</a:t>
                      </a:r>
                      <a:endParaRPr/>
                    </a:p>
                  </a:txBody>
                  <a:tcPr marT="38850" marB="38850" marR="77700" marL="77700" anchor="ctr"/>
                </a:tc>
                <a:tc>
                  <a:txBody>
                    <a:bodyPr/>
                    <a:lstStyle/>
                    <a:p>
                      <a:pPr indent="0" lvl="0" marL="0" marR="0" rtl="0" algn="l">
                        <a:spcBef>
                          <a:spcPts val="0"/>
                        </a:spcBef>
                        <a:spcAft>
                          <a:spcPts val="0"/>
                        </a:spcAft>
                        <a:buNone/>
                      </a:pPr>
                      <a:r>
                        <a:rPr lang="tr-TR" sz="1000"/>
                        <a:t>Hava durumu kategorisi (ör. Kar, Yağmur)</a:t>
                      </a:r>
                      <a:endParaRPr/>
                    </a:p>
                  </a:txBody>
                  <a:tcPr marT="38850" marB="38850" marR="77700" marL="77700" anchor="ctr"/>
                </a:tc>
              </a:tr>
            </a:tbl>
          </a:graphicData>
        </a:graphic>
      </p:graphicFrame>
      <p:sp>
        <p:nvSpPr>
          <p:cNvPr id="121" name="Google Shape;121;p13"/>
          <p:cNvSpPr txBox="1"/>
          <p:nvPr/>
        </p:nvSpPr>
        <p:spPr>
          <a:xfrm>
            <a:off x="2417056" y="1289982"/>
            <a:ext cx="1779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Orijinal Özellikler</a:t>
            </a:r>
            <a:endParaRPr/>
          </a:p>
        </p:txBody>
      </p:sp>
      <p:sp>
        <p:nvSpPr>
          <p:cNvPr id="122" name="Google Shape;122;p13"/>
          <p:cNvSpPr txBox="1"/>
          <p:nvPr/>
        </p:nvSpPr>
        <p:spPr>
          <a:xfrm>
            <a:off x="8287486" y="1289982"/>
            <a:ext cx="148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Yeni Özellikler</a:t>
            </a:r>
            <a:endParaRPr/>
          </a:p>
        </p:txBody>
      </p:sp>
      <p:sp>
        <p:nvSpPr>
          <p:cNvPr id="123" name="Google Shape;123;p13"/>
          <p:cNvSpPr txBox="1"/>
          <p:nvPr/>
        </p:nvSpPr>
        <p:spPr>
          <a:xfrm>
            <a:off x="864064" y="5637402"/>
            <a:ext cx="6400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chemeClr val="dk1"/>
                </a:solidFill>
                <a:latin typeface="Calibri"/>
                <a:ea typeface="Calibri"/>
                <a:cs typeface="Calibri"/>
                <a:sym typeface="Calibri"/>
              </a:rPr>
              <a:t>*Tüm hava durumu verileri open-meteo.com sitesinden çekilmiştir.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4"/>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1.3. Veri Birleşimi</a:t>
            </a:r>
            <a:endParaRPr/>
          </a:p>
        </p:txBody>
      </p:sp>
      <p:sp>
        <p:nvSpPr>
          <p:cNvPr id="129" name="Google Shape;129;p14"/>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30" name="Google Shape;130;p14"/>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grpSp>
        <p:nvGrpSpPr>
          <p:cNvPr id="131" name="Google Shape;131;p14"/>
          <p:cNvGrpSpPr/>
          <p:nvPr/>
        </p:nvGrpSpPr>
        <p:grpSpPr>
          <a:xfrm>
            <a:off x="2118487" y="2343524"/>
            <a:ext cx="1440080" cy="1440080"/>
            <a:chOff x="1956771" y="2847866"/>
            <a:chExt cx="674700" cy="674700"/>
          </a:xfrm>
        </p:grpSpPr>
        <p:sp>
          <p:nvSpPr>
            <p:cNvPr id="132" name="Google Shape;132;p14"/>
            <p:cNvSpPr/>
            <p:nvPr/>
          </p:nvSpPr>
          <p:spPr>
            <a:xfrm>
              <a:off x="1956771" y="2847866"/>
              <a:ext cx="674700" cy="674700"/>
            </a:xfrm>
            <a:prstGeom prst="ellipse">
              <a:avLst/>
            </a:prstGeom>
            <a:solidFill>
              <a:srgbClr val="FDF1C8"/>
            </a:soli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14"/>
            <p:cNvSpPr/>
            <p:nvPr/>
          </p:nvSpPr>
          <p:spPr>
            <a:xfrm>
              <a:off x="2024239" y="2915333"/>
              <a:ext cx="539700" cy="539700"/>
            </a:xfrm>
            <a:prstGeom prst="chord">
              <a:avLst>
                <a:gd fmla="val 1168272" name="adj1"/>
                <a:gd fmla="val 9631728" name="adj2"/>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4" name="Google Shape;134;p14"/>
          <p:cNvSpPr/>
          <p:nvPr/>
        </p:nvSpPr>
        <p:spPr>
          <a:xfrm>
            <a:off x="2282532" y="3927449"/>
            <a:ext cx="1277378" cy="460463"/>
          </a:xfrm>
          <a:custGeom>
            <a:rect b="b" l="l" r="r" t="t"/>
            <a:pathLst>
              <a:path extrusionOk="0" h="674671" w="1995903">
                <a:moveTo>
                  <a:pt x="0" y="0"/>
                </a:moveTo>
                <a:lnTo>
                  <a:pt x="1995903" y="0"/>
                </a:lnTo>
                <a:lnTo>
                  <a:pt x="1995903" y="674671"/>
                </a:lnTo>
                <a:lnTo>
                  <a:pt x="0" y="674671"/>
                </a:lnTo>
                <a:lnTo>
                  <a:pt x="0" y="0"/>
                </a:lnTo>
                <a:close/>
              </a:path>
            </a:pathLst>
          </a:custGeom>
          <a:noFill/>
          <a:ln cap="flat" cmpd="sng" w="9525">
            <a:solidFill>
              <a:schemeClr val="dk1">
                <a:alpha val="0"/>
              </a:schemeClr>
            </a:solidFill>
            <a:prstDash val="solid"/>
            <a:miter lim="800000"/>
            <a:headEnd len="sm" w="sm" type="none"/>
            <a:tailEnd len="sm" w="sm" type="none"/>
          </a:ln>
        </p:spPr>
        <p:txBody>
          <a:bodyPr anchorCtr="0" anchor="b" bIns="60950" lIns="60950" spcFirstLastPara="1" rIns="60950" wrap="square" tIns="60950">
            <a:noAutofit/>
          </a:bodyPr>
          <a:lstStyle/>
          <a:p>
            <a:pPr indent="0" lvl="0" marL="0" marR="0" rtl="0" algn="l">
              <a:lnSpc>
                <a:spcPct val="90000"/>
              </a:lnSpc>
              <a:spcBef>
                <a:spcPts val="0"/>
              </a:spcBef>
              <a:spcAft>
                <a:spcPts val="0"/>
              </a:spcAft>
              <a:buClr>
                <a:schemeClr val="dk1"/>
              </a:buClr>
              <a:buSzPts val="2400"/>
              <a:buFont typeface="Calibri"/>
              <a:buNone/>
            </a:pPr>
            <a:r>
              <a:rPr lang="tr-TR" sz="2400">
                <a:solidFill>
                  <a:schemeClr val="dk1"/>
                </a:solidFill>
                <a:latin typeface="Calibri"/>
                <a:ea typeface="Calibri"/>
                <a:cs typeface="Calibri"/>
                <a:sym typeface="Calibri"/>
              </a:rPr>
              <a:t>Ham Veri</a:t>
            </a:r>
            <a:endParaRPr/>
          </a:p>
        </p:txBody>
      </p:sp>
      <p:grpSp>
        <p:nvGrpSpPr>
          <p:cNvPr id="135" name="Google Shape;135;p14"/>
          <p:cNvGrpSpPr/>
          <p:nvPr/>
        </p:nvGrpSpPr>
        <p:grpSpPr>
          <a:xfrm>
            <a:off x="5376131" y="2343524"/>
            <a:ext cx="1440080" cy="1440080"/>
            <a:chOff x="4908460" y="2847866"/>
            <a:chExt cx="674700" cy="674700"/>
          </a:xfrm>
        </p:grpSpPr>
        <p:sp>
          <p:nvSpPr>
            <p:cNvPr id="136" name="Google Shape;136;p14"/>
            <p:cNvSpPr/>
            <p:nvPr/>
          </p:nvSpPr>
          <p:spPr>
            <a:xfrm>
              <a:off x="4908460" y="2847866"/>
              <a:ext cx="674700" cy="674700"/>
            </a:xfrm>
            <a:prstGeom prst="ellipse">
              <a:avLst/>
            </a:prstGeom>
            <a:solidFill>
              <a:srgbClr val="FDF1C8"/>
            </a:soli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14"/>
            <p:cNvSpPr/>
            <p:nvPr/>
          </p:nvSpPr>
          <p:spPr>
            <a:xfrm>
              <a:off x="4975927" y="2915333"/>
              <a:ext cx="539700" cy="539700"/>
            </a:xfrm>
            <a:prstGeom prst="chord">
              <a:avLst>
                <a:gd fmla="val 20431728" name="adj1"/>
                <a:gd fmla="val 11968272" name="adj2"/>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8" name="Google Shape;138;p14"/>
          <p:cNvSpPr/>
          <p:nvPr/>
        </p:nvSpPr>
        <p:spPr>
          <a:xfrm>
            <a:off x="4023380" y="1644356"/>
            <a:ext cx="888177" cy="543110"/>
          </a:xfrm>
          <a:custGeom>
            <a:rect b="b" l="l" r="r" t="t"/>
            <a:pathLst>
              <a:path extrusionOk="0" h="674671" w="1995903">
                <a:moveTo>
                  <a:pt x="0" y="0"/>
                </a:moveTo>
                <a:lnTo>
                  <a:pt x="1995903" y="0"/>
                </a:lnTo>
                <a:lnTo>
                  <a:pt x="1995903" y="674671"/>
                </a:lnTo>
                <a:lnTo>
                  <a:pt x="0" y="674671"/>
                </a:lnTo>
                <a:lnTo>
                  <a:pt x="0" y="0"/>
                </a:lnTo>
                <a:close/>
              </a:path>
            </a:pathLst>
          </a:custGeom>
          <a:noFill/>
          <a:ln cap="flat" cmpd="sng" w="9525">
            <a:solidFill>
              <a:schemeClr val="dk1">
                <a:alpha val="0"/>
              </a:schemeClr>
            </a:solidFill>
            <a:prstDash val="solid"/>
            <a:miter lim="800000"/>
            <a:headEnd len="sm" w="sm" type="none"/>
            <a:tailEnd len="sm" w="sm" type="none"/>
          </a:ln>
        </p:spPr>
        <p:txBody>
          <a:bodyPr anchorCtr="0" anchor="b" bIns="60950" lIns="60950" spcFirstLastPara="1" rIns="60950" wrap="square" tIns="60950">
            <a:noAutofit/>
          </a:bodyPr>
          <a:lstStyle/>
          <a:p>
            <a:pPr indent="0" lvl="0" marL="0" marR="0" rtl="0" algn="ctr">
              <a:lnSpc>
                <a:spcPct val="90000"/>
              </a:lnSpc>
              <a:spcBef>
                <a:spcPts val="0"/>
              </a:spcBef>
              <a:spcAft>
                <a:spcPts val="0"/>
              </a:spcAft>
              <a:buClr>
                <a:schemeClr val="dk1"/>
              </a:buClr>
              <a:buSzPts val="1600"/>
              <a:buFont typeface="Calibri"/>
              <a:buNone/>
            </a:pPr>
            <a:r>
              <a:rPr lang="tr-TR" sz="1600">
                <a:solidFill>
                  <a:schemeClr val="dk1"/>
                </a:solidFill>
                <a:latin typeface="Calibri"/>
                <a:ea typeface="Calibri"/>
                <a:cs typeface="Calibri"/>
                <a:sym typeface="Calibri"/>
              </a:rPr>
              <a:t>Hava Durumu</a:t>
            </a:r>
            <a:endParaRPr/>
          </a:p>
        </p:txBody>
      </p:sp>
      <p:grpSp>
        <p:nvGrpSpPr>
          <p:cNvPr id="139" name="Google Shape;139;p14"/>
          <p:cNvGrpSpPr/>
          <p:nvPr/>
        </p:nvGrpSpPr>
        <p:grpSpPr>
          <a:xfrm>
            <a:off x="8633775" y="2343524"/>
            <a:ext cx="1440080" cy="1440080"/>
            <a:chOff x="7860149" y="2847866"/>
            <a:chExt cx="674700" cy="674700"/>
          </a:xfrm>
        </p:grpSpPr>
        <p:sp>
          <p:nvSpPr>
            <p:cNvPr id="140" name="Google Shape;140;p14"/>
            <p:cNvSpPr/>
            <p:nvPr/>
          </p:nvSpPr>
          <p:spPr>
            <a:xfrm>
              <a:off x="7860149" y="2847866"/>
              <a:ext cx="674700" cy="674700"/>
            </a:xfrm>
            <a:prstGeom prst="ellipse">
              <a:avLst/>
            </a:prstGeom>
            <a:solidFill>
              <a:srgbClr val="FDF1C8"/>
            </a:soli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14"/>
            <p:cNvSpPr/>
            <p:nvPr/>
          </p:nvSpPr>
          <p:spPr>
            <a:xfrm>
              <a:off x="7927616" y="2915333"/>
              <a:ext cx="539700" cy="539700"/>
            </a:xfrm>
            <a:prstGeom prst="chord">
              <a:avLst>
                <a:gd fmla="val 16200000" name="adj1"/>
                <a:gd fmla="val 16200000" name="adj2"/>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42" name="Google Shape;142;p14"/>
          <p:cNvSpPr/>
          <p:nvPr/>
        </p:nvSpPr>
        <p:spPr>
          <a:xfrm>
            <a:off x="7250358" y="1644356"/>
            <a:ext cx="948054" cy="543110"/>
          </a:xfrm>
          <a:custGeom>
            <a:rect b="b" l="l" r="r" t="t"/>
            <a:pathLst>
              <a:path extrusionOk="0" h="674671" w="1995903">
                <a:moveTo>
                  <a:pt x="0" y="0"/>
                </a:moveTo>
                <a:lnTo>
                  <a:pt x="1995903" y="0"/>
                </a:lnTo>
                <a:lnTo>
                  <a:pt x="1995903" y="674671"/>
                </a:lnTo>
                <a:lnTo>
                  <a:pt x="0" y="674671"/>
                </a:lnTo>
                <a:lnTo>
                  <a:pt x="0" y="0"/>
                </a:lnTo>
                <a:close/>
              </a:path>
            </a:pathLst>
          </a:custGeom>
          <a:noFill/>
          <a:ln cap="flat" cmpd="sng" w="9525">
            <a:solidFill>
              <a:schemeClr val="dk1">
                <a:alpha val="0"/>
              </a:schemeClr>
            </a:solidFill>
            <a:prstDash val="solid"/>
            <a:miter lim="800000"/>
            <a:headEnd len="sm" w="sm" type="none"/>
            <a:tailEnd len="sm" w="sm" type="none"/>
          </a:ln>
        </p:spPr>
        <p:txBody>
          <a:bodyPr anchorCtr="0" anchor="b"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Calibri"/>
              <a:buNone/>
            </a:pPr>
            <a:r>
              <a:rPr lang="tr-TR" sz="1600">
                <a:solidFill>
                  <a:schemeClr val="dk1"/>
                </a:solidFill>
                <a:latin typeface="Calibri"/>
                <a:ea typeface="Calibri"/>
                <a:cs typeface="Calibri"/>
                <a:sym typeface="Calibri"/>
              </a:rPr>
              <a:t>Yeni özellikler</a:t>
            </a:r>
            <a:endParaRPr/>
          </a:p>
        </p:txBody>
      </p:sp>
      <p:sp>
        <p:nvSpPr>
          <p:cNvPr id="143" name="Google Shape;143;p14"/>
          <p:cNvSpPr/>
          <p:nvPr/>
        </p:nvSpPr>
        <p:spPr>
          <a:xfrm>
            <a:off x="3791904" y="2206418"/>
            <a:ext cx="1350600" cy="562200"/>
          </a:xfrm>
          <a:prstGeom prst="curvedDownArrow">
            <a:avLst>
              <a:gd fmla="val 25000" name="adj1"/>
              <a:gd fmla="val 50000" name="adj2"/>
              <a:gd fmla="val 25000" name="adj3"/>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14"/>
          <p:cNvSpPr/>
          <p:nvPr/>
        </p:nvSpPr>
        <p:spPr>
          <a:xfrm>
            <a:off x="7049470" y="2206418"/>
            <a:ext cx="1350600" cy="562200"/>
          </a:xfrm>
          <a:prstGeom prst="curvedDownArrow">
            <a:avLst>
              <a:gd fmla="val 25000" name="adj1"/>
              <a:gd fmla="val 50000" name="adj2"/>
              <a:gd fmla="val 25000" name="adj3"/>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14"/>
          <p:cNvSpPr/>
          <p:nvPr/>
        </p:nvSpPr>
        <p:spPr>
          <a:xfrm>
            <a:off x="3730477" y="1863915"/>
            <a:ext cx="352200" cy="342600"/>
          </a:xfrm>
          <a:prstGeom prst="mathPlus">
            <a:avLst>
              <a:gd fmla="val 23520" name="adj1"/>
            </a:avLst>
          </a:prstGeom>
          <a:solidFill>
            <a:schemeClr val="accent1"/>
          </a:solidFill>
          <a:ln cap="flat" cmpd="sng" w="12700">
            <a:solidFill>
              <a:srgbClr val="695B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14"/>
          <p:cNvSpPr/>
          <p:nvPr/>
        </p:nvSpPr>
        <p:spPr>
          <a:xfrm>
            <a:off x="6928610" y="1916217"/>
            <a:ext cx="352200" cy="342600"/>
          </a:xfrm>
          <a:prstGeom prst="mathPlus">
            <a:avLst>
              <a:gd fmla="val 23520" name="adj1"/>
            </a:avLst>
          </a:prstGeom>
          <a:solidFill>
            <a:schemeClr val="accent1"/>
          </a:solidFill>
          <a:ln cap="flat" cmpd="sng" w="12700">
            <a:solidFill>
              <a:srgbClr val="695B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4"/>
          <p:cNvSpPr txBox="1"/>
          <p:nvPr/>
        </p:nvSpPr>
        <p:spPr>
          <a:xfrm>
            <a:off x="659094" y="5118682"/>
            <a:ext cx="108738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Satılık dairelerin günlük View ve Call </a:t>
            </a:r>
            <a:r>
              <a:rPr lang="tr-TR" sz="1800">
                <a:solidFill>
                  <a:srgbClr val="000000"/>
                </a:solidFill>
                <a:latin typeface="Arial"/>
                <a:ea typeface="Arial"/>
                <a:cs typeface="Arial"/>
                <a:sym typeface="Arial"/>
              </a:rPr>
              <a:t>C</a:t>
            </a:r>
            <a:r>
              <a:rPr b="0" i="0" lang="tr-TR" sz="1800" u="none" strike="noStrike">
                <a:solidFill>
                  <a:srgbClr val="000000"/>
                </a:solidFill>
                <a:latin typeface="Arial"/>
                <a:ea typeface="Arial"/>
                <a:cs typeface="Arial"/>
                <a:sym typeface="Arial"/>
              </a:rPr>
              <a:t>lick verileri, aynı günün hava durumu değişkenleriyle birleştirilip yeni özellikler türetilmiştir.</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5"/>
          <p:cNvSpPr txBox="1"/>
          <p:nvPr>
            <p:ph type="title"/>
          </p:nvPr>
        </p:nvSpPr>
        <p:spPr>
          <a:xfrm>
            <a:off x="837220" y="876301"/>
            <a:ext cx="10516500" cy="2852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Helvetica Neue"/>
              <a:buNone/>
            </a:pPr>
            <a:r>
              <a:rPr lang="tr-TR"/>
              <a:t>2. Tanımlayıcı İstatistikler ve Zaman Serisi Analizleri</a:t>
            </a:r>
            <a:endParaRPr/>
          </a:p>
        </p:txBody>
      </p:sp>
      <p:sp>
        <p:nvSpPr>
          <p:cNvPr id="153" name="Google Shape;153;p15"/>
          <p:cNvSpPr txBox="1"/>
          <p:nvPr>
            <p:ph idx="1" type="body"/>
          </p:nvPr>
        </p:nvSpPr>
        <p:spPr>
          <a:xfrm>
            <a:off x="837221" y="3817938"/>
            <a:ext cx="10516500" cy="150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rPr lang="tr-TR"/>
              <a:t>2.1. Tanımlayıcı İstatistikler</a:t>
            </a:r>
            <a:endParaRPr/>
          </a:p>
          <a:p>
            <a:pPr indent="0" lvl="0" marL="0" rtl="0" algn="l">
              <a:lnSpc>
                <a:spcPct val="90000"/>
              </a:lnSpc>
              <a:spcBef>
                <a:spcPts val="1000"/>
              </a:spcBef>
              <a:spcAft>
                <a:spcPts val="0"/>
              </a:spcAft>
              <a:buClr>
                <a:srgbClr val="888888"/>
              </a:buClr>
              <a:buSzPts val="2400"/>
              <a:buNone/>
            </a:pPr>
            <a:r>
              <a:rPr lang="tr-TR"/>
              <a:t>2.2. View ve Call Click Üzerindeki Genel Etkiler</a:t>
            </a:r>
            <a:endParaRPr/>
          </a:p>
          <a:p>
            <a:pPr indent="0" lvl="0" marL="0" rtl="0" algn="l">
              <a:lnSpc>
                <a:spcPct val="90000"/>
              </a:lnSpc>
              <a:spcBef>
                <a:spcPts val="1000"/>
              </a:spcBef>
              <a:spcAft>
                <a:spcPts val="0"/>
              </a:spcAft>
              <a:buClr>
                <a:srgbClr val="888888"/>
              </a:buClr>
              <a:buSzPts val="2400"/>
              <a:buNone/>
            </a:pPr>
            <a:r>
              <a:rPr lang="tr-TR"/>
              <a:t>2.3. Zaman Serisi Bileşenleri</a:t>
            </a:r>
            <a:endParaRPr/>
          </a:p>
          <a:p>
            <a:pPr indent="0" lvl="0" marL="0" rtl="0" algn="l">
              <a:lnSpc>
                <a:spcPct val="90000"/>
              </a:lnSpc>
              <a:spcBef>
                <a:spcPts val="1000"/>
              </a:spcBef>
              <a:spcAft>
                <a:spcPts val="0"/>
              </a:spcAft>
              <a:buClr>
                <a:srgbClr val="888888"/>
              </a:buClr>
              <a:buSzPts val="2400"/>
              <a:buNone/>
            </a:pPr>
            <a:r>
              <a:rPr lang="tr-TR"/>
              <a:t>2.4. Kısmi Otokorelasyon</a:t>
            </a:r>
            <a:endParaRPr/>
          </a:p>
        </p:txBody>
      </p:sp>
      <p:sp>
        <p:nvSpPr>
          <p:cNvPr id="154" name="Google Shape;154;p15"/>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55" name="Google Shape;155;p15"/>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2.1. Tanımlayıcı İstatistikler</a:t>
            </a:r>
            <a:endParaRPr/>
          </a:p>
        </p:txBody>
      </p:sp>
      <p:sp>
        <p:nvSpPr>
          <p:cNvPr id="161" name="Google Shape;161;p16"/>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62" name="Google Shape;162;p16"/>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163" name="Google Shape;163;p16"/>
          <p:cNvPicPr preferRelativeResize="0"/>
          <p:nvPr/>
        </p:nvPicPr>
        <p:blipFill rotWithShape="1">
          <a:blip r:embed="rId4">
            <a:alphaModFix/>
          </a:blip>
          <a:srcRect b="0" l="0" r="0" t="21556"/>
          <a:stretch/>
        </p:blipFill>
        <p:spPr>
          <a:xfrm>
            <a:off x="1741721" y="1242000"/>
            <a:ext cx="8708559" cy="2458517"/>
          </a:xfrm>
          <a:prstGeom prst="rect">
            <a:avLst/>
          </a:prstGeom>
          <a:noFill/>
          <a:ln>
            <a:noFill/>
          </a:ln>
        </p:spPr>
      </p:pic>
      <p:pic>
        <p:nvPicPr>
          <p:cNvPr id="164" name="Google Shape;164;p16"/>
          <p:cNvPicPr preferRelativeResize="0"/>
          <p:nvPr/>
        </p:nvPicPr>
        <p:blipFill rotWithShape="1">
          <a:blip r:embed="rId5">
            <a:alphaModFix/>
          </a:blip>
          <a:srcRect b="0" l="0" r="0" t="0"/>
          <a:stretch/>
        </p:blipFill>
        <p:spPr>
          <a:xfrm>
            <a:off x="4920594" y="3743611"/>
            <a:ext cx="5529684" cy="2171413"/>
          </a:xfrm>
          <a:prstGeom prst="rect">
            <a:avLst/>
          </a:prstGeom>
          <a:noFill/>
          <a:ln>
            <a:noFill/>
          </a:ln>
        </p:spPr>
      </p:pic>
      <p:sp>
        <p:nvSpPr>
          <p:cNvPr id="165" name="Google Shape;165;p16"/>
          <p:cNvSpPr txBox="1"/>
          <p:nvPr/>
        </p:nvSpPr>
        <p:spPr>
          <a:xfrm>
            <a:off x="461394" y="4459986"/>
            <a:ext cx="4322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En yüksek değerlerin yaşandığı gün ne oldu?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7"/>
          <p:cNvPicPr preferRelativeResize="0"/>
          <p:nvPr/>
        </p:nvPicPr>
        <p:blipFill rotWithShape="1">
          <a:blip r:embed="rId3">
            <a:alphaModFix/>
          </a:blip>
          <a:srcRect b="0" l="0" r="0" t="0"/>
          <a:stretch/>
        </p:blipFill>
        <p:spPr>
          <a:xfrm>
            <a:off x="1007843" y="1588576"/>
            <a:ext cx="9809518" cy="4169044"/>
          </a:xfrm>
          <a:prstGeom prst="rect">
            <a:avLst/>
          </a:prstGeom>
          <a:noFill/>
          <a:ln>
            <a:noFill/>
          </a:ln>
        </p:spPr>
      </p:pic>
      <p:sp>
        <p:nvSpPr>
          <p:cNvPr id="171" name="Google Shape;171;p17"/>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br>
              <a:rPr lang="tr-TR" sz="3100"/>
            </a:br>
            <a:r>
              <a:rPr lang="tr-TR" sz="3100"/>
              <a:t>2.2. View ve Call Click Üzerindeki Genel Etkiler</a:t>
            </a:r>
            <a:br>
              <a:rPr lang="tr-TR"/>
            </a:br>
            <a:endParaRPr/>
          </a:p>
        </p:txBody>
      </p:sp>
      <p:sp>
        <p:nvSpPr>
          <p:cNvPr id="172" name="Google Shape;172;p17"/>
          <p:cNvSpPr txBox="1"/>
          <p:nvPr>
            <p:ph idx="11" type="ftr"/>
          </p:nvPr>
        </p:nvSpPr>
        <p:spPr>
          <a:xfrm>
            <a:off x="0" y="5915024"/>
            <a:ext cx="12192000" cy="9540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73" name="Google Shape;173;p17"/>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18"/>
          <p:cNvPicPr preferRelativeResize="0"/>
          <p:nvPr/>
        </p:nvPicPr>
        <p:blipFill rotWithShape="1">
          <a:blip r:embed="rId3">
            <a:alphaModFix/>
          </a:blip>
          <a:srcRect b="0" l="0" r="0" t="11079"/>
          <a:stretch/>
        </p:blipFill>
        <p:spPr>
          <a:xfrm>
            <a:off x="564570" y="1321343"/>
            <a:ext cx="6146910" cy="2172748"/>
          </a:xfrm>
          <a:prstGeom prst="rect">
            <a:avLst/>
          </a:prstGeom>
          <a:noFill/>
          <a:ln>
            <a:noFill/>
          </a:ln>
        </p:spPr>
      </p:pic>
      <p:sp>
        <p:nvSpPr>
          <p:cNvPr id="179" name="Google Shape;179;p18"/>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2.3. Zaman Serisi Bileşenleri</a:t>
            </a:r>
            <a:endParaRPr/>
          </a:p>
        </p:txBody>
      </p:sp>
      <p:sp>
        <p:nvSpPr>
          <p:cNvPr id="180" name="Google Shape;180;p18"/>
          <p:cNvSpPr txBox="1"/>
          <p:nvPr>
            <p:ph idx="11" type="ftr"/>
          </p:nvPr>
        </p:nvSpPr>
        <p:spPr>
          <a:xfrm>
            <a:off x="0" y="5915024"/>
            <a:ext cx="12192000" cy="9540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81" name="Google Shape;181;p18"/>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182" name="Google Shape;182;p18"/>
          <p:cNvPicPr preferRelativeResize="0"/>
          <p:nvPr/>
        </p:nvPicPr>
        <p:blipFill rotWithShape="1">
          <a:blip r:embed="rId5">
            <a:alphaModFix/>
          </a:blip>
          <a:srcRect b="0" l="0" r="0" t="10738"/>
          <a:stretch/>
        </p:blipFill>
        <p:spPr>
          <a:xfrm>
            <a:off x="564570" y="3614054"/>
            <a:ext cx="6146909" cy="2181007"/>
          </a:xfrm>
          <a:prstGeom prst="rect">
            <a:avLst/>
          </a:prstGeom>
          <a:noFill/>
          <a:ln>
            <a:noFill/>
          </a:ln>
        </p:spPr>
      </p:pic>
      <p:sp>
        <p:nvSpPr>
          <p:cNvPr id="183" name="Google Shape;183;p18"/>
          <p:cNvSpPr txBox="1"/>
          <p:nvPr/>
        </p:nvSpPr>
        <p:spPr>
          <a:xfrm>
            <a:off x="7223534" y="5081260"/>
            <a:ext cx="46161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View ve Call Click verileri trend, sezonluk yapı ve artık bileşenler şeklinde ayrıştırılmıştır.</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2.4. Kısmi Otokorelasyon</a:t>
            </a:r>
            <a:endParaRPr/>
          </a:p>
        </p:txBody>
      </p:sp>
      <p:sp>
        <p:nvSpPr>
          <p:cNvPr id="189" name="Google Shape;189;p19"/>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90" name="Google Shape;190;p19"/>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191" name="Google Shape;191;p19"/>
          <p:cNvPicPr preferRelativeResize="0"/>
          <p:nvPr/>
        </p:nvPicPr>
        <p:blipFill rotWithShape="1">
          <a:blip r:embed="rId4">
            <a:alphaModFix/>
          </a:blip>
          <a:srcRect b="0" l="0" r="0" t="5687"/>
          <a:stretch/>
        </p:blipFill>
        <p:spPr>
          <a:xfrm>
            <a:off x="366969" y="2123410"/>
            <a:ext cx="5522079" cy="2778679"/>
          </a:xfrm>
          <a:prstGeom prst="rect">
            <a:avLst/>
          </a:prstGeom>
          <a:noFill/>
          <a:ln>
            <a:noFill/>
          </a:ln>
        </p:spPr>
      </p:pic>
      <p:pic>
        <p:nvPicPr>
          <p:cNvPr id="192" name="Google Shape;192;p19"/>
          <p:cNvPicPr preferRelativeResize="0"/>
          <p:nvPr/>
        </p:nvPicPr>
        <p:blipFill rotWithShape="1">
          <a:blip r:embed="rId5">
            <a:alphaModFix/>
          </a:blip>
          <a:srcRect b="0" l="0" r="0" t="5687"/>
          <a:stretch/>
        </p:blipFill>
        <p:spPr>
          <a:xfrm>
            <a:off x="6302954" y="2123410"/>
            <a:ext cx="5492065" cy="2778680"/>
          </a:xfrm>
          <a:prstGeom prst="rect">
            <a:avLst/>
          </a:prstGeom>
          <a:noFill/>
          <a:ln>
            <a:noFill/>
          </a:ln>
        </p:spPr>
      </p:pic>
      <p:sp>
        <p:nvSpPr>
          <p:cNvPr id="193" name="Google Shape;193;p19"/>
          <p:cNvSpPr txBox="1"/>
          <p:nvPr/>
        </p:nvSpPr>
        <p:spPr>
          <a:xfrm>
            <a:off x="1825696" y="1754078"/>
            <a:ext cx="2604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View Kısmi Otokorelasyon</a:t>
            </a:r>
            <a:endParaRPr/>
          </a:p>
        </p:txBody>
      </p:sp>
      <p:sp>
        <p:nvSpPr>
          <p:cNvPr id="194" name="Google Shape;194;p19"/>
          <p:cNvSpPr txBox="1"/>
          <p:nvPr/>
        </p:nvSpPr>
        <p:spPr>
          <a:xfrm>
            <a:off x="7566560" y="1754078"/>
            <a:ext cx="2964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Call Click Kısmi Otokorelasyon</a:t>
            </a:r>
            <a:endParaRPr/>
          </a:p>
        </p:txBody>
      </p:sp>
      <p:sp>
        <p:nvSpPr>
          <p:cNvPr id="195" name="Google Shape;195;p19"/>
          <p:cNvSpPr txBox="1"/>
          <p:nvPr/>
        </p:nvSpPr>
        <p:spPr>
          <a:xfrm>
            <a:off x="1132839" y="5223890"/>
            <a:ext cx="9926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Görüntülenme ve arama verilerinin geçmiş günlere olan bağımlılıklarını gösteren analiz grafikleri(PACF).</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837220" y="876301"/>
            <a:ext cx="10516500" cy="2852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Helvetica Neue"/>
              <a:buNone/>
            </a:pPr>
            <a:r>
              <a:rPr lang="tr-TR"/>
              <a:t>3. Hava Durumu Değişkenlerinin View ve Call Click Üzerindeki Etkileri</a:t>
            </a:r>
            <a:endParaRPr/>
          </a:p>
        </p:txBody>
      </p:sp>
      <p:sp>
        <p:nvSpPr>
          <p:cNvPr id="201" name="Google Shape;201;p20"/>
          <p:cNvSpPr txBox="1"/>
          <p:nvPr>
            <p:ph idx="1" type="body"/>
          </p:nvPr>
        </p:nvSpPr>
        <p:spPr>
          <a:xfrm>
            <a:off x="837221" y="3817938"/>
            <a:ext cx="10516500" cy="150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rPr lang="tr-TR"/>
              <a:t>3.1. Hava Durumu Kategorilerine Göre View ve Call Click</a:t>
            </a:r>
            <a:endParaRPr/>
          </a:p>
          <a:p>
            <a:pPr indent="0" lvl="0" marL="0" rtl="0" algn="l">
              <a:lnSpc>
                <a:spcPct val="90000"/>
              </a:lnSpc>
              <a:spcBef>
                <a:spcPts val="1000"/>
              </a:spcBef>
              <a:spcAft>
                <a:spcPts val="0"/>
              </a:spcAft>
              <a:buClr>
                <a:srgbClr val="888888"/>
              </a:buClr>
              <a:buSzPts val="2400"/>
              <a:buNone/>
            </a:pPr>
            <a:r>
              <a:rPr lang="tr-TR"/>
              <a:t>3.2. Sıcaklık Kategorilerine Göre Ortalama View ve Call Click</a:t>
            </a:r>
            <a:endParaRPr/>
          </a:p>
          <a:p>
            <a:pPr indent="0" lvl="0" marL="0" rtl="0" algn="l">
              <a:lnSpc>
                <a:spcPct val="90000"/>
              </a:lnSpc>
              <a:spcBef>
                <a:spcPts val="1000"/>
              </a:spcBef>
              <a:spcAft>
                <a:spcPts val="0"/>
              </a:spcAft>
              <a:buClr>
                <a:srgbClr val="888888"/>
              </a:buClr>
              <a:buSzPts val="2400"/>
              <a:buNone/>
            </a:pPr>
            <a:r>
              <a:rPr lang="tr-TR"/>
              <a:t>3.3. Karlı, Yağmurlu ve Rüzgarlı Günlerde View Dağılımı</a:t>
            </a:r>
            <a:endParaRPr/>
          </a:p>
          <a:p>
            <a:pPr indent="0" lvl="0" marL="0" rtl="0" algn="l">
              <a:lnSpc>
                <a:spcPct val="90000"/>
              </a:lnSpc>
              <a:spcBef>
                <a:spcPts val="1000"/>
              </a:spcBef>
              <a:spcAft>
                <a:spcPts val="0"/>
              </a:spcAft>
              <a:buClr>
                <a:srgbClr val="888888"/>
              </a:buClr>
              <a:buSzPts val="2400"/>
              <a:buNone/>
            </a:pPr>
            <a:r>
              <a:rPr lang="tr-TR"/>
              <a:t>3.4. Rüzgar Hızı ve Ani Rüzgarların View ve Call Click Üzerindeki Etkisi</a:t>
            </a:r>
            <a:endParaRPr/>
          </a:p>
          <a:p>
            <a:pPr indent="0" lvl="0" marL="0" rtl="0" algn="l">
              <a:lnSpc>
                <a:spcPct val="90000"/>
              </a:lnSpc>
              <a:spcBef>
                <a:spcPts val="1000"/>
              </a:spcBef>
              <a:spcAft>
                <a:spcPts val="0"/>
              </a:spcAft>
              <a:buClr>
                <a:srgbClr val="888888"/>
              </a:buClr>
              <a:buSzPts val="2400"/>
              <a:buNone/>
            </a:pPr>
            <a:r>
              <a:rPr lang="tr-TR"/>
              <a:t>3.5. Sıcaklık ile View ve Call Click Arasındaki İlişki</a:t>
            </a:r>
            <a:endParaRPr/>
          </a:p>
        </p:txBody>
      </p:sp>
      <p:sp>
        <p:nvSpPr>
          <p:cNvPr id="202" name="Google Shape;202;p20"/>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03" name="Google Shape;203;p20"/>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1"/>
          <p:cNvPicPr preferRelativeResize="0"/>
          <p:nvPr/>
        </p:nvPicPr>
        <p:blipFill rotWithShape="1">
          <a:blip r:embed="rId3">
            <a:alphaModFix/>
          </a:blip>
          <a:srcRect b="7911" l="0" r="0" t="9851"/>
          <a:stretch/>
        </p:blipFill>
        <p:spPr>
          <a:xfrm>
            <a:off x="8827967" y="1837313"/>
            <a:ext cx="3288444" cy="2508180"/>
          </a:xfrm>
          <a:prstGeom prst="rect">
            <a:avLst/>
          </a:prstGeom>
          <a:noFill/>
          <a:ln>
            <a:noFill/>
          </a:ln>
        </p:spPr>
      </p:pic>
      <p:sp>
        <p:nvSpPr>
          <p:cNvPr id="209" name="Google Shape;209;p21"/>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3.1. Hava Durumu Kategorilerine Göre View ve Call Click</a:t>
            </a:r>
            <a:endParaRPr/>
          </a:p>
        </p:txBody>
      </p:sp>
      <p:sp>
        <p:nvSpPr>
          <p:cNvPr id="210" name="Google Shape;210;p21"/>
          <p:cNvSpPr txBox="1"/>
          <p:nvPr>
            <p:ph idx="11" type="ftr"/>
          </p:nvPr>
        </p:nvSpPr>
        <p:spPr>
          <a:xfrm>
            <a:off x="0" y="5915024"/>
            <a:ext cx="12192000" cy="9540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11" name="Google Shape;211;p21"/>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212" name="Google Shape;212;p21"/>
          <p:cNvPicPr preferRelativeResize="0"/>
          <p:nvPr>
            <p:ph idx="1" type="body"/>
          </p:nvPr>
        </p:nvPicPr>
        <p:blipFill rotWithShape="1">
          <a:blip r:embed="rId5">
            <a:alphaModFix/>
          </a:blip>
          <a:srcRect b="0" l="0" r="0" t="0"/>
          <a:stretch/>
        </p:blipFill>
        <p:spPr>
          <a:xfrm>
            <a:off x="58810" y="1837312"/>
            <a:ext cx="4262100" cy="2508300"/>
          </a:xfrm>
          <a:prstGeom prst="rect">
            <a:avLst/>
          </a:prstGeom>
          <a:noFill/>
          <a:ln>
            <a:noFill/>
          </a:ln>
        </p:spPr>
      </p:pic>
      <p:pic>
        <p:nvPicPr>
          <p:cNvPr id="213" name="Google Shape;213;p21"/>
          <p:cNvPicPr preferRelativeResize="0"/>
          <p:nvPr/>
        </p:nvPicPr>
        <p:blipFill rotWithShape="1">
          <a:blip r:embed="rId6">
            <a:alphaModFix/>
          </a:blip>
          <a:srcRect b="0" l="0" r="0" t="0"/>
          <a:stretch/>
        </p:blipFill>
        <p:spPr>
          <a:xfrm>
            <a:off x="4449479" y="1837312"/>
            <a:ext cx="4249975" cy="2508182"/>
          </a:xfrm>
          <a:prstGeom prst="rect">
            <a:avLst/>
          </a:prstGeom>
          <a:noFill/>
          <a:ln>
            <a:noFill/>
          </a:ln>
        </p:spPr>
      </p:pic>
      <p:sp>
        <p:nvSpPr>
          <p:cNvPr id="214" name="Google Shape;214;p21"/>
          <p:cNvSpPr txBox="1"/>
          <p:nvPr/>
        </p:nvSpPr>
        <p:spPr>
          <a:xfrm>
            <a:off x="516491" y="5268693"/>
            <a:ext cx="111591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Yukarıdaki grafiklerde farklı hava durumu kategorilerinde view ve call click medyanları ile veri dağılımı sunulmaktadır; </a:t>
            </a:r>
            <a:endParaRPr/>
          </a:p>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en yüksek medyan karlı günlerde gözlemlenmiştir.</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3.2. Sıcaklık Kategorilerine Göre Ortalama View ve Call Click</a:t>
            </a:r>
            <a:endParaRPr/>
          </a:p>
        </p:txBody>
      </p:sp>
      <p:sp>
        <p:nvSpPr>
          <p:cNvPr id="220" name="Google Shape;220;p22"/>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21" name="Google Shape;221;p22"/>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222" name="Google Shape;222;p22"/>
          <p:cNvPicPr preferRelativeResize="0"/>
          <p:nvPr/>
        </p:nvPicPr>
        <p:blipFill rotWithShape="1">
          <a:blip r:embed="rId4">
            <a:alphaModFix/>
          </a:blip>
          <a:srcRect b="0" l="0" r="0" t="0"/>
          <a:stretch/>
        </p:blipFill>
        <p:spPr>
          <a:xfrm>
            <a:off x="1092939" y="1486076"/>
            <a:ext cx="4332149" cy="3587794"/>
          </a:xfrm>
          <a:prstGeom prst="rect">
            <a:avLst/>
          </a:prstGeom>
          <a:noFill/>
          <a:ln>
            <a:noFill/>
          </a:ln>
        </p:spPr>
      </p:pic>
      <p:pic>
        <p:nvPicPr>
          <p:cNvPr id="223" name="Google Shape;223;p22"/>
          <p:cNvPicPr preferRelativeResize="0"/>
          <p:nvPr/>
        </p:nvPicPr>
        <p:blipFill rotWithShape="1">
          <a:blip r:embed="rId5">
            <a:alphaModFix/>
          </a:blip>
          <a:srcRect b="0" l="0" r="0" t="0"/>
          <a:stretch/>
        </p:blipFill>
        <p:spPr>
          <a:xfrm>
            <a:off x="6766914" y="1486076"/>
            <a:ext cx="4343898" cy="3587794"/>
          </a:xfrm>
          <a:prstGeom prst="rect">
            <a:avLst/>
          </a:prstGeom>
          <a:noFill/>
          <a:ln>
            <a:noFill/>
          </a:ln>
        </p:spPr>
      </p:pic>
      <p:sp>
        <p:nvSpPr>
          <p:cNvPr id="224" name="Google Shape;224;p22"/>
          <p:cNvSpPr txBox="1"/>
          <p:nvPr/>
        </p:nvSpPr>
        <p:spPr>
          <a:xfrm>
            <a:off x="517321" y="5268693"/>
            <a:ext cx="111573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Sıcaklık kategorilerine göre view ve call click ortalamaları sunulmuştur; en yüksek ortalamalar çok soğuk (&lt;5°C) günlerde gözlemlenmiştir.</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3.3. Karlı, Yağmurlu ve Rüzgarlı Günlerde View Dağılımı</a:t>
            </a:r>
            <a:endParaRPr/>
          </a:p>
        </p:txBody>
      </p:sp>
      <p:sp>
        <p:nvSpPr>
          <p:cNvPr id="230" name="Google Shape;230;p23"/>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31" name="Google Shape;231;p23"/>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232" name="Google Shape;232;p23"/>
          <p:cNvPicPr preferRelativeResize="0"/>
          <p:nvPr/>
        </p:nvPicPr>
        <p:blipFill rotWithShape="1">
          <a:blip r:embed="rId4">
            <a:alphaModFix/>
          </a:blip>
          <a:srcRect b="0" l="0" r="0" t="0"/>
          <a:stretch/>
        </p:blipFill>
        <p:spPr>
          <a:xfrm>
            <a:off x="886199" y="1472114"/>
            <a:ext cx="2968531" cy="3663293"/>
          </a:xfrm>
          <a:prstGeom prst="rect">
            <a:avLst/>
          </a:prstGeom>
          <a:noFill/>
          <a:ln>
            <a:noFill/>
          </a:ln>
        </p:spPr>
      </p:pic>
      <p:pic>
        <p:nvPicPr>
          <p:cNvPr id="233" name="Google Shape;233;p23"/>
          <p:cNvPicPr preferRelativeResize="0"/>
          <p:nvPr/>
        </p:nvPicPr>
        <p:blipFill rotWithShape="1">
          <a:blip r:embed="rId5">
            <a:alphaModFix/>
          </a:blip>
          <a:srcRect b="0" l="0" r="0" t="0"/>
          <a:stretch/>
        </p:blipFill>
        <p:spPr>
          <a:xfrm>
            <a:off x="4698694" y="1472114"/>
            <a:ext cx="2878301" cy="3663292"/>
          </a:xfrm>
          <a:prstGeom prst="rect">
            <a:avLst/>
          </a:prstGeom>
          <a:noFill/>
          <a:ln>
            <a:noFill/>
          </a:ln>
        </p:spPr>
      </p:pic>
      <p:pic>
        <p:nvPicPr>
          <p:cNvPr id="234" name="Google Shape;234;p23"/>
          <p:cNvPicPr preferRelativeResize="0"/>
          <p:nvPr/>
        </p:nvPicPr>
        <p:blipFill rotWithShape="1">
          <a:blip r:embed="rId6">
            <a:alphaModFix/>
          </a:blip>
          <a:srcRect b="0" l="0" r="0" t="0"/>
          <a:stretch/>
        </p:blipFill>
        <p:spPr>
          <a:xfrm>
            <a:off x="8420959" y="1472114"/>
            <a:ext cx="2884842" cy="3663291"/>
          </a:xfrm>
          <a:prstGeom prst="rect">
            <a:avLst/>
          </a:prstGeom>
          <a:noFill/>
          <a:ln>
            <a:noFill/>
          </a:ln>
        </p:spPr>
      </p:pic>
      <p:sp>
        <p:nvSpPr>
          <p:cNvPr id="235" name="Google Shape;235;p23"/>
          <p:cNvSpPr txBox="1"/>
          <p:nvPr/>
        </p:nvSpPr>
        <p:spPr>
          <a:xfrm>
            <a:off x="369116" y="5337783"/>
            <a:ext cx="111180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Karlı, rüzgarlı ve ani rüzgarlı günlerde view sayılarına dair dağılımlar gösterilmektedir; bu koşullarda genel olarak daha yüksek görüntülenmeler gözleniyor.</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3.4. Rüzgar Hızı ve Ani Rüzgarların View ve Call Click Üzerindeki Etkisi</a:t>
            </a:r>
            <a:endParaRPr/>
          </a:p>
        </p:txBody>
      </p:sp>
      <p:sp>
        <p:nvSpPr>
          <p:cNvPr id="241" name="Google Shape;241;p24"/>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42" name="Google Shape;242;p24"/>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243" name="Google Shape;243;p24"/>
          <p:cNvPicPr preferRelativeResize="0"/>
          <p:nvPr/>
        </p:nvPicPr>
        <p:blipFill rotWithShape="1">
          <a:blip r:embed="rId4">
            <a:alphaModFix/>
          </a:blip>
          <a:srcRect b="0" l="0" r="0" t="0"/>
          <a:stretch/>
        </p:blipFill>
        <p:spPr>
          <a:xfrm>
            <a:off x="704850" y="1613946"/>
            <a:ext cx="4606522" cy="3394279"/>
          </a:xfrm>
          <a:prstGeom prst="rect">
            <a:avLst/>
          </a:prstGeom>
          <a:noFill/>
          <a:ln>
            <a:noFill/>
          </a:ln>
        </p:spPr>
      </p:pic>
      <p:pic>
        <p:nvPicPr>
          <p:cNvPr id="244" name="Google Shape;244;p24"/>
          <p:cNvPicPr preferRelativeResize="0"/>
          <p:nvPr/>
        </p:nvPicPr>
        <p:blipFill rotWithShape="1">
          <a:blip r:embed="rId5">
            <a:alphaModFix/>
          </a:blip>
          <a:srcRect b="0" l="0" r="0" t="0"/>
          <a:stretch/>
        </p:blipFill>
        <p:spPr>
          <a:xfrm>
            <a:off x="6648127" y="1613946"/>
            <a:ext cx="4839024" cy="3394279"/>
          </a:xfrm>
          <a:prstGeom prst="rect">
            <a:avLst/>
          </a:prstGeom>
          <a:noFill/>
          <a:ln>
            <a:noFill/>
          </a:ln>
        </p:spPr>
      </p:pic>
      <p:sp>
        <p:nvSpPr>
          <p:cNvPr id="245" name="Google Shape;245;p24"/>
          <p:cNvSpPr txBox="1"/>
          <p:nvPr/>
        </p:nvSpPr>
        <p:spPr>
          <a:xfrm>
            <a:off x="486560" y="5335127"/>
            <a:ext cx="110007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Rüzgar ve ani rüzgar hızlarının view ve call click üzerindeki dağılımsal etkileri gösterilmektedir; belirgin bir korelasyon gözlenmemektedir.</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3.5. Sıcaklık ile View ve Call Click Arasındaki İlişki</a:t>
            </a:r>
            <a:endParaRPr/>
          </a:p>
        </p:txBody>
      </p:sp>
      <p:sp>
        <p:nvSpPr>
          <p:cNvPr id="251" name="Google Shape;251;p25"/>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52" name="Google Shape;252;p25"/>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pic>
        <p:nvPicPr>
          <p:cNvPr id="253" name="Google Shape;253;p25"/>
          <p:cNvPicPr preferRelativeResize="0"/>
          <p:nvPr/>
        </p:nvPicPr>
        <p:blipFill rotWithShape="1">
          <a:blip r:embed="rId4">
            <a:alphaModFix/>
          </a:blip>
          <a:srcRect b="0" l="0" r="0" t="0"/>
          <a:stretch/>
        </p:blipFill>
        <p:spPr>
          <a:xfrm>
            <a:off x="1245744" y="1323398"/>
            <a:ext cx="4204764" cy="4226438"/>
          </a:xfrm>
          <a:prstGeom prst="rect">
            <a:avLst/>
          </a:prstGeom>
          <a:noFill/>
          <a:ln>
            <a:noFill/>
          </a:ln>
        </p:spPr>
      </p:pic>
      <p:pic>
        <p:nvPicPr>
          <p:cNvPr id="254" name="Google Shape;254;p25"/>
          <p:cNvPicPr preferRelativeResize="0"/>
          <p:nvPr/>
        </p:nvPicPr>
        <p:blipFill rotWithShape="1">
          <a:blip r:embed="rId5">
            <a:alphaModFix/>
          </a:blip>
          <a:srcRect b="0" l="0" r="0" t="0"/>
          <a:stretch/>
        </p:blipFill>
        <p:spPr>
          <a:xfrm>
            <a:off x="6741490" y="1312192"/>
            <a:ext cx="4204765" cy="4233617"/>
          </a:xfrm>
          <a:prstGeom prst="rect">
            <a:avLst/>
          </a:prstGeom>
          <a:noFill/>
          <a:ln>
            <a:noFill/>
          </a:ln>
        </p:spPr>
      </p:pic>
      <p:sp>
        <p:nvSpPr>
          <p:cNvPr id="255" name="Google Shape;255;p25"/>
          <p:cNvSpPr txBox="1"/>
          <p:nvPr/>
        </p:nvSpPr>
        <p:spPr>
          <a:xfrm>
            <a:off x="571388" y="5549837"/>
            <a:ext cx="9503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Sıcaklık ile </a:t>
            </a:r>
            <a:r>
              <a:rPr lang="tr-TR" sz="1800">
                <a:solidFill>
                  <a:srgbClr val="000000"/>
                </a:solidFill>
                <a:latin typeface="Arial"/>
                <a:ea typeface="Arial"/>
                <a:cs typeface="Arial"/>
                <a:sym typeface="Arial"/>
              </a:rPr>
              <a:t>V</a:t>
            </a:r>
            <a:r>
              <a:rPr b="0" i="0" lang="tr-TR" sz="1800" u="none" strike="noStrike">
                <a:solidFill>
                  <a:srgbClr val="000000"/>
                </a:solidFill>
                <a:latin typeface="Arial"/>
                <a:ea typeface="Arial"/>
                <a:cs typeface="Arial"/>
                <a:sym typeface="Arial"/>
              </a:rPr>
              <a:t>iew ve </a:t>
            </a:r>
            <a:r>
              <a:rPr lang="tr-TR" sz="1800">
                <a:solidFill>
                  <a:srgbClr val="000000"/>
                </a:solidFill>
                <a:latin typeface="Arial"/>
                <a:ea typeface="Arial"/>
                <a:cs typeface="Arial"/>
                <a:sym typeface="Arial"/>
              </a:rPr>
              <a:t>C</a:t>
            </a:r>
            <a:r>
              <a:rPr b="0" i="0" lang="tr-TR" sz="1800" u="none" strike="noStrike">
                <a:solidFill>
                  <a:srgbClr val="000000"/>
                </a:solidFill>
                <a:latin typeface="Arial"/>
                <a:ea typeface="Arial"/>
                <a:cs typeface="Arial"/>
                <a:sym typeface="Arial"/>
              </a:rPr>
              <a:t>all </a:t>
            </a:r>
            <a:r>
              <a:rPr lang="tr-TR" sz="1800">
                <a:solidFill>
                  <a:srgbClr val="000000"/>
                </a:solidFill>
                <a:latin typeface="Arial"/>
                <a:ea typeface="Arial"/>
                <a:cs typeface="Arial"/>
                <a:sym typeface="Arial"/>
              </a:rPr>
              <a:t>C</a:t>
            </a:r>
            <a:r>
              <a:rPr b="0" i="0" lang="tr-TR" sz="1800" u="none" strike="noStrike">
                <a:solidFill>
                  <a:srgbClr val="000000"/>
                </a:solidFill>
                <a:latin typeface="Arial"/>
                <a:ea typeface="Arial"/>
                <a:cs typeface="Arial"/>
                <a:sym typeface="Arial"/>
              </a:rPr>
              <a:t>lick arasındaki ilişki yoğunluk temelli görselleştirilmiştir.</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6"/>
          <p:cNvSpPr txBox="1"/>
          <p:nvPr>
            <p:ph type="title"/>
          </p:nvPr>
        </p:nvSpPr>
        <p:spPr>
          <a:xfrm>
            <a:off x="837220" y="876301"/>
            <a:ext cx="10516500" cy="2852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Helvetica Neue"/>
              <a:buNone/>
            </a:pPr>
            <a:r>
              <a:rPr lang="tr-TR"/>
              <a:t>4. Korelasyonlar ve ANOVA</a:t>
            </a:r>
            <a:endParaRPr/>
          </a:p>
        </p:txBody>
      </p:sp>
      <p:sp>
        <p:nvSpPr>
          <p:cNvPr id="261" name="Google Shape;261;p26"/>
          <p:cNvSpPr txBox="1"/>
          <p:nvPr>
            <p:ph idx="1" type="body"/>
          </p:nvPr>
        </p:nvSpPr>
        <p:spPr>
          <a:xfrm>
            <a:off x="837221" y="3817938"/>
            <a:ext cx="10516500" cy="150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rPr lang="tr-TR"/>
              <a:t>4.1. Nümerik Değişkenlerin View ve Call Click ile Korelasyonları</a:t>
            </a:r>
            <a:endParaRPr/>
          </a:p>
          <a:p>
            <a:pPr indent="0" lvl="0" marL="0" rtl="0" algn="l">
              <a:lnSpc>
                <a:spcPct val="90000"/>
              </a:lnSpc>
              <a:spcBef>
                <a:spcPts val="1000"/>
              </a:spcBef>
              <a:spcAft>
                <a:spcPts val="0"/>
              </a:spcAft>
              <a:buClr>
                <a:srgbClr val="888888"/>
              </a:buClr>
              <a:buSzPts val="2400"/>
              <a:buNone/>
            </a:pPr>
            <a:r>
              <a:rPr lang="tr-TR"/>
              <a:t>4.2. Kategorik Değişkenler için ANOVA Test Sonuçları</a:t>
            </a:r>
            <a:endParaRPr/>
          </a:p>
        </p:txBody>
      </p:sp>
      <p:sp>
        <p:nvSpPr>
          <p:cNvPr id="262" name="Google Shape;262;p26"/>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63" name="Google Shape;263;p26"/>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7"/>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4.1. Nümerik Değişkenlerin View ve Call Click ile Korelasyonu</a:t>
            </a:r>
            <a:endParaRPr/>
          </a:p>
        </p:txBody>
      </p:sp>
      <p:sp>
        <p:nvSpPr>
          <p:cNvPr id="269" name="Google Shape;269;p27"/>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70" name="Google Shape;270;p27"/>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pic>
        <p:nvPicPr>
          <p:cNvPr id="271" name="Google Shape;271;p27"/>
          <p:cNvPicPr preferRelativeResize="0"/>
          <p:nvPr/>
        </p:nvPicPr>
        <p:blipFill rotWithShape="1">
          <a:blip r:embed="rId4">
            <a:alphaModFix/>
          </a:blip>
          <a:srcRect b="0" l="0" r="0" t="0"/>
          <a:stretch/>
        </p:blipFill>
        <p:spPr>
          <a:xfrm>
            <a:off x="3772162" y="1297160"/>
            <a:ext cx="4647675" cy="4263681"/>
          </a:xfrm>
          <a:prstGeom prst="rect">
            <a:avLst/>
          </a:prstGeom>
          <a:noFill/>
          <a:ln>
            <a:noFill/>
          </a:ln>
        </p:spPr>
      </p:pic>
      <p:sp>
        <p:nvSpPr>
          <p:cNvPr id="272" name="Google Shape;272;p27"/>
          <p:cNvSpPr txBox="1"/>
          <p:nvPr/>
        </p:nvSpPr>
        <p:spPr>
          <a:xfrm>
            <a:off x="1817615" y="5562857"/>
            <a:ext cx="8556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Hava durumu değişkenlerinin </a:t>
            </a:r>
            <a:r>
              <a:rPr lang="tr-TR" sz="1800">
                <a:solidFill>
                  <a:srgbClr val="000000"/>
                </a:solidFill>
                <a:latin typeface="Arial"/>
                <a:ea typeface="Arial"/>
                <a:cs typeface="Arial"/>
                <a:sym typeface="Arial"/>
              </a:rPr>
              <a:t>V</a:t>
            </a:r>
            <a:r>
              <a:rPr b="0" i="0" lang="tr-TR" sz="1800" u="none" strike="noStrike">
                <a:solidFill>
                  <a:srgbClr val="000000"/>
                </a:solidFill>
                <a:latin typeface="Arial"/>
                <a:ea typeface="Arial"/>
                <a:cs typeface="Arial"/>
                <a:sym typeface="Arial"/>
              </a:rPr>
              <a:t>iew ve </a:t>
            </a:r>
            <a:r>
              <a:rPr lang="tr-TR" sz="1800">
                <a:solidFill>
                  <a:srgbClr val="000000"/>
                </a:solidFill>
                <a:latin typeface="Arial"/>
                <a:ea typeface="Arial"/>
                <a:cs typeface="Arial"/>
                <a:sym typeface="Arial"/>
              </a:rPr>
              <a:t>C</a:t>
            </a:r>
            <a:r>
              <a:rPr b="0" i="0" lang="tr-TR" sz="1800" u="none" strike="noStrike">
                <a:solidFill>
                  <a:srgbClr val="000000"/>
                </a:solidFill>
                <a:latin typeface="Arial"/>
                <a:ea typeface="Arial"/>
                <a:cs typeface="Arial"/>
                <a:sym typeface="Arial"/>
              </a:rPr>
              <a:t>all </a:t>
            </a:r>
            <a:r>
              <a:rPr lang="tr-TR" sz="1800">
                <a:solidFill>
                  <a:srgbClr val="000000"/>
                </a:solidFill>
                <a:latin typeface="Arial"/>
                <a:ea typeface="Arial"/>
                <a:cs typeface="Arial"/>
                <a:sym typeface="Arial"/>
              </a:rPr>
              <a:t>C</a:t>
            </a:r>
            <a:r>
              <a:rPr b="0" i="0" lang="tr-TR" sz="1800" u="none" strike="noStrike">
                <a:solidFill>
                  <a:srgbClr val="000000"/>
                </a:solidFill>
                <a:latin typeface="Arial"/>
                <a:ea typeface="Arial"/>
                <a:cs typeface="Arial"/>
                <a:sym typeface="Arial"/>
              </a:rPr>
              <a:t>lick ile korelasyonları görselleştirilmiştir.</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4.2. Kategorik Değişkenler için ANOVA Test Sonuçları</a:t>
            </a:r>
            <a:endParaRPr/>
          </a:p>
        </p:txBody>
      </p:sp>
      <p:sp>
        <p:nvSpPr>
          <p:cNvPr id="278" name="Google Shape;278;p28"/>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79" name="Google Shape;279;p28"/>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graphicFrame>
        <p:nvGraphicFramePr>
          <p:cNvPr id="280" name="Google Shape;280;p28"/>
          <p:cNvGraphicFramePr/>
          <p:nvPr/>
        </p:nvGraphicFramePr>
        <p:xfrm>
          <a:off x="2032000" y="2131060"/>
          <a:ext cx="3000000" cy="3000000"/>
        </p:xfrm>
        <a:graphic>
          <a:graphicData uri="http://schemas.openxmlformats.org/drawingml/2006/table">
            <a:tbl>
              <a:tblPr bandRow="1" firstRow="1">
                <a:noFill/>
                <a:tableStyleId>{DCE376EB-0B3B-45D6-8590-C8E22B5B27CD}</a:tableStyleId>
              </a:tblPr>
              <a:tblGrid>
                <a:gridCol w="2032000"/>
                <a:gridCol w="2032000"/>
                <a:gridCol w="2032000"/>
                <a:gridCol w="2032000"/>
              </a:tblGrid>
              <a:tr h="370850">
                <a:tc gridSpan="2">
                  <a:txBody>
                    <a:bodyPr/>
                    <a:lstStyle/>
                    <a:p>
                      <a:pPr indent="0" lvl="0" marL="0" marR="0" rtl="0" algn="ctr">
                        <a:spcBef>
                          <a:spcPts val="0"/>
                        </a:spcBef>
                        <a:spcAft>
                          <a:spcPts val="0"/>
                        </a:spcAft>
                        <a:buNone/>
                      </a:pPr>
                      <a:r>
                        <a:rPr lang="tr-TR" sz="1800"/>
                        <a:t>View</a:t>
                      </a:r>
                      <a:endParaRPr/>
                    </a:p>
                  </a:txBody>
                  <a:tcPr marT="45725" marB="45725" marR="91450" marL="91450"/>
                </a:tc>
                <a:tc hMerge="1"/>
                <a:tc gridSpan="2">
                  <a:txBody>
                    <a:bodyPr/>
                    <a:lstStyle/>
                    <a:p>
                      <a:pPr indent="0" lvl="0" marL="0" marR="0" rtl="0" algn="ctr">
                        <a:spcBef>
                          <a:spcPts val="0"/>
                        </a:spcBef>
                        <a:spcAft>
                          <a:spcPts val="0"/>
                        </a:spcAft>
                        <a:buNone/>
                      </a:pPr>
                      <a:r>
                        <a:rPr lang="tr-TR" sz="1800"/>
                        <a:t>Call Click</a:t>
                      </a:r>
                      <a:endParaRPr/>
                    </a:p>
                  </a:txBody>
                  <a:tcPr marT="45725" marB="45725" marR="91450" marL="91450"/>
                </a:tc>
                <a:tc hMerge="1"/>
              </a:tr>
              <a:tr h="370850">
                <a:tc>
                  <a:txBody>
                    <a:bodyPr/>
                    <a:lstStyle/>
                    <a:p>
                      <a:pPr indent="0" lvl="0" marL="0" marR="0" rtl="0" algn="ctr">
                        <a:spcBef>
                          <a:spcPts val="0"/>
                        </a:spcBef>
                        <a:spcAft>
                          <a:spcPts val="0"/>
                        </a:spcAft>
                        <a:buNone/>
                      </a:pPr>
                      <a:r>
                        <a:rPr lang="tr-TR" sz="1800"/>
                        <a:t>Özellik</a:t>
                      </a:r>
                      <a:endParaRPr/>
                    </a:p>
                  </a:txBody>
                  <a:tcPr marT="45725" marB="45725" marR="91450" marL="91450">
                    <a:solidFill>
                      <a:srgbClr val="FEDD04"/>
                    </a:solidFill>
                  </a:tcPr>
                </a:tc>
                <a:tc>
                  <a:txBody>
                    <a:bodyPr/>
                    <a:lstStyle/>
                    <a:p>
                      <a:pPr indent="0" lvl="0" marL="0" marR="0" rtl="0" algn="ctr">
                        <a:spcBef>
                          <a:spcPts val="0"/>
                        </a:spcBef>
                        <a:spcAft>
                          <a:spcPts val="0"/>
                        </a:spcAft>
                        <a:buNone/>
                      </a:pPr>
                      <a:r>
                        <a:rPr lang="tr-TR" sz="1800"/>
                        <a:t> p değeri</a:t>
                      </a:r>
                      <a:endParaRPr/>
                    </a:p>
                  </a:txBody>
                  <a:tcPr marT="45725" marB="45725" marR="91450" marL="91450">
                    <a:solidFill>
                      <a:srgbClr val="FEDD04"/>
                    </a:solidFill>
                  </a:tcPr>
                </a:tc>
                <a:tc>
                  <a:txBody>
                    <a:bodyPr/>
                    <a:lstStyle/>
                    <a:p>
                      <a:pPr indent="0" lvl="0" marL="0" marR="0" rtl="0" algn="ctr">
                        <a:spcBef>
                          <a:spcPts val="0"/>
                        </a:spcBef>
                        <a:spcAft>
                          <a:spcPts val="0"/>
                        </a:spcAft>
                        <a:buNone/>
                      </a:pPr>
                      <a:r>
                        <a:rPr lang="tr-TR" sz="1800"/>
                        <a:t>Özellik</a:t>
                      </a:r>
                      <a:endParaRPr/>
                    </a:p>
                  </a:txBody>
                  <a:tcPr marT="45725" marB="45725" marR="91450" marL="91450">
                    <a:solidFill>
                      <a:srgbClr val="FEDD04"/>
                    </a:solidFill>
                  </a:tcPr>
                </a:tc>
                <a:tc>
                  <a:txBody>
                    <a:bodyPr/>
                    <a:lstStyle/>
                    <a:p>
                      <a:pPr indent="0" lvl="0" marL="0" marR="0" rtl="0" algn="ctr">
                        <a:spcBef>
                          <a:spcPts val="0"/>
                        </a:spcBef>
                        <a:spcAft>
                          <a:spcPts val="0"/>
                        </a:spcAft>
                        <a:buNone/>
                      </a:pPr>
                      <a:r>
                        <a:rPr lang="tr-TR" sz="1800"/>
                        <a:t> p değeri</a:t>
                      </a:r>
                      <a:endParaRPr/>
                    </a:p>
                  </a:txBody>
                  <a:tcPr marT="45725" marB="45725" marR="91450" marL="91450">
                    <a:solidFill>
                      <a:srgbClr val="FEDD04"/>
                    </a:solidFill>
                  </a:tcPr>
                </a:tc>
              </a:tr>
              <a:tr h="370850">
                <a:tc>
                  <a:txBody>
                    <a:bodyPr/>
                    <a:lstStyle/>
                    <a:p>
                      <a:pPr indent="0" lvl="0" marL="0" marR="0" rtl="0" algn="l">
                        <a:spcBef>
                          <a:spcPts val="0"/>
                        </a:spcBef>
                        <a:spcAft>
                          <a:spcPts val="0"/>
                        </a:spcAft>
                        <a:buNone/>
                      </a:pPr>
                      <a:r>
                        <a:rPr lang="tr-TR" sz="1800"/>
                        <a:t>is_rainy</a:t>
                      </a:r>
                      <a:endParaRPr/>
                    </a:p>
                  </a:txBody>
                  <a:tcPr marT="45725" marB="45725" marR="91450" marL="91450"/>
                </a:tc>
                <a:tc>
                  <a:txBody>
                    <a:bodyPr/>
                    <a:lstStyle/>
                    <a:p>
                      <a:pPr indent="0" lvl="0" marL="0" marR="0" rtl="0" algn="l">
                        <a:spcBef>
                          <a:spcPts val="0"/>
                        </a:spcBef>
                        <a:spcAft>
                          <a:spcPts val="0"/>
                        </a:spcAft>
                        <a:buNone/>
                      </a:pPr>
                      <a:r>
                        <a:rPr lang="tr-TR" sz="1800"/>
                        <a:t>0.799</a:t>
                      </a:r>
                      <a:endParaRPr/>
                    </a:p>
                  </a:txBody>
                  <a:tcPr marT="45725" marB="45725" marR="91450" marL="91450"/>
                </a:tc>
                <a:tc>
                  <a:txBody>
                    <a:bodyPr/>
                    <a:lstStyle/>
                    <a:p>
                      <a:pPr indent="0" lvl="0" marL="0" marR="0" rtl="0" algn="l">
                        <a:spcBef>
                          <a:spcPts val="0"/>
                        </a:spcBef>
                        <a:spcAft>
                          <a:spcPts val="0"/>
                        </a:spcAft>
                        <a:buNone/>
                      </a:pPr>
                      <a:r>
                        <a:rPr lang="tr-TR" sz="1800"/>
                        <a:t>is_rainy</a:t>
                      </a:r>
                      <a:endParaRPr/>
                    </a:p>
                  </a:txBody>
                  <a:tcPr marT="45725" marB="45725" marR="91450" marL="91450"/>
                </a:tc>
                <a:tc>
                  <a:txBody>
                    <a:bodyPr/>
                    <a:lstStyle/>
                    <a:p>
                      <a:pPr indent="0" lvl="0" marL="0" marR="0" rtl="0" algn="l">
                        <a:spcBef>
                          <a:spcPts val="0"/>
                        </a:spcBef>
                        <a:spcAft>
                          <a:spcPts val="0"/>
                        </a:spcAft>
                        <a:buNone/>
                      </a:pPr>
                      <a:r>
                        <a:rPr lang="tr-TR" sz="1800"/>
                        <a:t>0.659</a:t>
                      </a:r>
                      <a:endParaRPr/>
                    </a:p>
                  </a:txBody>
                  <a:tcPr marT="45725" marB="45725" marR="91450" marL="91450"/>
                </a:tc>
              </a:tr>
              <a:tr h="370850">
                <a:tc>
                  <a:txBody>
                    <a:bodyPr/>
                    <a:lstStyle/>
                    <a:p>
                      <a:pPr indent="0" lvl="0" marL="0" marR="0" rtl="0" algn="l">
                        <a:spcBef>
                          <a:spcPts val="0"/>
                        </a:spcBef>
                        <a:spcAft>
                          <a:spcPts val="0"/>
                        </a:spcAft>
                        <a:buNone/>
                      </a:pPr>
                      <a:r>
                        <a:rPr lang="tr-TR" sz="1800"/>
                        <a:t>is_snowy </a:t>
                      </a:r>
                      <a:endParaRPr/>
                    </a:p>
                  </a:txBody>
                  <a:tcPr marT="45725" marB="45725" marR="91450" marL="91450"/>
                </a:tc>
                <a:tc>
                  <a:txBody>
                    <a:bodyPr/>
                    <a:lstStyle/>
                    <a:p>
                      <a:pPr indent="0" lvl="0" marL="0" marR="0" rtl="0" algn="l">
                        <a:spcBef>
                          <a:spcPts val="0"/>
                        </a:spcBef>
                        <a:spcAft>
                          <a:spcPts val="0"/>
                        </a:spcAft>
                        <a:buNone/>
                      </a:pPr>
                      <a:r>
                        <a:rPr b="1" lang="tr-TR" sz="1800">
                          <a:solidFill>
                            <a:srgbClr val="C00000"/>
                          </a:solidFill>
                        </a:rPr>
                        <a:t>0.041</a:t>
                      </a:r>
                      <a:endParaRPr/>
                    </a:p>
                  </a:txBody>
                  <a:tcPr marT="45725" marB="45725" marR="91450" marL="91450"/>
                </a:tc>
                <a:tc>
                  <a:txBody>
                    <a:bodyPr/>
                    <a:lstStyle/>
                    <a:p>
                      <a:pPr indent="0" lvl="0" marL="0" marR="0" rtl="0" algn="l">
                        <a:spcBef>
                          <a:spcPts val="0"/>
                        </a:spcBef>
                        <a:spcAft>
                          <a:spcPts val="0"/>
                        </a:spcAft>
                        <a:buNone/>
                      </a:pPr>
                      <a:r>
                        <a:rPr lang="tr-TR" sz="1800"/>
                        <a:t>is_snowy </a:t>
                      </a:r>
                      <a:endParaRPr/>
                    </a:p>
                  </a:txBody>
                  <a:tcPr marT="45725" marB="45725" marR="91450" marL="91450"/>
                </a:tc>
                <a:tc>
                  <a:txBody>
                    <a:bodyPr/>
                    <a:lstStyle/>
                    <a:p>
                      <a:pPr indent="0" lvl="0" marL="0" marR="0" rtl="0" algn="l">
                        <a:spcBef>
                          <a:spcPts val="0"/>
                        </a:spcBef>
                        <a:spcAft>
                          <a:spcPts val="0"/>
                        </a:spcAft>
                        <a:buNone/>
                      </a:pPr>
                      <a:r>
                        <a:rPr lang="tr-TR" sz="1800"/>
                        <a:t>0.321</a:t>
                      </a:r>
                      <a:endParaRPr/>
                    </a:p>
                  </a:txBody>
                  <a:tcPr marT="45725" marB="45725" marR="91450" marL="91450"/>
                </a:tc>
              </a:tr>
              <a:tr h="370850">
                <a:tc>
                  <a:txBody>
                    <a:bodyPr/>
                    <a:lstStyle/>
                    <a:p>
                      <a:pPr indent="0" lvl="0" marL="0" marR="0" rtl="0" algn="l">
                        <a:spcBef>
                          <a:spcPts val="0"/>
                        </a:spcBef>
                        <a:spcAft>
                          <a:spcPts val="0"/>
                        </a:spcAft>
                        <a:buNone/>
                      </a:pPr>
                      <a:r>
                        <a:rPr lang="tr-TR" sz="1800"/>
                        <a:t>is_windy</a:t>
                      </a:r>
                      <a:endParaRPr/>
                    </a:p>
                  </a:txBody>
                  <a:tcPr marT="45725" marB="45725" marR="91450" marL="91450"/>
                </a:tc>
                <a:tc>
                  <a:txBody>
                    <a:bodyPr/>
                    <a:lstStyle/>
                    <a:p>
                      <a:pPr indent="0" lvl="0" marL="0" marR="0" rtl="0" algn="l">
                        <a:spcBef>
                          <a:spcPts val="0"/>
                        </a:spcBef>
                        <a:spcAft>
                          <a:spcPts val="0"/>
                        </a:spcAft>
                        <a:buNone/>
                      </a:pPr>
                      <a:r>
                        <a:rPr lang="tr-TR" sz="1800"/>
                        <a:t>0.186</a:t>
                      </a:r>
                      <a:endParaRPr/>
                    </a:p>
                  </a:txBody>
                  <a:tcPr marT="45725" marB="45725" marR="91450" marL="91450"/>
                </a:tc>
                <a:tc>
                  <a:txBody>
                    <a:bodyPr/>
                    <a:lstStyle/>
                    <a:p>
                      <a:pPr indent="0" lvl="0" marL="0" marR="0" rtl="0" algn="l">
                        <a:spcBef>
                          <a:spcPts val="0"/>
                        </a:spcBef>
                        <a:spcAft>
                          <a:spcPts val="0"/>
                        </a:spcAft>
                        <a:buNone/>
                      </a:pPr>
                      <a:r>
                        <a:rPr lang="tr-TR" sz="1800"/>
                        <a:t>is_windy</a:t>
                      </a:r>
                      <a:endParaRPr/>
                    </a:p>
                  </a:txBody>
                  <a:tcPr marT="45725" marB="45725" marR="91450" marL="91450"/>
                </a:tc>
                <a:tc>
                  <a:txBody>
                    <a:bodyPr/>
                    <a:lstStyle/>
                    <a:p>
                      <a:pPr indent="0" lvl="0" marL="0" marR="0" rtl="0" algn="l">
                        <a:spcBef>
                          <a:spcPts val="0"/>
                        </a:spcBef>
                        <a:spcAft>
                          <a:spcPts val="0"/>
                        </a:spcAft>
                        <a:buNone/>
                      </a:pPr>
                      <a:r>
                        <a:rPr lang="tr-TR" sz="1800"/>
                        <a:t>0.129</a:t>
                      </a:r>
                      <a:endParaRPr/>
                    </a:p>
                  </a:txBody>
                  <a:tcPr marT="45725" marB="45725" marR="91450" marL="91450"/>
                </a:tc>
              </a:tr>
              <a:tr h="370850">
                <a:tc>
                  <a:txBody>
                    <a:bodyPr/>
                    <a:lstStyle/>
                    <a:p>
                      <a:pPr indent="0" lvl="0" marL="0" marR="0" rtl="0" algn="l">
                        <a:spcBef>
                          <a:spcPts val="0"/>
                        </a:spcBef>
                        <a:spcAft>
                          <a:spcPts val="0"/>
                        </a:spcAft>
                        <a:buNone/>
                      </a:pPr>
                      <a:r>
                        <a:rPr lang="tr-TR" sz="1800"/>
                        <a:t>is_gusty</a:t>
                      </a:r>
                      <a:endParaRPr/>
                    </a:p>
                  </a:txBody>
                  <a:tcPr marT="45725" marB="45725" marR="91450" marL="91450"/>
                </a:tc>
                <a:tc>
                  <a:txBody>
                    <a:bodyPr/>
                    <a:lstStyle/>
                    <a:p>
                      <a:pPr indent="0" lvl="0" marL="0" marR="0" rtl="0" algn="l">
                        <a:spcBef>
                          <a:spcPts val="0"/>
                        </a:spcBef>
                        <a:spcAft>
                          <a:spcPts val="0"/>
                        </a:spcAft>
                        <a:buNone/>
                      </a:pPr>
                      <a:r>
                        <a:rPr b="1" lang="tr-TR" sz="1800">
                          <a:solidFill>
                            <a:srgbClr val="C00000"/>
                          </a:solidFill>
                        </a:rPr>
                        <a:t>0.041</a:t>
                      </a:r>
                      <a:endParaRPr/>
                    </a:p>
                  </a:txBody>
                  <a:tcPr marT="45725" marB="45725" marR="91450" marL="91450"/>
                </a:tc>
                <a:tc>
                  <a:txBody>
                    <a:bodyPr/>
                    <a:lstStyle/>
                    <a:p>
                      <a:pPr indent="0" lvl="0" marL="0" marR="0" rtl="0" algn="l">
                        <a:spcBef>
                          <a:spcPts val="0"/>
                        </a:spcBef>
                        <a:spcAft>
                          <a:spcPts val="0"/>
                        </a:spcAft>
                        <a:buNone/>
                      </a:pPr>
                      <a:r>
                        <a:rPr lang="tr-TR" sz="1800"/>
                        <a:t>is_gusty</a:t>
                      </a:r>
                      <a:endParaRPr/>
                    </a:p>
                  </a:txBody>
                  <a:tcPr marT="45725" marB="45725" marR="91450" marL="91450"/>
                </a:tc>
                <a:tc>
                  <a:txBody>
                    <a:bodyPr/>
                    <a:lstStyle/>
                    <a:p>
                      <a:pPr indent="0" lvl="0" marL="0" marR="0" rtl="0" algn="l">
                        <a:spcBef>
                          <a:spcPts val="0"/>
                        </a:spcBef>
                        <a:spcAft>
                          <a:spcPts val="0"/>
                        </a:spcAft>
                        <a:buNone/>
                      </a:pPr>
                      <a:r>
                        <a:rPr b="1" lang="tr-TR" sz="1800">
                          <a:solidFill>
                            <a:srgbClr val="C00000"/>
                          </a:solidFill>
                        </a:rPr>
                        <a:t>0.041</a:t>
                      </a:r>
                      <a:endParaRPr/>
                    </a:p>
                  </a:txBody>
                  <a:tcPr marT="45725" marB="45725" marR="91450" marL="91450"/>
                </a:tc>
              </a:tr>
              <a:tr h="370850">
                <a:tc>
                  <a:txBody>
                    <a:bodyPr/>
                    <a:lstStyle/>
                    <a:p>
                      <a:pPr indent="0" lvl="0" marL="0" marR="0" rtl="0" algn="l">
                        <a:spcBef>
                          <a:spcPts val="0"/>
                        </a:spcBef>
                        <a:spcAft>
                          <a:spcPts val="0"/>
                        </a:spcAft>
                        <a:buNone/>
                      </a:pPr>
                      <a:r>
                        <a:rPr lang="tr-TR" sz="1800"/>
                        <a:t>temp_category</a:t>
                      </a:r>
                      <a:endParaRPr/>
                    </a:p>
                  </a:txBody>
                  <a:tcPr marT="45725" marB="45725" marR="91450" marL="91450"/>
                </a:tc>
                <a:tc>
                  <a:txBody>
                    <a:bodyPr/>
                    <a:lstStyle/>
                    <a:p>
                      <a:pPr indent="0" lvl="0" marL="0" marR="0" rtl="0" algn="l">
                        <a:spcBef>
                          <a:spcPts val="0"/>
                        </a:spcBef>
                        <a:spcAft>
                          <a:spcPts val="0"/>
                        </a:spcAft>
                        <a:buNone/>
                      </a:pPr>
                      <a:r>
                        <a:rPr b="1" lang="tr-TR" sz="1800">
                          <a:solidFill>
                            <a:srgbClr val="C00000"/>
                          </a:solidFill>
                        </a:rPr>
                        <a:t>0.049</a:t>
                      </a:r>
                      <a:endParaRPr/>
                    </a:p>
                  </a:txBody>
                  <a:tcPr marT="45725" marB="45725" marR="91450" marL="91450"/>
                </a:tc>
                <a:tc>
                  <a:txBody>
                    <a:bodyPr/>
                    <a:lstStyle/>
                    <a:p>
                      <a:pPr indent="0" lvl="0" marL="0" marR="0" rtl="0" algn="l">
                        <a:spcBef>
                          <a:spcPts val="0"/>
                        </a:spcBef>
                        <a:spcAft>
                          <a:spcPts val="0"/>
                        </a:spcAft>
                        <a:buNone/>
                      </a:pPr>
                      <a:r>
                        <a:rPr lang="tr-TR" sz="1800"/>
                        <a:t>temp_category</a:t>
                      </a:r>
                      <a:endParaRPr/>
                    </a:p>
                  </a:txBody>
                  <a:tcPr marT="45725" marB="45725" marR="91450" marL="91450"/>
                </a:tc>
                <a:tc>
                  <a:txBody>
                    <a:bodyPr/>
                    <a:lstStyle/>
                    <a:p>
                      <a:pPr indent="0" lvl="0" marL="0" marR="0" rtl="0" algn="l">
                        <a:spcBef>
                          <a:spcPts val="0"/>
                        </a:spcBef>
                        <a:spcAft>
                          <a:spcPts val="0"/>
                        </a:spcAft>
                        <a:buNone/>
                      </a:pPr>
                      <a:r>
                        <a:rPr lang="tr-TR" sz="1800"/>
                        <a:t>0.212</a:t>
                      </a:r>
                      <a:endParaRPr/>
                    </a:p>
                  </a:txBody>
                  <a:tcPr marT="45725" marB="45725" marR="91450" marL="91450"/>
                </a:tc>
              </a:tr>
            </a:tbl>
          </a:graphicData>
        </a:graphic>
      </p:graphicFrame>
      <p:sp>
        <p:nvSpPr>
          <p:cNvPr id="281" name="Google Shape;281;p28"/>
          <p:cNvSpPr txBox="1"/>
          <p:nvPr/>
        </p:nvSpPr>
        <p:spPr>
          <a:xfrm>
            <a:off x="461765" y="5409960"/>
            <a:ext cx="11268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Kategorik hale getirilen hava durumu değişkenlerinin ANOVA testlerinde kırmızı ile gösterilenler anlamlı sonuçlar verdi.</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9"/>
          <p:cNvSpPr txBox="1"/>
          <p:nvPr>
            <p:ph type="title"/>
          </p:nvPr>
        </p:nvSpPr>
        <p:spPr>
          <a:xfrm>
            <a:off x="837220" y="876301"/>
            <a:ext cx="10516500" cy="2852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Helvetica Neue"/>
              <a:buNone/>
            </a:pPr>
            <a:r>
              <a:rPr lang="tr-TR"/>
              <a:t>5.Model, Model Performansı ve Özellik Önemleri</a:t>
            </a:r>
            <a:endParaRPr/>
          </a:p>
        </p:txBody>
      </p:sp>
      <p:sp>
        <p:nvSpPr>
          <p:cNvPr id="287" name="Google Shape;287;p29"/>
          <p:cNvSpPr txBox="1"/>
          <p:nvPr>
            <p:ph idx="1" type="body"/>
          </p:nvPr>
        </p:nvSpPr>
        <p:spPr>
          <a:xfrm>
            <a:off x="837221" y="3817938"/>
            <a:ext cx="10516500" cy="150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rPr lang="tr-TR"/>
              <a:t>5.1. SARIMAX Model Şeması</a:t>
            </a:r>
            <a:endParaRPr/>
          </a:p>
          <a:p>
            <a:pPr indent="0" lvl="0" marL="0" rtl="0" algn="l">
              <a:lnSpc>
                <a:spcPct val="90000"/>
              </a:lnSpc>
              <a:spcBef>
                <a:spcPts val="1000"/>
              </a:spcBef>
              <a:spcAft>
                <a:spcPts val="0"/>
              </a:spcAft>
              <a:buClr>
                <a:srgbClr val="888888"/>
              </a:buClr>
              <a:buSzPts val="2400"/>
              <a:buNone/>
            </a:pPr>
            <a:r>
              <a:rPr lang="tr-TR"/>
              <a:t>5.2. View Tahmin Modeli, Başarı Metriği, Özellik Önemleri</a:t>
            </a:r>
            <a:endParaRPr/>
          </a:p>
          <a:p>
            <a:pPr indent="0" lvl="0" marL="0" rtl="0" algn="l">
              <a:lnSpc>
                <a:spcPct val="90000"/>
              </a:lnSpc>
              <a:spcBef>
                <a:spcPts val="1000"/>
              </a:spcBef>
              <a:spcAft>
                <a:spcPts val="0"/>
              </a:spcAft>
              <a:buClr>
                <a:srgbClr val="888888"/>
              </a:buClr>
              <a:buSzPts val="2400"/>
              <a:buNone/>
            </a:pPr>
            <a:r>
              <a:rPr lang="tr-TR"/>
              <a:t>5.3. Call Click Tahmin Modeli, Başarı Metriği, Özellik Önemleri</a:t>
            </a:r>
            <a:endParaRPr/>
          </a:p>
        </p:txBody>
      </p:sp>
      <p:sp>
        <p:nvSpPr>
          <p:cNvPr id="288" name="Google Shape;288;p29"/>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89" name="Google Shape;289;p29"/>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0"/>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95" name="Google Shape;295;p30"/>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
        <p:nvSpPr>
          <p:cNvPr id="296" name="Google Shape;296;p30"/>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Helvetica Neue"/>
              <a:buNone/>
            </a:pPr>
            <a:r>
              <a:rPr lang="tr-TR"/>
              <a:t>5.1. SARIMAX Model Şeması</a:t>
            </a:r>
            <a:endParaRPr/>
          </a:p>
        </p:txBody>
      </p:sp>
      <p:grpSp>
        <p:nvGrpSpPr>
          <p:cNvPr id="297" name="Google Shape;297;p30"/>
          <p:cNvGrpSpPr/>
          <p:nvPr/>
        </p:nvGrpSpPr>
        <p:grpSpPr>
          <a:xfrm>
            <a:off x="140881" y="2546521"/>
            <a:ext cx="11910097" cy="1932600"/>
            <a:chOff x="1017" y="0"/>
            <a:chExt cx="11910097" cy="1932600"/>
          </a:xfrm>
        </p:grpSpPr>
        <p:sp>
          <p:nvSpPr>
            <p:cNvPr id="298" name="Google Shape;298;p30"/>
            <p:cNvSpPr/>
            <p:nvPr/>
          </p:nvSpPr>
          <p:spPr>
            <a:xfrm>
              <a:off x="893420" y="0"/>
              <a:ext cx="10125300" cy="1932600"/>
            </a:xfrm>
            <a:prstGeom prst="rightArrow">
              <a:avLst>
                <a:gd fmla="val 50000" name="adj1"/>
                <a:gd fmla="val 50000" name="adj2"/>
              </a:avLst>
            </a:prstGeom>
            <a:solidFill>
              <a:srgbClr val="FDCD74">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0"/>
            <p:cNvSpPr/>
            <p:nvPr/>
          </p:nvSpPr>
          <p:spPr>
            <a:xfrm>
              <a:off x="1017" y="579737"/>
              <a:ext cx="1631400" cy="773100"/>
            </a:xfrm>
            <a:prstGeom prst="roundRect">
              <a:avLst>
                <a:gd fmla="val 16667" name="adj"/>
              </a:avLst>
            </a:prstGeom>
            <a:solidFill>
              <a:schemeClr val="lt1"/>
            </a:solidFill>
            <a:ln cap="flat" cmpd="sng" w="12700">
              <a:solidFill>
                <a:srgbClr val="E2C3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0"/>
            <p:cNvSpPr txBox="1"/>
            <p:nvPr/>
          </p:nvSpPr>
          <p:spPr>
            <a:xfrm>
              <a:off x="38751" y="617471"/>
              <a:ext cx="1556100" cy="6975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tr-TR" sz="1200">
                  <a:solidFill>
                    <a:schemeClr val="lt1"/>
                  </a:solidFill>
                  <a:latin typeface="Calibri"/>
                  <a:ea typeface="Calibri"/>
                  <a:cs typeface="Calibri"/>
                  <a:sym typeface="Calibri"/>
                </a:rPr>
                <a:t>Validasyon Setleri ile View için Parametre Optimizasyonu</a:t>
              </a:r>
              <a:endParaRPr/>
            </a:p>
          </p:txBody>
        </p:sp>
        <p:sp>
          <p:nvSpPr>
            <p:cNvPr id="301" name="Google Shape;301;p30"/>
            <p:cNvSpPr/>
            <p:nvPr/>
          </p:nvSpPr>
          <p:spPr>
            <a:xfrm>
              <a:off x="1714134" y="579737"/>
              <a:ext cx="1631400" cy="773100"/>
            </a:xfrm>
            <a:prstGeom prst="roundRect">
              <a:avLst>
                <a:gd fmla="val 16667" name="adj"/>
              </a:avLst>
            </a:prstGeom>
            <a:solidFill>
              <a:schemeClr val="lt1"/>
            </a:solidFill>
            <a:ln cap="flat" cmpd="sng" w="12700">
              <a:solidFill>
                <a:srgbClr val="E2C3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
            <p:cNvSpPr txBox="1"/>
            <p:nvPr/>
          </p:nvSpPr>
          <p:spPr>
            <a:xfrm>
              <a:off x="1751868" y="617471"/>
              <a:ext cx="1556100" cy="6975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tr-TR" sz="1200">
                  <a:solidFill>
                    <a:schemeClr val="lt1"/>
                  </a:solidFill>
                  <a:latin typeface="Calibri"/>
                  <a:ea typeface="Calibri"/>
                  <a:cs typeface="Calibri"/>
                  <a:sym typeface="Calibri"/>
                </a:rPr>
                <a:t>En İyi Parametrelerle Tüm Veri Eğitim</a:t>
              </a:r>
              <a:endParaRPr/>
            </a:p>
          </p:txBody>
        </p:sp>
        <p:sp>
          <p:nvSpPr>
            <p:cNvPr id="303" name="Google Shape;303;p30"/>
            <p:cNvSpPr/>
            <p:nvPr/>
          </p:nvSpPr>
          <p:spPr>
            <a:xfrm>
              <a:off x="3427250" y="579737"/>
              <a:ext cx="1631400" cy="773100"/>
            </a:xfrm>
            <a:prstGeom prst="roundRect">
              <a:avLst>
                <a:gd fmla="val 16667" name="adj"/>
              </a:avLst>
            </a:prstGeom>
            <a:solidFill>
              <a:schemeClr val="lt1"/>
            </a:solidFill>
            <a:ln cap="flat" cmpd="sng" w="12700">
              <a:solidFill>
                <a:srgbClr val="E2C3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0"/>
            <p:cNvSpPr txBox="1"/>
            <p:nvPr/>
          </p:nvSpPr>
          <p:spPr>
            <a:xfrm>
              <a:off x="3464984" y="617471"/>
              <a:ext cx="1556100" cy="6975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tr-TR" sz="1200">
                  <a:solidFill>
                    <a:schemeClr val="lt1"/>
                  </a:solidFill>
                  <a:latin typeface="Calibri"/>
                  <a:ea typeface="Calibri"/>
                  <a:cs typeface="Calibri"/>
                  <a:sym typeface="Calibri"/>
                </a:rPr>
                <a:t>25-31 Mart View Tahmini</a:t>
              </a:r>
              <a:endParaRPr/>
            </a:p>
          </p:txBody>
        </p:sp>
        <p:sp>
          <p:nvSpPr>
            <p:cNvPr id="305" name="Google Shape;305;p30"/>
            <p:cNvSpPr/>
            <p:nvPr/>
          </p:nvSpPr>
          <p:spPr>
            <a:xfrm>
              <a:off x="5140366" y="579737"/>
              <a:ext cx="1631400" cy="773100"/>
            </a:xfrm>
            <a:prstGeom prst="roundRect">
              <a:avLst>
                <a:gd fmla="val 16667" name="adj"/>
              </a:avLst>
            </a:prstGeom>
            <a:solidFill>
              <a:schemeClr val="lt1"/>
            </a:solidFill>
            <a:ln cap="flat" cmpd="sng" w="12700">
              <a:solidFill>
                <a:srgbClr val="E2C3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0"/>
            <p:cNvSpPr txBox="1"/>
            <p:nvPr/>
          </p:nvSpPr>
          <p:spPr>
            <a:xfrm>
              <a:off x="5178100" y="617471"/>
              <a:ext cx="1556100" cy="6975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tr-TR" sz="1200">
                  <a:solidFill>
                    <a:schemeClr val="lt1"/>
                  </a:solidFill>
                  <a:latin typeface="Calibri"/>
                  <a:ea typeface="Calibri"/>
                  <a:cs typeface="Calibri"/>
                  <a:sym typeface="Calibri"/>
                </a:rPr>
                <a:t>Tahmin Edilen View Değerlerinin Veriye Yerleştirilmesi</a:t>
              </a:r>
              <a:endParaRPr/>
            </a:p>
          </p:txBody>
        </p:sp>
        <p:sp>
          <p:nvSpPr>
            <p:cNvPr id="307" name="Google Shape;307;p30"/>
            <p:cNvSpPr/>
            <p:nvPr/>
          </p:nvSpPr>
          <p:spPr>
            <a:xfrm>
              <a:off x="6853482" y="579737"/>
              <a:ext cx="1631400" cy="773100"/>
            </a:xfrm>
            <a:prstGeom prst="roundRect">
              <a:avLst>
                <a:gd fmla="val 16667" name="adj"/>
              </a:avLst>
            </a:prstGeom>
            <a:solidFill>
              <a:schemeClr val="lt1"/>
            </a:solidFill>
            <a:ln cap="flat" cmpd="sng" w="12700">
              <a:solidFill>
                <a:srgbClr val="E2C3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
            <p:cNvSpPr txBox="1"/>
            <p:nvPr/>
          </p:nvSpPr>
          <p:spPr>
            <a:xfrm>
              <a:off x="6891216" y="617471"/>
              <a:ext cx="1556100" cy="6975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tr-TR" sz="1200">
                  <a:solidFill>
                    <a:schemeClr val="lt1"/>
                  </a:solidFill>
                  <a:latin typeface="Calibri"/>
                  <a:ea typeface="Calibri"/>
                  <a:cs typeface="Calibri"/>
                  <a:sym typeface="Calibri"/>
                </a:rPr>
                <a:t>Oluşan Yeni Veride Call Click için Parametre Optimizasyonu</a:t>
              </a:r>
              <a:endParaRPr/>
            </a:p>
          </p:txBody>
        </p:sp>
        <p:sp>
          <p:nvSpPr>
            <p:cNvPr id="309" name="Google Shape;309;p30"/>
            <p:cNvSpPr/>
            <p:nvPr/>
          </p:nvSpPr>
          <p:spPr>
            <a:xfrm>
              <a:off x="8566598" y="579737"/>
              <a:ext cx="1631400" cy="773100"/>
            </a:xfrm>
            <a:prstGeom prst="roundRect">
              <a:avLst>
                <a:gd fmla="val 16667" name="adj"/>
              </a:avLst>
            </a:prstGeom>
            <a:solidFill>
              <a:schemeClr val="lt1"/>
            </a:solidFill>
            <a:ln cap="flat" cmpd="sng" w="12700">
              <a:solidFill>
                <a:srgbClr val="E2C3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0"/>
            <p:cNvSpPr txBox="1"/>
            <p:nvPr/>
          </p:nvSpPr>
          <p:spPr>
            <a:xfrm>
              <a:off x="8604332" y="617471"/>
              <a:ext cx="1556100" cy="6975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tr-TR" sz="1200">
                  <a:solidFill>
                    <a:schemeClr val="lt1"/>
                  </a:solidFill>
                  <a:latin typeface="Calibri"/>
                  <a:ea typeface="Calibri"/>
                  <a:cs typeface="Calibri"/>
                  <a:sym typeface="Calibri"/>
                </a:rPr>
                <a:t>En İyi Parametrelerle Tüm Veri Eğitim</a:t>
              </a:r>
              <a:endParaRPr/>
            </a:p>
          </p:txBody>
        </p:sp>
        <p:sp>
          <p:nvSpPr>
            <p:cNvPr id="311" name="Google Shape;311;p30"/>
            <p:cNvSpPr/>
            <p:nvPr/>
          </p:nvSpPr>
          <p:spPr>
            <a:xfrm>
              <a:off x="10279714" y="579737"/>
              <a:ext cx="1631400" cy="773100"/>
            </a:xfrm>
            <a:prstGeom prst="roundRect">
              <a:avLst>
                <a:gd fmla="val 16667" name="adj"/>
              </a:avLst>
            </a:prstGeom>
            <a:solidFill>
              <a:schemeClr val="lt1"/>
            </a:solidFill>
            <a:ln cap="flat" cmpd="sng" w="12700">
              <a:solidFill>
                <a:srgbClr val="E2C3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0"/>
            <p:cNvSpPr txBox="1"/>
            <p:nvPr/>
          </p:nvSpPr>
          <p:spPr>
            <a:xfrm>
              <a:off x="10317448" y="617471"/>
              <a:ext cx="1556100" cy="6975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tr-TR" sz="1200">
                  <a:solidFill>
                    <a:schemeClr val="lt1"/>
                  </a:solidFill>
                  <a:latin typeface="Calibri"/>
                  <a:ea typeface="Calibri"/>
                  <a:cs typeface="Calibri"/>
                  <a:sym typeface="Calibri"/>
                </a:rPr>
                <a:t>25-31 Mart Call Click Tahmini</a:t>
              </a:r>
              <a:endParaRPr/>
            </a:p>
          </p:txBody>
        </p:sp>
      </p:grpSp>
      <p:sp>
        <p:nvSpPr>
          <p:cNvPr id="313" name="Google Shape;313;p30"/>
          <p:cNvSpPr txBox="1"/>
          <p:nvPr/>
        </p:nvSpPr>
        <p:spPr>
          <a:xfrm>
            <a:off x="996192" y="5440071"/>
            <a:ext cx="10404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Tahmin süreci, View ve Call Click için ardışık modelleme ve optimizasyon adımları ile yapılandırılmıştır.</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19" name="Google Shape;319;p31"/>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sp>
        <p:nvSpPr>
          <p:cNvPr id="320" name="Google Shape;320;p31"/>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5.2. View Tahmin Modeli, Başarı Metriği, Özellik Önemleri</a:t>
            </a:r>
            <a:endParaRPr/>
          </a:p>
        </p:txBody>
      </p:sp>
      <p:pic>
        <p:nvPicPr>
          <p:cNvPr id="321" name="Google Shape;321;p31"/>
          <p:cNvPicPr preferRelativeResize="0"/>
          <p:nvPr/>
        </p:nvPicPr>
        <p:blipFill rotWithShape="1">
          <a:blip r:embed="rId4">
            <a:alphaModFix/>
          </a:blip>
          <a:srcRect b="0" l="0" r="0" t="0"/>
          <a:stretch/>
        </p:blipFill>
        <p:spPr>
          <a:xfrm>
            <a:off x="716644" y="4050646"/>
            <a:ext cx="3424296" cy="1585748"/>
          </a:xfrm>
          <a:prstGeom prst="rect">
            <a:avLst/>
          </a:prstGeom>
          <a:noFill/>
          <a:ln>
            <a:noFill/>
          </a:ln>
        </p:spPr>
      </p:pic>
      <p:pic>
        <p:nvPicPr>
          <p:cNvPr id="322" name="Google Shape;322;p31"/>
          <p:cNvPicPr preferRelativeResize="0"/>
          <p:nvPr/>
        </p:nvPicPr>
        <p:blipFill rotWithShape="1">
          <a:blip r:embed="rId5">
            <a:alphaModFix/>
          </a:blip>
          <a:srcRect b="0" l="0" r="0" t="0"/>
          <a:stretch/>
        </p:blipFill>
        <p:spPr>
          <a:xfrm>
            <a:off x="4857972" y="4050646"/>
            <a:ext cx="2505024" cy="1585749"/>
          </a:xfrm>
          <a:prstGeom prst="rect">
            <a:avLst/>
          </a:prstGeom>
          <a:noFill/>
          <a:ln>
            <a:noFill/>
          </a:ln>
        </p:spPr>
      </p:pic>
      <p:pic>
        <p:nvPicPr>
          <p:cNvPr id="323" name="Google Shape;323;p31"/>
          <p:cNvPicPr preferRelativeResize="0"/>
          <p:nvPr/>
        </p:nvPicPr>
        <p:blipFill rotWithShape="1">
          <a:blip r:embed="rId6">
            <a:alphaModFix/>
          </a:blip>
          <a:srcRect b="0" l="0" r="0" t="17122"/>
          <a:stretch/>
        </p:blipFill>
        <p:spPr>
          <a:xfrm>
            <a:off x="170577" y="1383109"/>
            <a:ext cx="6966871" cy="2388907"/>
          </a:xfrm>
          <a:prstGeom prst="rect">
            <a:avLst/>
          </a:prstGeom>
          <a:noFill/>
          <a:ln>
            <a:noFill/>
          </a:ln>
        </p:spPr>
      </p:pic>
      <p:pic>
        <p:nvPicPr>
          <p:cNvPr id="324" name="Google Shape;324;p31"/>
          <p:cNvPicPr preferRelativeResize="0"/>
          <p:nvPr/>
        </p:nvPicPr>
        <p:blipFill rotWithShape="1">
          <a:blip r:embed="rId7">
            <a:alphaModFix/>
          </a:blip>
          <a:srcRect b="0" l="0" r="0" t="0"/>
          <a:stretch/>
        </p:blipFill>
        <p:spPr>
          <a:xfrm>
            <a:off x="7265901" y="1228560"/>
            <a:ext cx="4755522" cy="2704003"/>
          </a:xfrm>
          <a:prstGeom prst="rect">
            <a:avLst/>
          </a:prstGeom>
          <a:noFill/>
          <a:ln>
            <a:noFill/>
          </a:ln>
        </p:spPr>
      </p:pic>
      <p:grpSp>
        <p:nvGrpSpPr>
          <p:cNvPr id="325" name="Google Shape;325;p31"/>
          <p:cNvGrpSpPr/>
          <p:nvPr/>
        </p:nvGrpSpPr>
        <p:grpSpPr>
          <a:xfrm>
            <a:off x="8585223" y="4274316"/>
            <a:ext cx="2505000" cy="949619"/>
            <a:chOff x="0" y="4320"/>
            <a:chExt cx="2505000" cy="949619"/>
          </a:xfrm>
        </p:grpSpPr>
        <p:sp>
          <p:nvSpPr>
            <p:cNvPr id="326" name="Google Shape;326;p31"/>
            <p:cNvSpPr/>
            <p:nvPr/>
          </p:nvSpPr>
          <p:spPr>
            <a:xfrm>
              <a:off x="0" y="4320"/>
              <a:ext cx="2505000" cy="374400"/>
            </a:xfrm>
            <a:prstGeom prst="rect">
              <a:avLst/>
            </a:prstGeom>
            <a:solidFill>
              <a:schemeClr val="accent1"/>
            </a:solidFill>
            <a:ln cap="flat" cmpd="sng" w="12700">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1"/>
            <p:cNvSpPr txBox="1"/>
            <p:nvPr/>
          </p:nvSpPr>
          <p:spPr>
            <a:xfrm>
              <a:off x="0" y="4320"/>
              <a:ext cx="2505000" cy="374400"/>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Clr>
                  <a:schemeClr val="lt1"/>
                </a:buClr>
                <a:buSzPts val="1300"/>
                <a:buFont typeface="Calibri"/>
                <a:buNone/>
              </a:pPr>
              <a:r>
                <a:rPr lang="tr-TR" sz="1300">
                  <a:solidFill>
                    <a:schemeClr val="lt1"/>
                  </a:solidFill>
                  <a:latin typeface="Calibri"/>
                  <a:ea typeface="Calibri"/>
                  <a:cs typeface="Calibri"/>
                  <a:sym typeface="Calibri"/>
                </a:rPr>
                <a:t>Model Hata Yüzdesi</a:t>
              </a:r>
              <a:endParaRPr/>
            </a:p>
          </p:txBody>
        </p:sp>
        <p:sp>
          <p:nvSpPr>
            <p:cNvPr id="328" name="Google Shape;328;p31"/>
            <p:cNvSpPr/>
            <p:nvPr/>
          </p:nvSpPr>
          <p:spPr>
            <a:xfrm>
              <a:off x="0" y="383039"/>
              <a:ext cx="2505000" cy="570900"/>
            </a:xfrm>
            <a:prstGeom prst="rect">
              <a:avLst/>
            </a:prstGeom>
            <a:solidFill>
              <a:srgbClr val="FDF1C8">
                <a:alpha val="89800"/>
              </a:srgbClr>
            </a:solidFill>
            <a:ln cap="flat" cmpd="sng" w="12700">
              <a:solidFill>
                <a:srgbClr val="FDF1C8">
                  <a:alpha val="8980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1"/>
            <p:cNvSpPr txBox="1"/>
            <p:nvPr/>
          </p:nvSpPr>
          <p:spPr>
            <a:xfrm>
              <a:off x="0" y="383039"/>
              <a:ext cx="2505000" cy="570900"/>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tr-TR" sz="1300" u="none" cap="none" strike="noStrike">
                  <a:solidFill>
                    <a:schemeClr val="dk1"/>
                  </a:solidFill>
                  <a:latin typeface="Calibri"/>
                  <a:ea typeface="Calibri"/>
                  <a:cs typeface="Calibri"/>
                  <a:sym typeface="Calibri"/>
                </a:rPr>
                <a:t> 25-31 Mart MAPE Değeri: %5.89</a:t>
              </a:r>
              <a:endParaRPr/>
            </a:p>
          </p:txBody>
        </p:sp>
      </p:grpSp>
      <p:sp>
        <p:nvSpPr>
          <p:cNvPr id="330" name="Google Shape;330;p31"/>
          <p:cNvSpPr txBox="1"/>
          <p:nvPr/>
        </p:nvSpPr>
        <p:spPr>
          <a:xfrm>
            <a:off x="5501343" y="5642392"/>
            <a:ext cx="1218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p-değerleri</a:t>
            </a:r>
            <a:endParaRPr/>
          </a:p>
        </p:txBody>
      </p:sp>
      <p:sp>
        <p:nvSpPr>
          <p:cNvPr id="331" name="Google Shape;331;p31"/>
          <p:cNvSpPr txBox="1"/>
          <p:nvPr/>
        </p:nvSpPr>
        <p:spPr>
          <a:xfrm>
            <a:off x="1895216" y="5642392"/>
            <a:ext cx="1067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katsayılar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2"/>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37" name="Google Shape;337;p32"/>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sp>
        <p:nvSpPr>
          <p:cNvPr id="338" name="Google Shape;338;p32"/>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5.3. Call Click Tahmin Modeli, Başarı Metriği, Özellik Önemleri</a:t>
            </a:r>
            <a:endParaRPr/>
          </a:p>
        </p:txBody>
      </p:sp>
      <p:pic>
        <p:nvPicPr>
          <p:cNvPr id="339" name="Google Shape;339;p32"/>
          <p:cNvPicPr preferRelativeResize="0"/>
          <p:nvPr/>
        </p:nvPicPr>
        <p:blipFill rotWithShape="1">
          <a:blip r:embed="rId4">
            <a:alphaModFix/>
          </a:blip>
          <a:srcRect b="0" l="0" r="0" t="0"/>
          <a:stretch/>
        </p:blipFill>
        <p:spPr>
          <a:xfrm>
            <a:off x="7411019" y="1268878"/>
            <a:ext cx="4139018" cy="2712257"/>
          </a:xfrm>
          <a:prstGeom prst="rect">
            <a:avLst/>
          </a:prstGeom>
          <a:noFill/>
          <a:ln>
            <a:noFill/>
          </a:ln>
        </p:spPr>
      </p:pic>
      <p:pic>
        <p:nvPicPr>
          <p:cNvPr id="340" name="Google Shape;340;p32"/>
          <p:cNvPicPr preferRelativeResize="0"/>
          <p:nvPr/>
        </p:nvPicPr>
        <p:blipFill rotWithShape="1">
          <a:blip r:embed="rId5">
            <a:alphaModFix/>
          </a:blip>
          <a:srcRect b="0" l="0" r="0" t="15383"/>
          <a:stretch/>
        </p:blipFill>
        <p:spPr>
          <a:xfrm>
            <a:off x="298705" y="1268878"/>
            <a:ext cx="6518167" cy="2294949"/>
          </a:xfrm>
          <a:prstGeom prst="rect">
            <a:avLst/>
          </a:prstGeom>
          <a:noFill/>
          <a:ln>
            <a:noFill/>
          </a:ln>
        </p:spPr>
      </p:pic>
      <p:pic>
        <p:nvPicPr>
          <p:cNvPr id="341" name="Google Shape;341;p32"/>
          <p:cNvPicPr preferRelativeResize="0"/>
          <p:nvPr/>
        </p:nvPicPr>
        <p:blipFill rotWithShape="1">
          <a:blip r:embed="rId6">
            <a:alphaModFix/>
          </a:blip>
          <a:srcRect b="0" l="0" r="0" t="0"/>
          <a:stretch/>
        </p:blipFill>
        <p:spPr>
          <a:xfrm>
            <a:off x="735549" y="3780590"/>
            <a:ext cx="3112379" cy="1867427"/>
          </a:xfrm>
          <a:prstGeom prst="rect">
            <a:avLst/>
          </a:prstGeom>
          <a:noFill/>
          <a:ln>
            <a:noFill/>
          </a:ln>
        </p:spPr>
      </p:pic>
      <p:pic>
        <p:nvPicPr>
          <p:cNvPr id="342" name="Google Shape;342;p32"/>
          <p:cNvPicPr preferRelativeResize="0"/>
          <p:nvPr/>
        </p:nvPicPr>
        <p:blipFill rotWithShape="1">
          <a:blip r:embed="rId7">
            <a:alphaModFix/>
          </a:blip>
          <a:srcRect b="0" l="0" r="0" t="0"/>
          <a:stretch/>
        </p:blipFill>
        <p:spPr>
          <a:xfrm>
            <a:off x="4442075" y="3780590"/>
            <a:ext cx="2642864" cy="1882039"/>
          </a:xfrm>
          <a:prstGeom prst="rect">
            <a:avLst/>
          </a:prstGeom>
          <a:noFill/>
          <a:ln>
            <a:noFill/>
          </a:ln>
        </p:spPr>
      </p:pic>
      <p:sp>
        <p:nvSpPr>
          <p:cNvPr id="343" name="Google Shape;343;p32"/>
          <p:cNvSpPr txBox="1"/>
          <p:nvPr/>
        </p:nvSpPr>
        <p:spPr>
          <a:xfrm>
            <a:off x="5154366" y="5632682"/>
            <a:ext cx="1218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p-değerleri</a:t>
            </a:r>
            <a:endParaRPr/>
          </a:p>
        </p:txBody>
      </p:sp>
      <p:sp>
        <p:nvSpPr>
          <p:cNvPr id="344" name="Google Shape;344;p32"/>
          <p:cNvSpPr txBox="1"/>
          <p:nvPr/>
        </p:nvSpPr>
        <p:spPr>
          <a:xfrm>
            <a:off x="1758162" y="5632622"/>
            <a:ext cx="1067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katsayılar</a:t>
            </a:r>
            <a:endParaRPr/>
          </a:p>
        </p:txBody>
      </p:sp>
      <p:grpSp>
        <p:nvGrpSpPr>
          <p:cNvPr id="345" name="Google Shape;345;p32"/>
          <p:cNvGrpSpPr/>
          <p:nvPr/>
        </p:nvGrpSpPr>
        <p:grpSpPr>
          <a:xfrm>
            <a:off x="8463653" y="4439039"/>
            <a:ext cx="2500800" cy="1018200"/>
            <a:chOff x="0" y="32550"/>
            <a:chExt cx="2500800" cy="1018200"/>
          </a:xfrm>
        </p:grpSpPr>
        <p:sp>
          <p:nvSpPr>
            <p:cNvPr id="346" name="Google Shape;346;p32"/>
            <p:cNvSpPr/>
            <p:nvPr/>
          </p:nvSpPr>
          <p:spPr>
            <a:xfrm>
              <a:off x="0" y="32550"/>
              <a:ext cx="2500800" cy="403200"/>
            </a:xfrm>
            <a:prstGeom prst="rect">
              <a:avLst/>
            </a:prstGeom>
            <a:solidFill>
              <a:schemeClr val="accent1"/>
            </a:solidFill>
            <a:ln cap="flat" cmpd="sng" w="12700">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2"/>
            <p:cNvSpPr txBox="1"/>
            <p:nvPr/>
          </p:nvSpPr>
          <p:spPr>
            <a:xfrm>
              <a:off x="0" y="32550"/>
              <a:ext cx="2500800" cy="403200"/>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Clr>
                  <a:schemeClr val="lt1"/>
                </a:buClr>
                <a:buSzPts val="1300"/>
                <a:buFont typeface="Calibri"/>
                <a:buNone/>
              </a:pPr>
              <a:r>
                <a:rPr lang="tr-TR" sz="1300">
                  <a:solidFill>
                    <a:schemeClr val="lt1"/>
                  </a:solidFill>
                  <a:latin typeface="Calibri"/>
                  <a:ea typeface="Calibri"/>
                  <a:cs typeface="Calibri"/>
                  <a:sym typeface="Calibri"/>
                </a:rPr>
                <a:t>Model Hata Yüzdesi</a:t>
              </a:r>
              <a:endParaRPr/>
            </a:p>
          </p:txBody>
        </p:sp>
        <p:sp>
          <p:nvSpPr>
            <p:cNvPr id="348" name="Google Shape;348;p32"/>
            <p:cNvSpPr/>
            <p:nvPr/>
          </p:nvSpPr>
          <p:spPr>
            <a:xfrm>
              <a:off x="0" y="435750"/>
              <a:ext cx="2500800" cy="615000"/>
            </a:xfrm>
            <a:prstGeom prst="rect">
              <a:avLst/>
            </a:prstGeom>
            <a:solidFill>
              <a:srgbClr val="FDF1C8">
                <a:alpha val="89800"/>
              </a:srgbClr>
            </a:solidFill>
            <a:ln cap="flat" cmpd="sng" w="12700">
              <a:solidFill>
                <a:srgbClr val="FDF1C8">
                  <a:alpha val="8980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2"/>
            <p:cNvSpPr txBox="1"/>
            <p:nvPr/>
          </p:nvSpPr>
          <p:spPr>
            <a:xfrm>
              <a:off x="0" y="435750"/>
              <a:ext cx="2500800" cy="615000"/>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tr-TR" sz="1300" u="none" cap="none" strike="noStrike">
                  <a:solidFill>
                    <a:schemeClr val="dk1"/>
                  </a:solidFill>
                  <a:latin typeface="Calibri"/>
                  <a:ea typeface="Calibri"/>
                  <a:cs typeface="Calibri"/>
                  <a:sym typeface="Calibri"/>
                </a:rPr>
                <a:t>25-28 Mart MAPE: %6.57</a:t>
              </a:r>
              <a:endParaRPr/>
            </a:p>
            <a:p>
              <a:pPr indent="-114300" lvl="1" marL="114300" marR="0" rtl="0" algn="l">
                <a:lnSpc>
                  <a:spcPct val="90000"/>
                </a:lnSpc>
                <a:spcBef>
                  <a:spcPts val="195"/>
                </a:spcBef>
                <a:spcAft>
                  <a:spcPts val="0"/>
                </a:spcAft>
                <a:buClr>
                  <a:schemeClr val="dk1"/>
                </a:buClr>
                <a:buSzPts val="1300"/>
                <a:buFont typeface="Calibri"/>
                <a:buChar char="•"/>
              </a:pPr>
              <a:r>
                <a:rPr b="0" i="0" lang="tr-TR" sz="1300" u="none" cap="none" strike="noStrike">
                  <a:solidFill>
                    <a:schemeClr val="dk1"/>
                  </a:solidFill>
                  <a:latin typeface="Calibri"/>
                  <a:ea typeface="Calibri"/>
                  <a:cs typeface="Calibri"/>
                  <a:sym typeface="Calibri"/>
                </a:rPr>
                <a:t>25-31 Mart MAPE: %58.09</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3"/>
          <p:cNvSpPr txBox="1"/>
          <p:nvPr>
            <p:ph type="title"/>
          </p:nvPr>
        </p:nvSpPr>
        <p:spPr>
          <a:xfrm>
            <a:off x="837220" y="876301"/>
            <a:ext cx="10516500" cy="2852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Helvetica Neue"/>
              <a:buNone/>
            </a:pPr>
            <a:r>
              <a:rPr lang="tr-TR"/>
              <a:t>6. Bonus: Normal Şartlar Altında Hava Durumu Etkisi ve Öneriler</a:t>
            </a:r>
            <a:endParaRPr/>
          </a:p>
        </p:txBody>
      </p:sp>
      <p:sp>
        <p:nvSpPr>
          <p:cNvPr id="355" name="Google Shape;355;p33"/>
          <p:cNvSpPr txBox="1"/>
          <p:nvPr>
            <p:ph idx="1" type="body"/>
          </p:nvPr>
        </p:nvSpPr>
        <p:spPr>
          <a:xfrm>
            <a:off x="837221" y="3817938"/>
            <a:ext cx="10516500" cy="150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88888"/>
              </a:buClr>
              <a:buSzPts val="2400"/>
              <a:buNone/>
            </a:pPr>
            <a:r>
              <a:rPr lang="tr-TR"/>
              <a:t>6.1. Diğer Büyük Etkilerin (Bayram, Ramazan vs.) Olmadığı Bir Zaman Diliminde Hava Durumu Özellikleri Katsayıları ve p Değerleri Ne Olurdu?</a:t>
            </a:r>
            <a:endParaRPr/>
          </a:p>
          <a:p>
            <a:pPr indent="0" lvl="0" marL="0" rtl="0" algn="l">
              <a:lnSpc>
                <a:spcPct val="90000"/>
              </a:lnSpc>
              <a:spcBef>
                <a:spcPts val="1000"/>
              </a:spcBef>
              <a:spcAft>
                <a:spcPts val="0"/>
              </a:spcAft>
              <a:buClr>
                <a:srgbClr val="888888"/>
              </a:buClr>
              <a:buSzPts val="2400"/>
              <a:buNone/>
            </a:pPr>
            <a:r>
              <a:rPr lang="tr-TR"/>
              <a:t>6.2. Modelin Tahmin Gücünü Etkileyebilecek Öneriler</a:t>
            </a:r>
            <a:endParaRPr/>
          </a:p>
        </p:txBody>
      </p:sp>
      <p:sp>
        <p:nvSpPr>
          <p:cNvPr id="356" name="Google Shape;356;p33"/>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57" name="Google Shape;357;p33"/>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4"/>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6.1. Bonus: Normal Şartlar Altında* Hava Durumu Etkisi</a:t>
            </a:r>
            <a:endParaRPr/>
          </a:p>
        </p:txBody>
      </p:sp>
      <p:sp>
        <p:nvSpPr>
          <p:cNvPr id="363" name="Google Shape;363;p34"/>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64" name="Google Shape;364;p34"/>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tr-TR"/>
              <a:t>‹#›</a:t>
            </a:fld>
            <a:endParaRPr/>
          </a:p>
        </p:txBody>
      </p:sp>
      <p:graphicFrame>
        <p:nvGraphicFramePr>
          <p:cNvPr id="365" name="Google Shape;365;p34"/>
          <p:cNvGraphicFramePr/>
          <p:nvPr/>
        </p:nvGraphicFramePr>
        <p:xfrm>
          <a:off x="844026" y="1348506"/>
          <a:ext cx="3000000" cy="3000000"/>
        </p:xfrm>
        <a:graphic>
          <a:graphicData uri="http://schemas.openxmlformats.org/drawingml/2006/table">
            <a:tbl>
              <a:tblPr bandRow="1" firstRow="1">
                <a:noFill/>
                <a:tableStyleId>{DCE376EB-0B3B-45D6-8590-C8E22B5B27CD}</a:tableStyleId>
              </a:tblPr>
              <a:tblGrid>
                <a:gridCol w="2936625"/>
                <a:gridCol w="2838275"/>
              </a:tblGrid>
              <a:tr h="385475">
                <a:tc>
                  <a:txBody>
                    <a:bodyPr/>
                    <a:lstStyle/>
                    <a:p>
                      <a:pPr indent="0" lvl="0" marL="0" marR="0" rtl="0" algn="ctr">
                        <a:spcBef>
                          <a:spcPts val="0"/>
                        </a:spcBef>
                        <a:spcAft>
                          <a:spcPts val="0"/>
                        </a:spcAft>
                        <a:buNone/>
                      </a:pPr>
                      <a:r>
                        <a:rPr lang="tr-TR" sz="1800"/>
                        <a:t>View</a:t>
                      </a:r>
                      <a:endParaRPr/>
                    </a:p>
                  </a:txBody>
                  <a:tcPr marT="45725" marB="45725" marR="91450" marL="91450"/>
                </a:tc>
                <a:tc>
                  <a:txBody>
                    <a:bodyPr/>
                    <a:lstStyle/>
                    <a:p>
                      <a:pPr indent="0" lvl="0" marL="0" marR="0" rtl="0" algn="ctr">
                        <a:spcBef>
                          <a:spcPts val="0"/>
                        </a:spcBef>
                        <a:spcAft>
                          <a:spcPts val="0"/>
                        </a:spcAft>
                        <a:buNone/>
                      </a:pPr>
                      <a:r>
                        <a:rPr lang="tr-TR" sz="1800"/>
                        <a:t>Call Click</a:t>
                      </a:r>
                      <a:endParaRPr/>
                    </a:p>
                  </a:txBody>
                  <a:tcPr marT="45725" marB="45725" marR="91450" marL="91450"/>
                </a:tc>
              </a:tr>
              <a:tr h="410170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366" name="Google Shape;366;p34"/>
          <p:cNvPicPr preferRelativeResize="0"/>
          <p:nvPr/>
        </p:nvPicPr>
        <p:blipFill rotWithShape="1">
          <a:blip r:embed="rId4">
            <a:alphaModFix/>
          </a:blip>
          <a:srcRect b="0" l="0" r="0" t="0"/>
          <a:stretch/>
        </p:blipFill>
        <p:spPr>
          <a:xfrm>
            <a:off x="844026" y="1786547"/>
            <a:ext cx="2896461" cy="4049133"/>
          </a:xfrm>
          <a:prstGeom prst="rect">
            <a:avLst/>
          </a:prstGeom>
          <a:noFill/>
          <a:ln>
            <a:noFill/>
          </a:ln>
        </p:spPr>
      </p:pic>
      <p:pic>
        <p:nvPicPr>
          <p:cNvPr id="367" name="Google Shape;367;p34"/>
          <p:cNvPicPr preferRelativeResize="0"/>
          <p:nvPr/>
        </p:nvPicPr>
        <p:blipFill rotWithShape="1">
          <a:blip r:embed="rId5">
            <a:alphaModFix/>
          </a:blip>
          <a:srcRect b="0" l="0" r="0" t="0"/>
          <a:stretch/>
        </p:blipFill>
        <p:spPr>
          <a:xfrm>
            <a:off x="3811213" y="1786546"/>
            <a:ext cx="2736975" cy="4049134"/>
          </a:xfrm>
          <a:prstGeom prst="rect">
            <a:avLst/>
          </a:prstGeom>
          <a:noFill/>
          <a:ln>
            <a:noFill/>
          </a:ln>
        </p:spPr>
      </p:pic>
      <p:sp>
        <p:nvSpPr>
          <p:cNvPr id="368" name="Google Shape;368;p34"/>
          <p:cNvSpPr txBox="1"/>
          <p:nvPr/>
        </p:nvSpPr>
        <p:spPr>
          <a:xfrm>
            <a:off x="6707674" y="5466347"/>
            <a:ext cx="5271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Calibri"/>
                <a:ea typeface="Calibri"/>
                <a:cs typeface="Calibri"/>
                <a:sym typeface="Calibri"/>
              </a:rPr>
              <a:t>*Veri 1 Şubat-28 Şubat arasındaki verilerle eğitilmiştir.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5"/>
          <p:cNvSpPr txBox="1"/>
          <p:nvPr>
            <p:ph type="title"/>
          </p:nvPr>
        </p:nvSpPr>
        <p:spPr>
          <a:xfrm>
            <a:off x="-5605" y="496219"/>
            <a:ext cx="8293200" cy="614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Helvetica Neue"/>
              <a:buNone/>
            </a:pPr>
            <a:r>
              <a:rPr lang="tr-TR"/>
              <a:t>6.2. Modelin Tahmin Gücünü Etkileyebilecek Öneriler</a:t>
            </a:r>
            <a:endParaRPr/>
          </a:p>
        </p:txBody>
      </p:sp>
      <p:sp>
        <p:nvSpPr>
          <p:cNvPr id="374" name="Google Shape;374;p35"/>
          <p:cNvSpPr txBox="1"/>
          <p:nvPr>
            <p:ph idx="11" type="ftr"/>
          </p:nvPr>
        </p:nvSpPr>
        <p:spPr>
          <a:xfrm>
            <a:off x="0" y="5915024"/>
            <a:ext cx="12192000" cy="954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75" name="Google Shape;375;p35"/>
          <p:cNvSpPr txBox="1"/>
          <p:nvPr>
            <p:ph idx="12" type="sldNum"/>
          </p:nvPr>
        </p:nvSpPr>
        <p:spPr>
          <a:xfrm>
            <a:off x="11487150" y="6186488"/>
            <a:ext cx="705000" cy="67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tr-TR"/>
              <a:t>‹#›</a:t>
            </a:fld>
            <a:endParaRPr/>
          </a:p>
        </p:txBody>
      </p:sp>
      <p:sp>
        <p:nvSpPr>
          <p:cNvPr id="376" name="Google Shape;376;p35"/>
          <p:cNvSpPr txBox="1"/>
          <p:nvPr/>
        </p:nvSpPr>
        <p:spPr>
          <a:xfrm>
            <a:off x="1224792" y="2220089"/>
            <a:ext cx="9957600" cy="258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800" u="none" strike="noStrike">
                <a:solidFill>
                  <a:srgbClr val="000000"/>
                </a:solidFill>
                <a:latin typeface="Arial"/>
                <a:ea typeface="Arial"/>
                <a:cs typeface="Arial"/>
                <a:sym typeface="Arial"/>
              </a:rPr>
              <a:t>	İstanbul genelinde gerçekleştirilen bu analiz, tüm şehir verisinin topluca değerlendirilmesi esasına dayanmaktadır. Ancak kullanıcı davranışları, konut talebi ve çevresel etkiler ilçeler arasında kayda değer biçimde farklılık göstermektedir. Bu doğrultuda, ilçe bazlı ANOVA testleri neticesinde, hava durumu değişkenlerinin etkisi açısından ilçeler arasında istatistiksel olarak anlamlı farklar tespit edilmiştir. Bu bulgular, ilçe ölçekli modellerin oluşturulmasının hem meteorolojik hem de sosyo-ekonomik değişkenlerin etkilerini daha sağlıklı ve ayrıntılı biçimde yansıtacağını ortaya koymaktadır. Ayrıca, mevcut analiz yalnızca 90 günlük veri setiyle sınırlı tutulmuştur; bu durum model doğruluğu ve genellenebilirliği açısından bir kısıt teşkil etmektedir. Daha uzun dönemli ve geniş veri setleri ile yapılacak çalışmaların, öngörü modellerinin performansını ve güvenilirliğini önemli ölçüde artıracağı değerlendirilmektedir.</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hibinden Sunum Şablonu">
  <a:themeElements>
    <a:clrScheme name="Custom 1">
      <a:dk1>
        <a:srgbClr val="000000"/>
      </a:dk1>
      <a:lt1>
        <a:srgbClr val="FFFFFF"/>
      </a:lt1>
      <a:dk2>
        <a:srgbClr val="44546A"/>
      </a:dk2>
      <a:lt2>
        <a:srgbClr val="E7E6E6"/>
      </a:lt2>
      <a:accent1>
        <a:srgbClr val="FBD900"/>
      </a:accent1>
      <a:accent2>
        <a:srgbClr val="3F465E"/>
      </a:accent2>
      <a:accent3>
        <a:srgbClr val="9E9E9E"/>
      </a:accent3>
      <a:accent4>
        <a:srgbClr val="FCAD19"/>
      </a:accent4>
      <a:accent5>
        <a:srgbClr val="D9ECF0"/>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