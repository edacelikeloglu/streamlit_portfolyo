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grandir Medium" charset="1" panose="00000600000000000000"/>
      <p:regular r:id="rId14"/>
    </p:embeddedFont>
    <p:embeddedFont>
      <p:font typeface="TAN Songbird" charset="1" panose="00000000000000000000"/>
      <p:regular r:id="rId15"/>
    </p:embeddedFont>
    <p:embeddedFont>
      <p:font typeface="Distillery Script" charset="1" panose="00000000000000000000"/>
      <p:regular r:id="rId16"/>
    </p:embeddedFont>
    <p:embeddedFont>
      <p:font typeface="Agrandir" charset="1" panose="00000500000000000000"/>
      <p:regular r:id="rId20"/>
    </p:embeddedFont>
    <p:embeddedFont>
      <p:font typeface="Agrandir Heavy" charset="1" panose="00000900000000000000"/>
      <p:regular r:id="rId21"/>
    </p:embeddedFont>
    <p:embeddedFont>
      <p:font typeface="Agrandir Bold" charset="1" panose="00000800000000000000"/>
      <p:regular r:id="rId23"/>
    </p:embeddedFont>
    <p:embeddedFont>
      <p:font typeface="Arimo Bold" charset="1" panose="020B0704020202020204"/>
      <p:regular r:id="rId25"/>
    </p:embeddedFont>
    <p:embeddedFont>
      <p:font typeface="Agrandir Italics" charset="1"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notesSlides/notesSlide3.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KAYNAKÇA</a:t>
            </a:r>
          </a:p>
          <a:p>
            <a:r>
              <a:rPr lang="en-US"/>
              <a:t/>
            </a:r>
          </a:p>
          <a:p>
            <a:r>
              <a:rPr lang="en-US"/>
              <a:t>1- Figueroa, C. A., Linhart, C. L., Beckley, W., &amp; et al. (2018). Maternal mortality in Sierra Leone: From civil war to Ebola and the Sustainable Development Goals. International Journal of Public Health, 63(4), 431–432. The term "glass ceiling" describes the unseen barriers that women face when trying to ascend to top positions in the professional world.</a:t>
            </a:r>
          </a:p>
          <a:p>
            <a:r>
              <a:rPr lang="en-US"/>
              <a:t/>
            </a:r>
          </a:p>
          <a:p>
            <a:r>
              <a:rPr lang="en-US"/>
              <a:t>2- Hornset, N., &amp; de Soysa, I. (2022). Does Empowering Women in Politics Boost Human Development? An Empirical Analysis, 1960–2018. Journal of Human Development and Capabilities, 23(2), 291–318. The term "glass ceiling" describes the unseen barriers that women face when trying to ascend to top positions in the professional world.</a:t>
            </a:r>
          </a:p>
          <a:p>
            <a:r>
              <a:rPr lang="en-US"/>
              <a:t/>
            </a:r>
          </a:p>
          <a:p>
            <a:r>
              <a:rPr lang="en-US"/>
              <a:t>3- UNFPA. (2023, May 8). UNFPA celebrates midwives for their roles in saving lives [Press release]. Retrieved from The term "glass ceiling" describes the unseen barriers that women face when trying to ascend to top positions in the professional world.</a:t>
            </a:r>
          </a:p>
          <a:p>
            <a:r>
              <a:rPr lang="en-US"/>
              <a:t/>
            </a:r>
          </a:p>
          <a:p>
            <a:r>
              <a:rPr lang="en-US"/>
              <a:t>4- https://visitedplaces.com</a:t>
            </a:r>
          </a:p>
          <a:p>
            <a:r>
              <a:rPr lang="en-US"/>
              <a:t/>
            </a:r>
          </a:p>
          <a:p>
            <a:r>
              <a:rPr lang="en-US"/>
              <a:t>5- World Health Organization. (2007). WHO discussion papers on adolescence: Adolescent pregnancy – unmet needs and undone deeds. ISBN: 9789241595650.</a:t>
            </a:r>
          </a:p>
          <a:p>
            <a:r>
              <a:rPr lang="en-US"/>
              <a:t/>
            </a:r>
          </a:p>
          <a:p>
            <a:r>
              <a:rPr lang="en-US"/>
              <a:t>6- World Health Organization. (2019). Trends in maternal mortality 2000 to 2017: estimates by WHO, UNICEF, UNFPA, World Bank Group and the United Nations Population Division. Retrieved from The term "glass ceiling" describes the unseen barriers that women face when trying to ascend to top positions in the professional world..</a:t>
            </a:r>
          </a:p>
          <a:p>
            <a:r>
              <a:rPr lang="en-US"/>
              <a:t/>
            </a:r>
          </a:p>
          <a:p>
            <a:r>
              <a:rPr lang="en-US"/>
              <a:t>7- World Bank. (2024). Adolescent fertility rate (births per 1,000 women ages 15-19). Retrieved from The term "glass ceiling" describes the unseen barriers that women face when trying to ascend to top positions in the professional world.</a:t>
            </a:r>
          </a:p>
          <a:p>
            <a:r>
              <a:rPr lang="en-US"/>
              <a:t/>
            </a:r>
          </a:p>
          <a:p>
            <a:r>
              <a:rPr lang="en-US"/>
              <a:t>8- World Bank. (2024). Proportion of seats held by women in national parliaments (%). Retrieved from The term "glass ceiling" describes the unseen barriers that women face when trying to ascend to top positions in the professional world.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notesSlides/notesSlide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VAGCnBeKmiA.mp4" Type="http://schemas.openxmlformats.org/officeDocument/2006/relationships/video"/><Relationship Id="rId4" Target="../media/VAGCnBeKmiA.mp4" Type="http://schemas.microsoft.com/office/2007/relationships/media"/><Relationship Id="rId5"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jpeg" Type="http://schemas.openxmlformats.org/officeDocument/2006/relationships/image"/><Relationship Id="rId5" Target="../media/VAGCrF_G_PY.mp4" Type="http://schemas.openxmlformats.org/officeDocument/2006/relationships/video"/><Relationship Id="rId6" Target="../media/VAGCrF_G_PY.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D9CE"/>
        </a:solidFill>
      </p:bgPr>
    </p:bg>
    <p:spTree>
      <p:nvGrpSpPr>
        <p:cNvPr id="1" name=""/>
        <p:cNvGrpSpPr/>
        <p:nvPr/>
      </p:nvGrpSpPr>
      <p:grpSpPr>
        <a:xfrm>
          <a:off x="0" y="0"/>
          <a:ext cx="0" cy="0"/>
          <a:chOff x="0" y="0"/>
          <a:chExt cx="0" cy="0"/>
        </a:xfrm>
      </p:grpSpPr>
      <p:grpSp>
        <p:nvGrpSpPr>
          <p:cNvPr name="Group 2" id="2"/>
          <p:cNvGrpSpPr/>
          <p:nvPr/>
        </p:nvGrpSpPr>
        <p:grpSpPr>
          <a:xfrm rot="0">
            <a:off x="1028700" y="6376647"/>
            <a:ext cx="4747779" cy="2881653"/>
            <a:chOff x="0" y="0"/>
            <a:chExt cx="6330373" cy="3842204"/>
          </a:xfrm>
        </p:grpSpPr>
        <p:grpSp>
          <p:nvGrpSpPr>
            <p:cNvPr name="Group 3" id="3"/>
            <p:cNvGrpSpPr/>
            <p:nvPr/>
          </p:nvGrpSpPr>
          <p:grpSpPr>
            <a:xfrm rot="0">
              <a:off x="0" y="1403501"/>
              <a:ext cx="6330373" cy="1035201"/>
              <a:chOff x="0" y="0"/>
              <a:chExt cx="1279056" cy="209163"/>
            </a:xfrm>
          </p:grpSpPr>
          <p:sp>
            <p:nvSpPr>
              <p:cNvPr name="Freeform 4" id="4"/>
              <p:cNvSpPr/>
              <p:nvPr/>
            </p:nvSpPr>
            <p:spPr>
              <a:xfrm flipH="false" flipV="false" rot="0">
                <a:off x="0" y="0"/>
                <a:ext cx="1279056" cy="209163"/>
              </a:xfrm>
              <a:custGeom>
                <a:avLst/>
                <a:gdLst/>
                <a:ahLst/>
                <a:cxnLst/>
                <a:rect r="r" b="b" t="t" l="l"/>
                <a:pathLst>
                  <a:path h="209163" w="1279056">
                    <a:moveTo>
                      <a:pt x="83163" y="0"/>
                    </a:moveTo>
                    <a:lnTo>
                      <a:pt x="1195893" y="0"/>
                    </a:lnTo>
                    <a:cubicBezTo>
                      <a:pt x="1241823" y="0"/>
                      <a:pt x="1279056" y="37233"/>
                      <a:pt x="1279056" y="83163"/>
                    </a:cubicBezTo>
                    <a:lnTo>
                      <a:pt x="1279056" y="126000"/>
                    </a:lnTo>
                    <a:cubicBezTo>
                      <a:pt x="1279056" y="171930"/>
                      <a:pt x="1241823" y="209163"/>
                      <a:pt x="1195893" y="209163"/>
                    </a:cubicBezTo>
                    <a:lnTo>
                      <a:pt x="83163" y="209163"/>
                    </a:lnTo>
                    <a:cubicBezTo>
                      <a:pt x="37233" y="209163"/>
                      <a:pt x="0" y="171930"/>
                      <a:pt x="0" y="126000"/>
                    </a:cubicBezTo>
                    <a:lnTo>
                      <a:pt x="0" y="83163"/>
                    </a:lnTo>
                    <a:cubicBezTo>
                      <a:pt x="0" y="37233"/>
                      <a:pt x="37233" y="0"/>
                      <a:pt x="83163" y="0"/>
                    </a:cubicBezTo>
                    <a:close/>
                  </a:path>
                </a:pathLst>
              </a:custGeom>
              <a:solidFill>
                <a:srgbClr val="6F7351"/>
              </a:solidFill>
            </p:spPr>
          </p:sp>
          <p:sp>
            <p:nvSpPr>
              <p:cNvPr name="TextBox 5" id="5"/>
              <p:cNvSpPr txBox="true"/>
              <p:nvPr/>
            </p:nvSpPr>
            <p:spPr>
              <a:xfrm>
                <a:off x="0" y="-85725"/>
                <a:ext cx="1279056" cy="29488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5175" y="1446969"/>
              <a:ext cx="5740023" cy="878417"/>
            </a:xfrm>
            <a:prstGeom prst="rect">
              <a:avLst/>
            </a:prstGeom>
          </p:spPr>
          <p:txBody>
            <a:bodyPr anchor="t" rtlCol="false" tIns="0" lIns="0" bIns="0" rIns="0">
              <a:spAutoFit/>
            </a:bodyPr>
            <a:lstStyle/>
            <a:p>
              <a:pPr algn="ctr" marL="0" indent="0" lvl="0">
                <a:lnSpc>
                  <a:spcPts val="4900"/>
                </a:lnSpc>
              </a:pPr>
              <a:r>
                <a:rPr lang="en-US" b="true" sz="3500">
                  <a:solidFill>
                    <a:srgbClr val="FFFFFF"/>
                  </a:solidFill>
                  <a:latin typeface="Agrandir Medium"/>
                  <a:ea typeface="Agrandir Medium"/>
                  <a:cs typeface="Agrandir Medium"/>
                  <a:sym typeface="Agrandir Medium"/>
                </a:rPr>
                <a:t>Eda Çelikeloğlu</a:t>
              </a:r>
            </a:p>
          </p:txBody>
        </p:sp>
        <p:grpSp>
          <p:nvGrpSpPr>
            <p:cNvPr name="Group 7" id="7"/>
            <p:cNvGrpSpPr/>
            <p:nvPr/>
          </p:nvGrpSpPr>
          <p:grpSpPr>
            <a:xfrm rot="0">
              <a:off x="0" y="2807003"/>
              <a:ext cx="6330373" cy="1035201"/>
              <a:chOff x="0" y="0"/>
              <a:chExt cx="1279056" cy="209163"/>
            </a:xfrm>
          </p:grpSpPr>
          <p:sp>
            <p:nvSpPr>
              <p:cNvPr name="Freeform 8" id="8"/>
              <p:cNvSpPr/>
              <p:nvPr/>
            </p:nvSpPr>
            <p:spPr>
              <a:xfrm flipH="false" flipV="false" rot="0">
                <a:off x="0" y="0"/>
                <a:ext cx="1279056" cy="209163"/>
              </a:xfrm>
              <a:custGeom>
                <a:avLst/>
                <a:gdLst/>
                <a:ahLst/>
                <a:cxnLst/>
                <a:rect r="r" b="b" t="t" l="l"/>
                <a:pathLst>
                  <a:path h="209163" w="1279056">
                    <a:moveTo>
                      <a:pt x="83163" y="0"/>
                    </a:moveTo>
                    <a:lnTo>
                      <a:pt x="1195893" y="0"/>
                    </a:lnTo>
                    <a:cubicBezTo>
                      <a:pt x="1241823" y="0"/>
                      <a:pt x="1279056" y="37233"/>
                      <a:pt x="1279056" y="83163"/>
                    </a:cubicBezTo>
                    <a:lnTo>
                      <a:pt x="1279056" y="126000"/>
                    </a:lnTo>
                    <a:cubicBezTo>
                      <a:pt x="1279056" y="171930"/>
                      <a:pt x="1241823" y="209163"/>
                      <a:pt x="1195893" y="209163"/>
                    </a:cubicBezTo>
                    <a:lnTo>
                      <a:pt x="83163" y="209163"/>
                    </a:lnTo>
                    <a:cubicBezTo>
                      <a:pt x="37233" y="209163"/>
                      <a:pt x="0" y="171930"/>
                      <a:pt x="0" y="126000"/>
                    </a:cubicBezTo>
                    <a:lnTo>
                      <a:pt x="0" y="83163"/>
                    </a:lnTo>
                    <a:cubicBezTo>
                      <a:pt x="0" y="37233"/>
                      <a:pt x="37233" y="0"/>
                      <a:pt x="83163" y="0"/>
                    </a:cubicBezTo>
                    <a:close/>
                  </a:path>
                </a:pathLst>
              </a:custGeom>
              <a:solidFill>
                <a:srgbClr val="6F7351"/>
              </a:solidFill>
            </p:spPr>
          </p:sp>
          <p:sp>
            <p:nvSpPr>
              <p:cNvPr name="TextBox 9" id="9"/>
              <p:cNvSpPr txBox="true"/>
              <p:nvPr/>
            </p:nvSpPr>
            <p:spPr>
              <a:xfrm>
                <a:off x="0" y="-85725"/>
                <a:ext cx="1279056" cy="29488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295175" y="2850470"/>
              <a:ext cx="5740023" cy="878417"/>
            </a:xfrm>
            <a:prstGeom prst="rect">
              <a:avLst/>
            </a:prstGeom>
          </p:spPr>
          <p:txBody>
            <a:bodyPr anchor="t" rtlCol="false" tIns="0" lIns="0" bIns="0" rIns="0">
              <a:spAutoFit/>
            </a:bodyPr>
            <a:lstStyle/>
            <a:p>
              <a:pPr algn="ctr" marL="0" indent="0" lvl="0">
                <a:lnSpc>
                  <a:spcPts val="4900"/>
                </a:lnSpc>
              </a:pPr>
              <a:r>
                <a:rPr lang="en-US" b="true" sz="3500">
                  <a:solidFill>
                    <a:srgbClr val="FFFFFF"/>
                  </a:solidFill>
                  <a:latin typeface="Agrandir Medium"/>
                  <a:ea typeface="Agrandir Medium"/>
                  <a:cs typeface="Agrandir Medium"/>
                  <a:sym typeface="Agrandir Medium"/>
                </a:rPr>
                <a:t>Gizem Öge</a:t>
              </a:r>
            </a:p>
          </p:txBody>
        </p:sp>
        <p:grpSp>
          <p:nvGrpSpPr>
            <p:cNvPr name="Group 11" id="11"/>
            <p:cNvGrpSpPr/>
            <p:nvPr/>
          </p:nvGrpSpPr>
          <p:grpSpPr>
            <a:xfrm rot="0">
              <a:off x="0" y="0"/>
              <a:ext cx="6330373" cy="1035201"/>
              <a:chOff x="0" y="0"/>
              <a:chExt cx="1279056" cy="209163"/>
            </a:xfrm>
          </p:grpSpPr>
          <p:sp>
            <p:nvSpPr>
              <p:cNvPr name="Freeform 12" id="12"/>
              <p:cNvSpPr/>
              <p:nvPr/>
            </p:nvSpPr>
            <p:spPr>
              <a:xfrm flipH="false" flipV="false" rot="0">
                <a:off x="0" y="0"/>
                <a:ext cx="1279056" cy="209163"/>
              </a:xfrm>
              <a:custGeom>
                <a:avLst/>
                <a:gdLst/>
                <a:ahLst/>
                <a:cxnLst/>
                <a:rect r="r" b="b" t="t" l="l"/>
                <a:pathLst>
                  <a:path h="209163" w="1279056">
                    <a:moveTo>
                      <a:pt x="83163" y="0"/>
                    </a:moveTo>
                    <a:lnTo>
                      <a:pt x="1195893" y="0"/>
                    </a:lnTo>
                    <a:cubicBezTo>
                      <a:pt x="1241823" y="0"/>
                      <a:pt x="1279056" y="37233"/>
                      <a:pt x="1279056" y="83163"/>
                    </a:cubicBezTo>
                    <a:lnTo>
                      <a:pt x="1279056" y="126000"/>
                    </a:lnTo>
                    <a:cubicBezTo>
                      <a:pt x="1279056" y="171930"/>
                      <a:pt x="1241823" y="209163"/>
                      <a:pt x="1195893" y="209163"/>
                    </a:cubicBezTo>
                    <a:lnTo>
                      <a:pt x="83163" y="209163"/>
                    </a:lnTo>
                    <a:cubicBezTo>
                      <a:pt x="37233" y="209163"/>
                      <a:pt x="0" y="171930"/>
                      <a:pt x="0" y="126000"/>
                    </a:cubicBezTo>
                    <a:lnTo>
                      <a:pt x="0" y="83163"/>
                    </a:lnTo>
                    <a:cubicBezTo>
                      <a:pt x="0" y="37233"/>
                      <a:pt x="37233" y="0"/>
                      <a:pt x="83163" y="0"/>
                    </a:cubicBezTo>
                    <a:close/>
                  </a:path>
                </a:pathLst>
              </a:custGeom>
              <a:solidFill>
                <a:srgbClr val="6F7351"/>
              </a:solidFill>
            </p:spPr>
          </p:sp>
          <p:sp>
            <p:nvSpPr>
              <p:cNvPr name="TextBox 13" id="13"/>
              <p:cNvSpPr txBox="true"/>
              <p:nvPr/>
            </p:nvSpPr>
            <p:spPr>
              <a:xfrm>
                <a:off x="0" y="-85725"/>
                <a:ext cx="1279056" cy="294888"/>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295175" y="43467"/>
              <a:ext cx="5740023" cy="878417"/>
            </a:xfrm>
            <a:prstGeom prst="rect">
              <a:avLst/>
            </a:prstGeom>
          </p:spPr>
          <p:txBody>
            <a:bodyPr anchor="t" rtlCol="false" tIns="0" lIns="0" bIns="0" rIns="0">
              <a:spAutoFit/>
            </a:bodyPr>
            <a:lstStyle/>
            <a:p>
              <a:pPr algn="ctr" marL="0" indent="0" lvl="0">
                <a:lnSpc>
                  <a:spcPts val="4900"/>
                </a:lnSpc>
              </a:pPr>
              <a:r>
                <a:rPr lang="en-US" b="true" sz="3500">
                  <a:solidFill>
                    <a:srgbClr val="FFFFFF"/>
                  </a:solidFill>
                  <a:latin typeface="Agrandir Medium"/>
                  <a:ea typeface="Agrandir Medium"/>
                  <a:cs typeface="Agrandir Medium"/>
                  <a:sym typeface="Agrandir Medium"/>
                </a:rPr>
                <a:t>Dilara Çankaya</a:t>
              </a:r>
            </a:p>
          </p:txBody>
        </p:sp>
      </p:grpSp>
      <p:grpSp>
        <p:nvGrpSpPr>
          <p:cNvPr name="Group 15" id="15"/>
          <p:cNvGrpSpPr/>
          <p:nvPr/>
        </p:nvGrpSpPr>
        <p:grpSpPr>
          <a:xfrm rot="0">
            <a:off x="516357" y="1224438"/>
            <a:ext cx="7863672" cy="3670596"/>
            <a:chOff x="0" y="0"/>
            <a:chExt cx="10484897" cy="4894128"/>
          </a:xfrm>
        </p:grpSpPr>
        <p:sp>
          <p:nvSpPr>
            <p:cNvPr name="TextBox 16" id="16"/>
            <p:cNvSpPr txBox="true"/>
            <p:nvPr/>
          </p:nvSpPr>
          <p:spPr>
            <a:xfrm rot="0">
              <a:off x="0" y="1221034"/>
              <a:ext cx="10484897" cy="3673094"/>
            </a:xfrm>
            <a:prstGeom prst="rect">
              <a:avLst/>
            </a:prstGeom>
          </p:spPr>
          <p:txBody>
            <a:bodyPr anchor="t" rtlCol="false" tIns="0" lIns="0" bIns="0" rIns="0">
              <a:spAutoFit/>
            </a:bodyPr>
            <a:lstStyle/>
            <a:p>
              <a:pPr algn="ctr" marL="0" indent="0" lvl="0">
                <a:lnSpc>
                  <a:spcPts val="11781"/>
                </a:lnSpc>
              </a:pPr>
              <a:r>
                <a:rPr lang="en-US" sz="6300">
                  <a:solidFill>
                    <a:srgbClr val="E5654D"/>
                  </a:solidFill>
                  <a:latin typeface="TAN Songbird"/>
                  <a:ea typeface="TAN Songbird"/>
                  <a:cs typeface="TAN Songbird"/>
                  <a:sym typeface="TAN Songbird"/>
                </a:rPr>
                <a:t>WOMEN IN DATATHON</a:t>
              </a:r>
            </a:p>
          </p:txBody>
        </p:sp>
        <p:sp>
          <p:nvSpPr>
            <p:cNvPr name="TextBox 17" id="17"/>
            <p:cNvSpPr txBox="true"/>
            <p:nvPr/>
          </p:nvSpPr>
          <p:spPr>
            <a:xfrm rot="0">
              <a:off x="893379" y="-200025"/>
              <a:ext cx="8698138" cy="1048386"/>
            </a:xfrm>
            <a:prstGeom prst="rect">
              <a:avLst/>
            </a:prstGeom>
          </p:spPr>
          <p:txBody>
            <a:bodyPr anchor="t" rtlCol="false" tIns="0" lIns="0" bIns="0" rIns="0">
              <a:spAutoFit/>
            </a:bodyPr>
            <a:lstStyle/>
            <a:p>
              <a:pPr algn="ctr" marL="0" indent="0" lvl="0">
                <a:lnSpc>
                  <a:spcPts val="5879"/>
                </a:lnSpc>
              </a:pPr>
              <a:r>
                <a:rPr lang="en-US" b="true" sz="4199">
                  <a:solidFill>
                    <a:srgbClr val="2E2025"/>
                  </a:solidFill>
                  <a:latin typeface="Agrandir Medium"/>
                  <a:ea typeface="Agrandir Medium"/>
                  <a:cs typeface="Agrandir Medium"/>
                  <a:sym typeface="Agrandir Medium"/>
                </a:rPr>
                <a:t>UP SCHOOL &amp; BITEXEN</a:t>
              </a:r>
            </a:p>
          </p:txBody>
        </p:sp>
      </p:grpSp>
      <p:grpSp>
        <p:nvGrpSpPr>
          <p:cNvPr name="Group 18" id="18"/>
          <p:cNvGrpSpPr/>
          <p:nvPr/>
        </p:nvGrpSpPr>
        <p:grpSpPr>
          <a:xfrm rot="0">
            <a:off x="9144000" y="1408778"/>
            <a:ext cx="9144000" cy="8606790"/>
            <a:chOff x="0" y="0"/>
            <a:chExt cx="12192000" cy="11475720"/>
          </a:xfrm>
        </p:grpSpPr>
        <p:sp>
          <p:nvSpPr>
            <p:cNvPr name="Freeform 19" id="19"/>
            <p:cNvSpPr/>
            <p:nvPr/>
          </p:nvSpPr>
          <p:spPr>
            <a:xfrm flipH="false" flipV="false" rot="0">
              <a:off x="0" y="0"/>
              <a:ext cx="12192000" cy="11475720"/>
            </a:xfrm>
            <a:custGeom>
              <a:avLst/>
              <a:gdLst/>
              <a:ahLst/>
              <a:cxnLst/>
              <a:rect r="r" b="b" t="t" l="l"/>
              <a:pathLst>
                <a:path h="11475720" w="12192000">
                  <a:moveTo>
                    <a:pt x="0" y="0"/>
                  </a:moveTo>
                  <a:lnTo>
                    <a:pt x="12192000" y="0"/>
                  </a:lnTo>
                  <a:lnTo>
                    <a:pt x="12192000" y="11475720"/>
                  </a:lnTo>
                  <a:lnTo>
                    <a:pt x="0" y="114757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609959">
              <a:off x="6794679" y="1198225"/>
              <a:ext cx="2801889" cy="807598"/>
            </a:xfrm>
            <a:prstGeom prst="rect">
              <a:avLst/>
            </a:prstGeom>
          </p:spPr>
          <p:txBody>
            <a:bodyPr anchor="t" rtlCol="false" tIns="0" lIns="0" bIns="0" rIns="0">
              <a:spAutoFit/>
            </a:bodyPr>
            <a:lstStyle/>
            <a:p>
              <a:pPr algn="l">
                <a:lnSpc>
                  <a:spcPts val="4689"/>
                </a:lnSpc>
              </a:pPr>
              <a:r>
                <a:rPr lang="en-US" sz="4224">
                  <a:solidFill>
                    <a:srgbClr val="2E2025"/>
                  </a:solidFill>
                  <a:latin typeface="Distillery Script"/>
                  <a:ea typeface="Distillery Script"/>
                  <a:cs typeface="Distillery Script"/>
                  <a:sym typeface="Distillery Script"/>
                </a:rPr>
                <a:t>Merhaba!</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D9CE"/>
        </a:solidFill>
      </p:bgPr>
    </p:bg>
    <p:spTree>
      <p:nvGrpSpPr>
        <p:cNvPr id="1" name=""/>
        <p:cNvGrpSpPr/>
        <p:nvPr/>
      </p:nvGrpSpPr>
      <p:grpSpPr>
        <a:xfrm>
          <a:off x="0" y="0"/>
          <a:ext cx="0" cy="0"/>
          <a:chOff x="0" y="0"/>
          <a:chExt cx="0" cy="0"/>
        </a:xfrm>
      </p:grpSpPr>
      <p:grpSp>
        <p:nvGrpSpPr>
          <p:cNvPr name="Group 2" id="2"/>
          <p:cNvGrpSpPr/>
          <p:nvPr/>
        </p:nvGrpSpPr>
        <p:grpSpPr>
          <a:xfrm rot="0">
            <a:off x="1168612" y="1125213"/>
            <a:ext cx="15950775" cy="8342199"/>
            <a:chOff x="0" y="0"/>
            <a:chExt cx="4201027" cy="2197122"/>
          </a:xfrm>
        </p:grpSpPr>
        <p:sp>
          <p:nvSpPr>
            <p:cNvPr name="Freeform 3" id="3"/>
            <p:cNvSpPr/>
            <p:nvPr/>
          </p:nvSpPr>
          <p:spPr>
            <a:xfrm flipH="false" flipV="false" rot="0">
              <a:off x="0" y="0"/>
              <a:ext cx="4201027" cy="2197122"/>
            </a:xfrm>
            <a:custGeom>
              <a:avLst/>
              <a:gdLst/>
              <a:ahLst/>
              <a:cxnLst/>
              <a:rect r="r" b="b" t="t" l="l"/>
              <a:pathLst>
                <a:path h="2197122" w="4201027">
                  <a:moveTo>
                    <a:pt x="24754" y="0"/>
                  </a:moveTo>
                  <a:lnTo>
                    <a:pt x="4176274" y="0"/>
                  </a:lnTo>
                  <a:cubicBezTo>
                    <a:pt x="4189945" y="0"/>
                    <a:pt x="4201027" y="11083"/>
                    <a:pt x="4201027" y="24754"/>
                  </a:cubicBezTo>
                  <a:lnTo>
                    <a:pt x="4201027" y="2172369"/>
                  </a:lnTo>
                  <a:cubicBezTo>
                    <a:pt x="4201027" y="2186040"/>
                    <a:pt x="4189945" y="2197122"/>
                    <a:pt x="4176274" y="2197122"/>
                  </a:cubicBezTo>
                  <a:lnTo>
                    <a:pt x="24754" y="2197122"/>
                  </a:lnTo>
                  <a:cubicBezTo>
                    <a:pt x="11083" y="2197122"/>
                    <a:pt x="0" y="2186040"/>
                    <a:pt x="0" y="2172369"/>
                  </a:cubicBezTo>
                  <a:lnTo>
                    <a:pt x="0" y="24754"/>
                  </a:lnTo>
                  <a:cubicBezTo>
                    <a:pt x="0" y="11083"/>
                    <a:pt x="11083" y="0"/>
                    <a:pt x="24754" y="0"/>
                  </a:cubicBezTo>
                  <a:close/>
                </a:path>
              </a:pathLst>
            </a:custGeom>
            <a:solidFill>
              <a:srgbClr val="FFFFFF"/>
            </a:solidFill>
          </p:spPr>
        </p:sp>
        <p:sp>
          <p:nvSpPr>
            <p:cNvPr name="TextBox 4" id="4"/>
            <p:cNvSpPr txBox="true"/>
            <p:nvPr/>
          </p:nvSpPr>
          <p:spPr>
            <a:xfrm>
              <a:off x="0" y="-85725"/>
              <a:ext cx="4201027" cy="2282847"/>
            </a:xfrm>
            <a:prstGeom prst="rect">
              <a:avLst/>
            </a:prstGeom>
          </p:spPr>
          <p:txBody>
            <a:bodyPr anchor="ctr" rtlCol="false" tIns="50800" lIns="50800" bIns="50800" rIns="50800"/>
            <a:lstStyle/>
            <a:p>
              <a:pPr algn="ctr">
                <a:lnSpc>
                  <a:spcPts val="2511"/>
                </a:lnSpc>
              </a:pPr>
            </a:p>
          </p:txBody>
        </p:sp>
      </p:grpSp>
      <p:grpSp>
        <p:nvGrpSpPr>
          <p:cNvPr name="Group 5" id="5"/>
          <p:cNvGrpSpPr/>
          <p:nvPr/>
        </p:nvGrpSpPr>
        <p:grpSpPr>
          <a:xfrm rot="0">
            <a:off x="1954792" y="2689388"/>
            <a:ext cx="2389204" cy="4414234"/>
            <a:chOff x="0" y="0"/>
            <a:chExt cx="3185605" cy="5885645"/>
          </a:xfrm>
        </p:grpSpPr>
        <p:sp>
          <p:nvSpPr>
            <p:cNvPr name="Freeform 6" id="6"/>
            <p:cNvSpPr/>
            <p:nvPr/>
          </p:nvSpPr>
          <p:spPr>
            <a:xfrm flipH="false" flipV="false" rot="0">
              <a:off x="0" y="0"/>
              <a:ext cx="3185605" cy="5885645"/>
            </a:xfrm>
            <a:custGeom>
              <a:avLst/>
              <a:gdLst/>
              <a:ahLst/>
              <a:cxnLst/>
              <a:rect r="r" b="b" t="t" l="l"/>
              <a:pathLst>
                <a:path h="5885645" w="3185605">
                  <a:moveTo>
                    <a:pt x="0" y="0"/>
                  </a:moveTo>
                  <a:lnTo>
                    <a:pt x="3185605" y="0"/>
                  </a:lnTo>
                  <a:lnTo>
                    <a:pt x="3185605" y="5885645"/>
                  </a:lnTo>
                  <a:lnTo>
                    <a:pt x="0" y="58856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1104621">
              <a:off x="1179445" y="420115"/>
              <a:ext cx="1632126" cy="1072071"/>
              <a:chOff x="0" y="0"/>
              <a:chExt cx="322395" cy="211767"/>
            </a:xfrm>
          </p:grpSpPr>
          <p:sp>
            <p:nvSpPr>
              <p:cNvPr name="Freeform 8" id="8"/>
              <p:cNvSpPr/>
              <p:nvPr/>
            </p:nvSpPr>
            <p:spPr>
              <a:xfrm flipH="false" flipV="false" rot="0">
                <a:off x="0" y="0"/>
                <a:ext cx="322395" cy="211767"/>
              </a:xfrm>
              <a:custGeom>
                <a:avLst/>
                <a:gdLst/>
                <a:ahLst/>
                <a:cxnLst/>
                <a:rect r="r" b="b" t="t" l="l"/>
                <a:pathLst>
                  <a:path h="211767" w="322395">
                    <a:moveTo>
                      <a:pt x="0" y="0"/>
                    </a:moveTo>
                    <a:lnTo>
                      <a:pt x="322395" y="0"/>
                    </a:lnTo>
                    <a:lnTo>
                      <a:pt x="322395" y="211767"/>
                    </a:lnTo>
                    <a:lnTo>
                      <a:pt x="0" y="211767"/>
                    </a:lnTo>
                    <a:close/>
                  </a:path>
                </a:pathLst>
              </a:custGeom>
              <a:solidFill>
                <a:srgbClr val="000000">
                  <a:alpha val="0"/>
                </a:srgbClr>
              </a:solidFill>
            </p:spPr>
          </p:sp>
          <p:sp>
            <p:nvSpPr>
              <p:cNvPr name="TextBox 9" id="9"/>
              <p:cNvSpPr txBox="true"/>
              <p:nvPr/>
            </p:nvSpPr>
            <p:spPr>
              <a:xfrm>
                <a:off x="0" y="-85725"/>
                <a:ext cx="322395" cy="297492"/>
              </a:xfrm>
              <a:prstGeom prst="rect">
                <a:avLst/>
              </a:prstGeom>
            </p:spPr>
            <p:txBody>
              <a:bodyPr anchor="ctr" rtlCol="false" tIns="50800" lIns="50800" bIns="50800" rIns="50800"/>
              <a:lstStyle/>
              <a:p>
                <a:pPr algn="ctr">
                  <a:lnSpc>
                    <a:spcPts val="2659"/>
                  </a:lnSpc>
                </a:pPr>
                <a:r>
                  <a:rPr lang="en-US" sz="1899" spc="-9">
                    <a:solidFill>
                      <a:srgbClr val="2E2025"/>
                    </a:solidFill>
                    <a:latin typeface="Agrandir"/>
                    <a:ea typeface="Agrandir"/>
                    <a:cs typeface="Agrandir"/>
                    <a:sym typeface="Agrandir"/>
                  </a:rPr>
                  <a:t>EĞİTİM</a:t>
                </a:r>
              </a:p>
            </p:txBody>
          </p:sp>
        </p:grpSp>
      </p:grpSp>
      <p:grpSp>
        <p:nvGrpSpPr>
          <p:cNvPr name="Group 10" id="10"/>
          <p:cNvGrpSpPr/>
          <p:nvPr/>
        </p:nvGrpSpPr>
        <p:grpSpPr>
          <a:xfrm rot="0">
            <a:off x="8682143" y="2689388"/>
            <a:ext cx="2343362" cy="4539200"/>
            <a:chOff x="0" y="0"/>
            <a:chExt cx="3124482" cy="6052266"/>
          </a:xfrm>
        </p:grpSpPr>
        <p:sp>
          <p:nvSpPr>
            <p:cNvPr name="Freeform 11" id="11"/>
            <p:cNvSpPr/>
            <p:nvPr/>
          </p:nvSpPr>
          <p:spPr>
            <a:xfrm flipH="false" flipV="false" rot="0">
              <a:off x="0" y="0"/>
              <a:ext cx="3124482" cy="6052266"/>
            </a:xfrm>
            <a:custGeom>
              <a:avLst/>
              <a:gdLst/>
              <a:ahLst/>
              <a:cxnLst/>
              <a:rect r="r" b="b" t="t" l="l"/>
              <a:pathLst>
                <a:path h="6052266" w="3124482">
                  <a:moveTo>
                    <a:pt x="0" y="0"/>
                  </a:moveTo>
                  <a:lnTo>
                    <a:pt x="3124482" y="0"/>
                  </a:lnTo>
                  <a:lnTo>
                    <a:pt x="3124482" y="6052266"/>
                  </a:lnTo>
                  <a:lnTo>
                    <a:pt x="0" y="60522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1058088">
              <a:off x="809678" y="453266"/>
              <a:ext cx="1632126" cy="1072071"/>
              <a:chOff x="0" y="0"/>
              <a:chExt cx="322395" cy="211767"/>
            </a:xfrm>
          </p:grpSpPr>
          <p:sp>
            <p:nvSpPr>
              <p:cNvPr name="Freeform 13" id="13"/>
              <p:cNvSpPr/>
              <p:nvPr/>
            </p:nvSpPr>
            <p:spPr>
              <a:xfrm flipH="false" flipV="false" rot="0">
                <a:off x="0" y="0"/>
                <a:ext cx="322395" cy="211767"/>
              </a:xfrm>
              <a:custGeom>
                <a:avLst/>
                <a:gdLst/>
                <a:ahLst/>
                <a:cxnLst/>
                <a:rect r="r" b="b" t="t" l="l"/>
                <a:pathLst>
                  <a:path h="211767" w="322395">
                    <a:moveTo>
                      <a:pt x="0" y="0"/>
                    </a:moveTo>
                    <a:lnTo>
                      <a:pt x="322395" y="0"/>
                    </a:lnTo>
                    <a:lnTo>
                      <a:pt x="322395" y="211767"/>
                    </a:lnTo>
                    <a:lnTo>
                      <a:pt x="0" y="211767"/>
                    </a:lnTo>
                    <a:close/>
                  </a:path>
                </a:pathLst>
              </a:custGeom>
              <a:solidFill>
                <a:srgbClr val="000000">
                  <a:alpha val="0"/>
                </a:srgbClr>
              </a:solidFill>
            </p:spPr>
          </p:sp>
          <p:sp>
            <p:nvSpPr>
              <p:cNvPr name="TextBox 14" id="14"/>
              <p:cNvSpPr txBox="true"/>
              <p:nvPr/>
            </p:nvSpPr>
            <p:spPr>
              <a:xfrm>
                <a:off x="0" y="-85725"/>
                <a:ext cx="322395" cy="297492"/>
              </a:xfrm>
              <a:prstGeom prst="rect">
                <a:avLst/>
              </a:prstGeom>
            </p:spPr>
            <p:txBody>
              <a:bodyPr anchor="ctr" rtlCol="false" tIns="50800" lIns="50800" bIns="50800" rIns="50800"/>
              <a:lstStyle/>
              <a:p>
                <a:pPr algn="ctr">
                  <a:lnSpc>
                    <a:spcPts val="2659"/>
                  </a:lnSpc>
                </a:pPr>
                <a:r>
                  <a:rPr lang="en-US" sz="1899" spc="-9">
                    <a:solidFill>
                      <a:srgbClr val="000000"/>
                    </a:solidFill>
                    <a:latin typeface="Agrandir"/>
                    <a:ea typeface="Agrandir"/>
                    <a:cs typeface="Agrandir"/>
                    <a:sym typeface="Agrandir"/>
                  </a:rPr>
                  <a:t>İŞ GÜCÜ KATILIMI</a:t>
                </a:r>
              </a:p>
            </p:txBody>
          </p:sp>
        </p:grpSp>
      </p:grpSp>
      <p:grpSp>
        <p:nvGrpSpPr>
          <p:cNvPr name="Group 15" id="15"/>
          <p:cNvGrpSpPr/>
          <p:nvPr/>
        </p:nvGrpSpPr>
        <p:grpSpPr>
          <a:xfrm rot="0">
            <a:off x="11806555" y="4366284"/>
            <a:ext cx="4696360" cy="4426319"/>
            <a:chOff x="0" y="0"/>
            <a:chExt cx="6261813" cy="5901759"/>
          </a:xfrm>
        </p:grpSpPr>
        <p:sp>
          <p:nvSpPr>
            <p:cNvPr name="Freeform 16" id="16"/>
            <p:cNvSpPr/>
            <p:nvPr/>
          </p:nvSpPr>
          <p:spPr>
            <a:xfrm flipH="false" flipV="false" rot="0">
              <a:off x="0" y="0"/>
              <a:ext cx="6261813" cy="5901759"/>
            </a:xfrm>
            <a:custGeom>
              <a:avLst/>
              <a:gdLst/>
              <a:ahLst/>
              <a:cxnLst/>
              <a:rect r="r" b="b" t="t" l="l"/>
              <a:pathLst>
                <a:path h="5901759" w="6261813">
                  <a:moveTo>
                    <a:pt x="0" y="0"/>
                  </a:moveTo>
                  <a:lnTo>
                    <a:pt x="6261813" y="0"/>
                  </a:lnTo>
                  <a:lnTo>
                    <a:pt x="6261813" y="5901759"/>
                  </a:lnTo>
                  <a:lnTo>
                    <a:pt x="0" y="59017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7" id="17"/>
            <p:cNvGrpSpPr/>
            <p:nvPr/>
          </p:nvGrpSpPr>
          <p:grpSpPr>
            <a:xfrm rot="621864">
              <a:off x="4311177" y="436753"/>
              <a:ext cx="1632126" cy="1072071"/>
              <a:chOff x="0" y="0"/>
              <a:chExt cx="322395" cy="211767"/>
            </a:xfrm>
          </p:grpSpPr>
          <p:sp>
            <p:nvSpPr>
              <p:cNvPr name="Freeform 18" id="18"/>
              <p:cNvSpPr/>
              <p:nvPr/>
            </p:nvSpPr>
            <p:spPr>
              <a:xfrm flipH="false" flipV="false" rot="0">
                <a:off x="0" y="0"/>
                <a:ext cx="322395" cy="211767"/>
              </a:xfrm>
              <a:custGeom>
                <a:avLst/>
                <a:gdLst/>
                <a:ahLst/>
                <a:cxnLst/>
                <a:rect r="r" b="b" t="t" l="l"/>
                <a:pathLst>
                  <a:path h="211767" w="322395">
                    <a:moveTo>
                      <a:pt x="0" y="0"/>
                    </a:moveTo>
                    <a:lnTo>
                      <a:pt x="322395" y="0"/>
                    </a:lnTo>
                    <a:lnTo>
                      <a:pt x="322395" y="211767"/>
                    </a:lnTo>
                    <a:lnTo>
                      <a:pt x="0" y="211767"/>
                    </a:lnTo>
                    <a:close/>
                  </a:path>
                </a:pathLst>
              </a:custGeom>
              <a:solidFill>
                <a:srgbClr val="000000">
                  <a:alpha val="0"/>
                </a:srgbClr>
              </a:solidFill>
            </p:spPr>
          </p:sp>
          <p:sp>
            <p:nvSpPr>
              <p:cNvPr name="TextBox 19" id="19"/>
              <p:cNvSpPr txBox="true"/>
              <p:nvPr/>
            </p:nvSpPr>
            <p:spPr>
              <a:xfrm>
                <a:off x="0" y="-85725"/>
                <a:ext cx="322395" cy="297492"/>
              </a:xfrm>
              <a:prstGeom prst="rect">
                <a:avLst/>
              </a:prstGeom>
            </p:spPr>
            <p:txBody>
              <a:bodyPr anchor="ctr" rtlCol="false" tIns="50800" lIns="50800" bIns="50800" rIns="50800"/>
              <a:lstStyle/>
              <a:p>
                <a:pPr algn="ctr">
                  <a:lnSpc>
                    <a:spcPts val="2659"/>
                  </a:lnSpc>
                </a:pPr>
                <a:r>
                  <a:rPr lang="en-US" sz="1899" spc="-9">
                    <a:solidFill>
                      <a:srgbClr val="000000"/>
                    </a:solidFill>
                    <a:latin typeface="Agrandir"/>
                    <a:ea typeface="Agrandir"/>
                    <a:cs typeface="Agrandir"/>
                    <a:sym typeface="Agrandir"/>
                  </a:rPr>
                  <a:t>POLİTİKA</a:t>
                </a:r>
              </a:p>
            </p:txBody>
          </p:sp>
        </p:grpSp>
        <p:grpSp>
          <p:nvGrpSpPr>
            <p:cNvPr name="Group 20" id="20"/>
            <p:cNvGrpSpPr/>
            <p:nvPr/>
          </p:nvGrpSpPr>
          <p:grpSpPr>
            <a:xfrm rot="-547987">
              <a:off x="131717" y="295091"/>
              <a:ext cx="2035297" cy="1482395"/>
              <a:chOff x="0" y="0"/>
              <a:chExt cx="402034" cy="292819"/>
            </a:xfrm>
          </p:grpSpPr>
          <p:sp>
            <p:nvSpPr>
              <p:cNvPr name="Freeform 21" id="21"/>
              <p:cNvSpPr/>
              <p:nvPr/>
            </p:nvSpPr>
            <p:spPr>
              <a:xfrm flipH="false" flipV="false" rot="0">
                <a:off x="0" y="0"/>
                <a:ext cx="402034" cy="292819"/>
              </a:xfrm>
              <a:custGeom>
                <a:avLst/>
                <a:gdLst/>
                <a:ahLst/>
                <a:cxnLst/>
                <a:rect r="r" b="b" t="t" l="l"/>
                <a:pathLst>
                  <a:path h="292819" w="402034">
                    <a:moveTo>
                      <a:pt x="0" y="0"/>
                    </a:moveTo>
                    <a:lnTo>
                      <a:pt x="402034" y="0"/>
                    </a:lnTo>
                    <a:lnTo>
                      <a:pt x="402034" y="292819"/>
                    </a:lnTo>
                    <a:lnTo>
                      <a:pt x="0" y="292819"/>
                    </a:lnTo>
                    <a:close/>
                  </a:path>
                </a:pathLst>
              </a:custGeom>
              <a:solidFill>
                <a:srgbClr val="000000">
                  <a:alpha val="0"/>
                </a:srgbClr>
              </a:solidFill>
            </p:spPr>
          </p:sp>
          <p:sp>
            <p:nvSpPr>
              <p:cNvPr name="TextBox 22" id="22"/>
              <p:cNvSpPr txBox="true"/>
              <p:nvPr/>
            </p:nvSpPr>
            <p:spPr>
              <a:xfrm>
                <a:off x="0" y="-85725"/>
                <a:ext cx="402034" cy="378544"/>
              </a:xfrm>
              <a:prstGeom prst="rect">
                <a:avLst/>
              </a:prstGeom>
            </p:spPr>
            <p:txBody>
              <a:bodyPr anchor="ctr" rtlCol="false" tIns="50800" lIns="50800" bIns="50800" rIns="50800"/>
              <a:lstStyle/>
              <a:p>
                <a:pPr algn="ctr">
                  <a:lnSpc>
                    <a:spcPts val="2659"/>
                  </a:lnSpc>
                </a:pPr>
                <a:r>
                  <a:rPr lang="en-US" sz="1899" spc="-9">
                    <a:solidFill>
                      <a:srgbClr val="000000"/>
                    </a:solidFill>
                    <a:latin typeface="Agrandir"/>
                    <a:ea typeface="Agrandir"/>
                    <a:cs typeface="Agrandir"/>
                    <a:sym typeface="Agrandir"/>
                  </a:rPr>
                  <a:t>TOPLUMSAL CİNSİYET ROLLERİ</a:t>
                </a:r>
              </a:p>
            </p:txBody>
          </p:sp>
        </p:grpSp>
      </p:grpSp>
      <p:grpSp>
        <p:nvGrpSpPr>
          <p:cNvPr name="Group 23" id="23"/>
          <p:cNvGrpSpPr/>
          <p:nvPr/>
        </p:nvGrpSpPr>
        <p:grpSpPr>
          <a:xfrm rot="0">
            <a:off x="5129456" y="3616900"/>
            <a:ext cx="2024994" cy="5175704"/>
            <a:chOff x="0" y="0"/>
            <a:chExt cx="2699992" cy="6900938"/>
          </a:xfrm>
        </p:grpSpPr>
        <p:sp>
          <p:nvSpPr>
            <p:cNvPr name="Freeform 24" id="24"/>
            <p:cNvSpPr/>
            <p:nvPr/>
          </p:nvSpPr>
          <p:spPr>
            <a:xfrm flipH="false" flipV="false" rot="0">
              <a:off x="0" y="0"/>
              <a:ext cx="2699992" cy="6900938"/>
            </a:xfrm>
            <a:custGeom>
              <a:avLst/>
              <a:gdLst/>
              <a:ahLst/>
              <a:cxnLst/>
              <a:rect r="r" b="b" t="t" l="l"/>
              <a:pathLst>
                <a:path h="6900938" w="2699992">
                  <a:moveTo>
                    <a:pt x="0" y="0"/>
                  </a:moveTo>
                  <a:lnTo>
                    <a:pt x="2699992" y="0"/>
                  </a:lnTo>
                  <a:lnTo>
                    <a:pt x="2699992" y="6900938"/>
                  </a:lnTo>
                  <a:lnTo>
                    <a:pt x="0" y="69009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665097" y="277210"/>
              <a:ext cx="1632126" cy="1072071"/>
              <a:chOff x="0" y="0"/>
              <a:chExt cx="322395" cy="211767"/>
            </a:xfrm>
          </p:grpSpPr>
          <p:sp>
            <p:nvSpPr>
              <p:cNvPr name="Freeform 26" id="26"/>
              <p:cNvSpPr/>
              <p:nvPr/>
            </p:nvSpPr>
            <p:spPr>
              <a:xfrm flipH="false" flipV="false" rot="0">
                <a:off x="0" y="0"/>
                <a:ext cx="322395" cy="211767"/>
              </a:xfrm>
              <a:custGeom>
                <a:avLst/>
                <a:gdLst/>
                <a:ahLst/>
                <a:cxnLst/>
                <a:rect r="r" b="b" t="t" l="l"/>
                <a:pathLst>
                  <a:path h="211767" w="322395">
                    <a:moveTo>
                      <a:pt x="0" y="0"/>
                    </a:moveTo>
                    <a:lnTo>
                      <a:pt x="322395" y="0"/>
                    </a:lnTo>
                    <a:lnTo>
                      <a:pt x="322395" y="211767"/>
                    </a:lnTo>
                    <a:lnTo>
                      <a:pt x="0" y="211767"/>
                    </a:lnTo>
                    <a:close/>
                  </a:path>
                </a:pathLst>
              </a:custGeom>
              <a:solidFill>
                <a:srgbClr val="000000">
                  <a:alpha val="0"/>
                </a:srgbClr>
              </a:solidFill>
            </p:spPr>
          </p:sp>
          <p:sp>
            <p:nvSpPr>
              <p:cNvPr name="TextBox 27" id="27"/>
              <p:cNvSpPr txBox="true"/>
              <p:nvPr/>
            </p:nvSpPr>
            <p:spPr>
              <a:xfrm>
                <a:off x="0" y="-85725"/>
                <a:ext cx="322395" cy="297492"/>
              </a:xfrm>
              <a:prstGeom prst="rect">
                <a:avLst/>
              </a:prstGeom>
            </p:spPr>
            <p:txBody>
              <a:bodyPr anchor="ctr" rtlCol="false" tIns="50800" lIns="50800" bIns="50800" rIns="50800"/>
              <a:lstStyle/>
              <a:p>
                <a:pPr algn="ctr">
                  <a:lnSpc>
                    <a:spcPts val="2659"/>
                  </a:lnSpc>
                </a:pPr>
                <a:r>
                  <a:rPr lang="en-US" sz="1899" spc="-9">
                    <a:solidFill>
                      <a:srgbClr val="2E2025"/>
                    </a:solidFill>
                    <a:latin typeface="Agrandir"/>
                    <a:ea typeface="Agrandir"/>
                    <a:cs typeface="Agrandir"/>
                    <a:sym typeface="Agrandir"/>
                  </a:rPr>
                  <a:t>SAĞLIK</a:t>
                </a:r>
              </a:p>
            </p:txBody>
          </p:sp>
        </p:grpSp>
      </p:grpSp>
      <p:grpSp>
        <p:nvGrpSpPr>
          <p:cNvPr name="Group 28" id="28"/>
          <p:cNvGrpSpPr/>
          <p:nvPr/>
        </p:nvGrpSpPr>
        <p:grpSpPr>
          <a:xfrm rot="0">
            <a:off x="6297008" y="548940"/>
            <a:ext cx="5693985" cy="994918"/>
            <a:chOff x="0" y="0"/>
            <a:chExt cx="7591980" cy="1326558"/>
          </a:xfrm>
        </p:grpSpPr>
        <p:grpSp>
          <p:nvGrpSpPr>
            <p:cNvPr name="Group 29" id="29"/>
            <p:cNvGrpSpPr/>
            <p:nvPr/>
          </p:nvGrpSpPr>
          <p:grpSpPr>
            <a:xfrm rot="0">
              <a:off x="0" y="0"/>
              <a:ext cx="7591980" cy="1326558"/>
              <a:chOff x="0" y="0"/>
              <a:chExt cx="1499650" cy="262036"/>
            </a:xfrm>
          </p:grpSpPr>
          <p:sp>
            <p:nvSpPr>
              <p:cNvPr name="Freeform 30" id="30"/>
              <p:cNvSpPr/>
              <p:nvPr/>
            </p:nvSpPr>
            <p:spPr>
              <a:xfrm flipH="false" flipV="false" rot="0">
                <a:off x="0" y="0"/>
                <a:ext cx="1499650" cy="262036"/>
              </a:xfrm>
              <a:custGeom>
                <a:avLst/>
                <a:gdLst/>
                <a:ahLst/>
                <a:cxnLst/>
                <a:rect r="r" b="b" t="t" l="l"/>
                <a:pathLst>
                  <a:path h="262036" w="1499650">
                    <a:moveTo>
                      <a:pt x="69343" y="0"/>
                    </a:moveTo>
                    <a:lnTo>
                      <a:pt x="1430307" y="0"/>
                    </a:lnTo>
                    <a:cubicBezTo>
                      <a:pt x="1448698" y="0"/>
                      <a:pt x="1466336" y="7306"/>
                      <a:pt x="1479340" y="20310"/>
                    </a:cubicBezTo>
                    <a:cubicBezTo>
                      <a:pt x="1492345" y="33314"/>
                      <a:pt x="1499650" y="50952"/>
                      <a:pt x="1499650" y="69343"/>
                    </a:cubicBezTo>
                    <a:lnTo>
                      <a:pt x="1499650" y="192693"/>
                    </a:lnTo>
                    <a:cubicBezTo>
                      <a:pt x="1499650" y="230990"/>
                      <a:pt x="1468604" y="262036"/>
                      <a:pt x="1430307" y="262036"/>
                    </a:cubicBezTo>
                    <a:lnTo>
                      <a:pt x="69343" y="262036"/>
                    </a:lnTo>
                    <a:cubicBezTo>
                      <a:pt x="31046" y="262036"/>
                      <a:pt x="0" y="230990"/>
                      <a:pt x="0" y="192693"/>
                    </a:cubicBezTo>
                    <a:lnTo>
                      <a:pt x="0" y="69343"/>
                    </a:lnTo>
                    <a:cubicBezTo>
                      <a:pt x="0" y="31046"/>
                      <a:pt x="31046" y="0"/>
                      <a:pt x="69343" y="0"/>
                    </a:cubicBezTo>
                    <a:close/>
                  </a:path>
                </a:pathLst>
              </a:custGeom>
              <a:solidFill>
                <a:srgbClr val="6F7351"/>
              </a:solidFill>
              <a:ln cap="rnd">
                <a:noFill/>
                <a:prstDash val="solid"/>
                <a:round/>
              </a:ln>
            </p:spPr>
          </p:sp>
          <p:sp>
            <p:nvSpPr>
              <p:cNvPr name="TextBox 31" id="31"/>
              <p:cNvSpPr txBox="true"/>
              <p:nvPr/>
            </p:nvSpPr>
            <p:spPr>
              <a:xfrm>
                <a:off x="0" y="-85725"/>
                <a:ext cx="1499650" cy="347761"/>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441829" y="147870"/>
              <a:ext cx="6708323" cy="868892"/>
            </a:xfrm>
            <a:prstGeom prst="rect">
              <a:avLst/>
            </a:prstGeom>
          </p:spPr>
          <p:txBody>
            <a:bodyPr anchor="t" rtlCol="false" tIns="0" lIns="0" bIns="0" rIns="0">
              <a:spAutoFit/>
            </a:bodyPr>
            <a:lstStyle/>
            <a:p>
              <a:pPr algn="ctr">
                <a:lnSpc>
                  <a:spcPts val="4899"/>
                </a:lnSpc>
              </a:pPr>
              <a:r>
                <a:rPr lang="en-US" sz="3499" b="true">
                  <a:solidFill>
                    <a:srgbClr val="FFFFFF"/>
                  </a:solidFill>
                  <a:latin typeface="Agrandir Heavy"/>
                  <a:ea typeface="Agrandir Heavy"/>
                  <a:cs typeface="Agrandir Heavy"/>
                  <a:sym typeface="Agrandir Heavy"/>
                </a:rPr>
                <a:t>Cinsiyet Eşitsizliği</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D9CE"/>
        </a:solidFill>
      </p:bgPr>
    </p:bg>
    <p:spTree>
      <p:nvGrpSpPr>
        <p:cNvPr id="1" name=""/>
        <p:cNvGrpSpPr/>
        <p:nvPr/>
      </p:nvGrpSpPr>
      <p:grpSpPr>
        <a:xfrm>
          <a:off x="0" y="0"/>
          <a:ext cx="0" cy="0"/>
          <a:chOff x="0" y="0"/>
          <a:chExt cx="0" cy="0"/>
        </a:xfrm>
      </p:grpSpPr>
      <p:grpSp>
        <p:nvGrpSpPr>
          <p:cNvPr name="Group 2" id="2"/>
          <p:cNvGrpSpPr/>
          <p:nvPr/>
        </p:nvGrpSpPr>
        <p:grpSpPr>
          <a:xfrm rot="0">
            <a:off x="386360" y="1028700"/>
            <a:ext cx="17515280" cy="8685119"/>
            <a:chOff x="0" y="0"/>
            <a:chExt cx="4613078" cy="2287439"/>
          </a:xfrm>
        </p:grpSpPr>
        <p:sp>
          <p:nvSpPr>
            <p:cNvPr name="Freeform 3" id="3"/>
            <p:cNvSpPr/>
            <p:nvPr/>
          </p:nvSpPr>
          <p:spPr>
            <a:xfrm flipH="false" flipV="false" rot="0">
              <a:off x="0" y="0"/>
              <a:ext cx="4613078" cy="2287439"/>
            </a:xfrm>
            <a:custGeom>
              <a:avLst/>
              <a:gdLst/>
              <a:ahLst/>
              <a:cxnLst/>
              <a:rect r="r" b="b" t="t" l="l"/>
              <a:pathLst>
                <a:path h="2287439" w="4613078">
                  <a:moveTo>
                    <a:pt x="22542" y="0"/>
                  </a:moveTo>
                  <a:lnTo>
                    <a:pt x="4590535" y="0"/>
                  </a:lnTo>
                  <a:cubicBezTo>
                    <a:pt x="4602985" y="0"/>
                    <a:pt x="4613078" y="10093"/>
                    <a:pt x="4613078" y="22542"/>
                  </a:cubicBezTo>
                  <a:lnTo>
                    <a:pt x="4613078" y="2264896"/>
                  </a:lnTo>
                  <a:cubicBezTo>
                    <a:pt x="4613078" y="2270875"/>
                    <a:pt x="4610703" y="2276609"/>
                    <a:pt x="4606475" y="2280836"/>
                  </a:cubicBezTo>
                  <a:cubicBezTo>
                    <a:pt x="4602248" y="2285064"/>
                    <a:pt x="4596514" y="2287439"/>
                    <a:pt x="4590535" y="2287439"/>
                  </a:cubicBezTo>
                  <a:lnTo>
                    <a:pt x="22542" y="2287439"/>
                  </a:lnTo>
                  <a:cubicBezTo>
                    <a:pt x="16564" y="2287439"/>
                    <a:pt x="10830" y="2285064"/>
                    <a:pt x="6603" y="2280836"/>
                  </a:cubicBezTo>
                  <a:cubicBezTo>
                    <a:pt x="2375" y="2276609"/>
                    <a:pt x="0" y="2270875"/>
                    <a:pt x="0" y="2264896"/>
                  </a:cubicBezTo>
                  <a:lnTo>
                    <a:pt x="0" y="22542"/>
                  </a:lnTo>
                  <a:cubicBezTo>
                    <a:pt x="0" y="16564"/>
                    <a:pt x="2375" y="10830"/>
                    <a:pt x="6603" y="6603"/>
                  </a:cubicBezTo>
                  <a:cubicBezTo>
                    <a:pt x="10830" y="2375"/>
                    <a:pt x="16564" y="0"/>
                    <a:pt x="22542" y="0"/>
                  </a:cubicBezTo>
                  <a:close/>
                </a:path>
              </a:pathLst>
            </a:custGeom>
            <a:solidFill>
              <a:srgbClr val="FFFFFF"/>
            </a:solidFill>
            <a:ln cap="rnd">
              <a:noFill/>
              <a:prstDash val="solid"/>
              <a:round/>
            </a:ln>
          </p:spPr>
        </p:sp>
        <p:sp>
          <p:nvSpPr>
            <p:cNvPr name="TextBox 4" id="4"/>
            <p:cNvSpPr txBox="true"/>
            <p:nvPr/>
          </p:nvSpPr>
          <p:spPr>
            <a:xfrm>
              <a:off x="0" y="-85725"/>
              <a:ext cx="4613078" cy="2373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381849" y="531241"/>
            <a:ext cx="11553502" cy="994918"/>
            <a:chOff x="0" y="0"/>
            <a:chExt cx="15404670" cy="1326558"/>
          </a:xfrm>
        </p:grpSpPr>
        <p:grpSp>
          <p:nvGrpSpPr>
            <p:cNvPr name="Group 6" id="6"/>
            <p:cNvGrpSpPr/>
            <p:nvPr/>
          </p:nvGrpSpPr>
          <p:grpSpPr>
            <a:xfrm rot="0">
              <a:off x="0" y="0"/>
              <a:ext cx="15404670" cy="1326558"/>
              <a:chOff x="0" y="0"/>
              <a:chExt cx="3042898" cy="262036"/>
            </a:xfrm>
          </p:grpSpPr>
          <p:sp>
            <p:nvSpPr>
              <p:cNvPr name="Freeform 7" id="7"/>
              <p:cNvSpPr/>
              <p:nvPr/>
            </p:nvSpPr>
            <p:spPr>
              <a:xfrm flipH="false" flipV="false" rot="0">
                <a:off x="0" y="0"/>
                <a:ext cx="3042898" cy="262036"/>
              </a:xfrm>
              <a:custGeom>
                <a:avLst/>
                <a:gdLst/>
                <a:ahLst/>
                <a:cxnLst/>
                <a:rect r="r" b="b" t="t" l="l"/>
                <a:pathLst>
                  <a:path h="262036" w="3042898">
                    <a:moveTo>
                      <a:pt x="34175" y="0"/>
                    </a:moveTo>
                    <a:lnTo>
                      <a:pt x="3008723" y="0"/>
                    </a:lnTo>
                    <a:cubicBezTo>
                      <a:pt x="3017787" y="0"/>
                      <a:pt x="3026479" y="3601"/>
                      <a:pt x="3032888" y="10010"/>
                    </a:cubicBezTo>
                    <a:cubicBezTo>
                      <a:pt x="3039297" y="16419"/>
                      <a:pt x="3042898" y="25111"/>
                      <a:pt x="3042898" y="34175"/>
                    </a:cubicBezTo>
                    <a:lnTo>
                      <a:pt x="3042898" y="227861"/>
                    </a:lnTo>
                    <a:cubicBezTo>
                      <a:pt x="3042898" y="236925"/>
                      <a:pt x="3039297" y="245618"/>
                      <a:pt x="3032888" y="252027"/>
                    </a:cubicBezTo>
                    <a:cubicBezTo>
                      <a:pt x="3026479" y="258436"/>
                      <a:pt x="3017787" y="262036"/>
                      <a:pt x="3008723" y="262036"/>
                    </a:cubicBezTo>
                    <a:lnTo>
                      <a:pt x="34175" y="262036"/>
                    </a:lnTo>
                    <a:cubicBezTo>
                      <a:pt x="25111" y="262036"/>
                      <a:pt x="16419" y="258436"/>
                      <a:pt x="10010" y="252027"/>
                    </a:cubicBezTo>
                    <a:cubicBezTo>
                      <a:pt x="3601" y="245618"/>
                      <a:pt x="0" y="236925"/>
                      <a:pt x="0" y="227861"/>
                    </a:cubicBezTo>
                    <a:lnTo>
                      <a:pt x="0" y="34175"/>
                    </a:lnTo>
                    <a:cubicBezTo>
                      <a:pt x="0" y="25111"/>
                      <a:pt x="3601" y="16419"/>
                      <a:pt x="10010" y="10010"/>
                    </a:cubicBezTo>
                    <a:cubicBezTo>
                      <a:pt x="16419" y="3601"/>
                      <a:pt x="25111" y="0"/>
                      <a:pt x="34175" y="0"/>
                    </a:cubicBezTo>
                    <a:close/>
                  </a:path>
                </a:pathLst>
              </a:custGeom>
              <a:solidFill>
                <a:srgbClr val="6F7351"/>
              </a:solidFill>
              <a:ln cap="rnd">
                <a:noFill/>
                <a:prstDash val="solid"/>
                <a:round/>
              </a:ln>
            </p:spPr>
          </p:sp>
          <p:sp>
            <p:nvSpPr>
              <p:cNvPr name="TextBox 8" id="8"/>
              <p:cNvSpPr txBox="true"/>
              <p:nvPr/>
            </p:nvSpPr>
            <p:spPr>
              <a:xfrm>
                <a:off x="0" y="-85725"/>
                <a:ext cx="3042898" cy="347761"/>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896502" y="147870"/>
              <a:ext cx="13611666" cy="868892"/>
            </a:xfrm>
            <a:prstGeom prst="rect">
              <a:avLst/>
            </a:prstGeom>
          </p:spPr>
          <p:txBody>
            <a:bodyPr anchor="t" rtlCol="false" tIns="0" lIns="0" bIns="0" rIns="0">
              <a:spAutoFit/>
            </a:bodyPr>
            <a:lstStyle/>
            <a:p>
              <a:pPr algn="ctr">
                <a:lnSpc>
                  <a:spcPts val="4899"/>
                </a:lnSpc>
              </a:pPr>
              <a:r>
                <a:rPr lang="en-US" sz="3499" b="true">
                  <a:solidFill>
                    <a:srgbClr val="FFFFFF"/>
                  </a:solidFill>
                  <a:latin typeface="Agrandir Heavy"/>
                  <a:ea typeface="Agrandir Heavy"/>
                  <a:cs typeface="Agrandir Heavy"/>
                  <a:sym typeface="Agrandir Heavy"/>
                </a:rPr>
                <a:t>Yıla ve Ülkeye Göre Cinsiyet Maaş Farkı</a:t>
              </a:r>
            </a:p>
          </p:txBody>
        </p:sp>
      </p:grpSp>
      <p:pic>
        <p:nvPicPr>
          <p:cNvPr name="Picture 10" id="10">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931016" y="2540137"/>
            <a:ext cx="16569469" cy="6994556"/>
          </a:xfrm>
          <a:prstGeom prst="rect">
            <a:avLst/>
          </a:prstGeom>
        </p:spPr>
      </p:pic>
      <p:sp>
        <p:nvSpPr>
          <p:cNvPr name="Freeform 11" id="11"/>
          <p:cNvSpPr/>
          <p:nvPr/>
        </p:nvSpPr>
        <p:spPr>
          <a:xfrm flipH="false" flipV="false" rot="0">
            <a:off x="2245578" y="2126316"/>
            <a:ext cx="10627838" cy="827641"/>
          </a:xfrm>
          <a:custGeom>
            <a:avLst/>
            <a:gdLst/>
            <a:ahLst/>
            <a:cxnLst/>
            <a:rect r="r" b="b" t="t" l="l"/>
            <a:pathLst>
              <a:path h="827641" w="10627838">
                <a:moveTo>
                  <a:pt x="0" y="0"/>
                </a:moveTo>
                <a:lnTo>
                  <a:pt x="10627838" y="0"/>
                </a:lnTo>
                <a:lnTo>
                  <a:pt x="10627838" y="827641"/>
                </a:lnTo>
                <a:lnTo>
                  <a:pt x="0" y="827641"/>
                </a:lnTo>
                <a:lnTo>
                  <a:pt x="0" y="0"/>
                </a:lnTo>
                <a:close/>
              </a:path>
            </a:pathLst>
          </a:custGeom>
          <a:blipFill>
            <a:blip r:embed="rId5"/>
            <a:stretch>
              <a:fillRect l="0" t="0" r="0" b="0"/>
            </a:stretch>
          </a:blipFill>
        </p:spPr>
      </p:sp>
    </p:spTree>
  </p:cSld>
  <p:clrMapOvr>
    <a:masterClrMapping/>
  </p:clrMapOvr>
  <p:timing>
    <p:tnLst>
      <p:par>
        <p:cTn dur="indefinite" restart="never" nodeType="tmRoot">
          <p:childTnLst>
            <p:video>
              <p:cMediaNode vol="0">
                <p:cTn fill="hold" display="false">
                  <p:stCondLst>
                    <p:cond delay="indefinite"/>
                  </p:stCondLst>
                </p:cTn>
                <p:tgtEl>
                  <p:spTgt spid="10"/>
                </p:tgtEl>
              </p:cMediaNode>
            </p:video>
          </p:childTnLst>
        </p:cTn>
      </p:par>
    </p:tnLst>
  </p:timing>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D9CE"/>
        </a:solidFill>
      </p:bgPr>
    </p:bg>
    <p:spTree>
      <p:nvGrpSpPr>
        <p:cNvPr id="1" name=""/>
        <p:cNvGrpSpPr/>
        <p:nvPr/>
      </p:nvGrpSpPr>
      <p:grpSpPr>
        <a:xfrm>
          <a:off x="0" y="0"/>
          <a:ext cx="0" cy="0"/>
          <a:chOff x="0" y="0"/>
          <a:chExt cx="0" cy="0"/>
        </a:xfrm>
      </p:grpSpPr>
      <p:grpSp>
        <p:nvGrpSpPr>
          <p:cNvPr name="Group 2" id="2"/>
          <p:cNvGrpSpPr/>
          <p:nvPr/>
        </p:nvGrpSpPr>
        <p:grpSpPr>
          <a:xfrm rot="0">
            <a:off x="830716" y="2420341"/>
            <a:ext cx="4197433" cy="895090"/>
            <a:chOff x="0" y="0"/>
            <a:chExt cx="5596578" cy="1193454"/>
          </a:xfrm>
        </p:grpSpPr>
        <p:grpSp>
          <p:nvGrpSpPr>
            <p:cNvPr name="Group 3" id="3"/>
            <p:cNvGrpSpPr/>
            <p:nvPr/>
          </p:nvGrpSpPr>
          <p:grpSpPr>
            <a:xfrm rot="0">
              <a:off x="0" y="0"/>
              <a:ext cx="1777250" cy="1193454"/>
              <a:chOff x="0" y="0"/>
              <a:chExt cx="351062" cy="235744"/>
            </a:xfrm>
          </p:grpSpPr>
          <p:sp>
            <p:nvSpPr>
              <p:cNvPr name="Freeform 4" id="4"/>
              <p:cNvSpPr/>
              <p:nvPr/>
            </p:nvSpPr>
            <p:spPr>
              <a:xfrm flipH="false" flipV="false" rot="0">
                <a:off x="0" y="0"/>
                <a:ext cx="351062" cy="235744"/>
              </a:xfrm>
              <a:custGeom>
                <a:avLst/>
                <a:gdLst/>
                <a:ahLst/>
                <a:cxnLst/>
                <a:rect r="r" b="b" t="t" l="l"/>
                <a:pathLst>
                  <a:path h="235744" w="351062">
                    <a:moveTo>
                      <a:pt x="116163" y="0"/>
                    </a:moveTo>
                    <a:lnTo>
                      <a:pt x="234898" y="0"/>
                    </a:lnTo>
                    <a:cubicBezTo>
                      <a:pt x="265707" y="0"/>
                      <a:pt x="295253" y="12239"/>
                      <a:pt x="317038" y="34023"/>
                    </a:cubicBezTo>
                    <a:cubicBezTo>
                      <a:pt x="338823" y="55808"/>
                      <a:pt x="351062" y="85355"/>
                      <a:pt x="351062" y="116163"/>
                    </a:cubicBezTo>
                    <a:lnTo>
                      <a:pt x="351062" y="119581"/>
                    </a:lnTo>
                    <a:cubicBezTo>
                      <a:pt x="351062" y="150389"/>
                      <a:pt x="338823" y="179936"/>
                      <a:pt x="317038" y="201720"/>
                    </a:cubicBezTo>
                    <a:cubicBezTo>
                      <a:pt x="295253" y="223505"/>
                      <a:pt x="265707" y="235744"/>
                      <a:pt x="234898" y="235744"/>
                    </a:cubicBezTo>
                    <a:lnTo>
                      <a:pt x="116163" y="235744"/>
                    </a:lnTo>
                    <a:cubicBezTo>
                      <a:pt x="85355" y="235744"/>
                      <a:pt x="55808" y="223505"/>
                      <a:pt x="34023" y="201720"/>
                    </a:cubicBezTo>
                    <a:cubicBezTo>
                      <a:pt x="12239" y="179936"/>
                      <a:pt x="0" y="150389"/>
                      <a:pt x="0" y="119581"/>
                    </a:cubicBezTo>
                    <a:lnTo>
                      <a:pt x="0" y="116163"/>
                    </a:lnTo>
                    <a:cubicBezTo>
                      <a:pt x="0" y="85355"/>
                      <a:pt x="12239" y="55808"/>
                      <a:pt x="34023" y="34023"/>
                    </a:cubicBezTo>
                    <a:cubicBezTo>
                      <a:pt x="55808" y="12239"/>
                      <a:pt x="85355" y="0"/>
                      <a:pt x="116163" y="0"/>
                    </a:cubicBezTo>
                    <a:close/>
                  </a:path>
                </a:pathLst>
              </a:custGeom>
              <a:solidFill>
                <a:srgbClr val="FEF6F4"/>
              </a:solidFill>
            </p:spPr>
          </p:sp>
          <p:sp>
            <p:nvSpPr>
              <p:cNvPr name="TextBox 5" id="5"/>
              <p:cNvSpPr txBox="true"/>
              <p:nvPr/>
            </p:nvSpPr>
            <p:spPr>
              <a:xfrm>
                <a:off x="0" y="-85725"/>
                <a:ext cx="351062" cy="32146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147422" y="0"/>
              <a:ext cx="1278440" cy="1193454"/>
              <a:chOff x="0" y="0"/>
              <a:chExt cx="252531" cy="235744"/>
            </a:xfrm>
          </p:grpSpPr>
          <p:sp>
            <p:nvSpPr>
              <p:cNvPr name="Freeform 7" id="7"/>
              <p:cNvSpPr/>
              <p:nvPr/>
            </p:nvSpPr>
            <p:spPr>
              <a:xfrm flipH="false" flipV="false" rot="0">
                <a:off x="0" y="0"/>
                <a:ext cx="252531" cy="235744"/>
              </a:xfrm>
              <a:custGeom>
                <a:avLst/>
                <a:gdLst/>
                <a:ahLst/>
                <a:cxnLst/>
                <a:rect r="r" b="b" t="t" l="l"/>
                <a:pathLst>
                  <a:path h="235744" w="252531">
                    <a:moveTo>
                      <a:pt x="117872" y="0"/>
                    </a:moveTo>
                    <a:lnTo>
                      <a:pt x="134659" y="0"/>
                    </a:lnTo>
                    <a:cubicBezTo>
                      <a:pt x="199758" y="0"/>
                      <a:pt x="252531" y="52773"/>
                      <a:pt x="252531" y="117872"/>
                    </a:cubicBezTo>
                    <a:lnTo>
                      <a:pt x="252531" y="117872"/>
                    </a:lnTo>
                    <a:cubicBezTo>
                      <a:pt x="252531" y="182971"/>
                      <a:pt x="199758" y="235744"/>
                      <a:pt x="134659" y="235744"/>
                    </a:cubicBezTo>
                    <a:lnTo>
                      <a:pt x="117872" y="235744"/>
                    </a:lnTo>
                    <a:cubicBezTo>
                      <a:pt x="52773" y="235744"/>
                      <a:pt x="0" y="182971"/>
                      <a:pt x="0" y="117872"/>
                    </a:cubicBezTo>
                    <a:lnTo>
                      <a:pt x="0" y="117872"/>
                    </a:lnTo>
                    <a:cubicBezTo>
                      <a:pt x="0" y="52773"/>
                      <a:pt x="52773" y="0"/>
                      <a:pt x="117872" y="0"/>
                    </a:cubicBezTo>
                    <a:close/>
                  </a:path>
                </a:pathLst>
              </a:custGeom>
              <a:solidFill>
                <a:srgbClr val="FEF6F4"/>
              </a:solidFill>
            </p:spPr>
          </p:sp>
          <p:sp>
            <p:nvSpPr>
              <p:cNvPr name="TextBox 8" id="8"/>
              <p:cNvSpPr txBox="true"/>
              <p:nvPr/>
            </p:nvSpPr>
            <p:spPr>
              <a:xfrm>
                <a:off x="0" y="-85725"/>
                <a:ext cx="252531" cy="32146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1600" y="340476"/>
              <a:ext cx="1559478" cy="505158"/>
            </a:xfrm>
            <a:prstGeom prst="rect">
              <a:avLst/>
            </a:prstGeom>
          </p:spPr>
          <p:txBody>
            <a:bodyPr anchor="t" rtlCol="false" tIns="0" lIns="0" bIns="0" rIns="0">
              <a:spAutoFit/>
            </a:bodyPr>
            <a:lstStyle/>
            <a:p>
              <a:pPr algn="ctr" marL="0" indent="0" lvl="0">
                <a:lnSpc>
                  <a:spcPts val="3553"/>
                </a:lnSpc>
              </a:pPr>
              <a:r>
                <a:rPr lang="en-US" sz="1900">
                  <a:solidFill>
                    <a:srgbClr val="6F7351"/>
                  </a:solidFill>
                  <a:latin typeface="TAN Songbird"/>
                  <a:ea typeface="TAN Songbird"/>
                  <a:cs typeface="TAN Songbird"/>
                  <a:sym typeface="TAN Songbird"/>
                </a:rPr>
                <a:t>1990</a:t>
              </a:r>
            </a:p>
          </p:txBody>
        </p:sp>
        <p:sp>
          <p:nvSpPr>
            <p:cNvPr name="TextBox 10" id="10"/>
            <p:cNvSpPr txBox="true"/>
            <p:nvPr/>
          </p:nvSpPr>
          <p:spPr>
            <a:xfrm rot="0">
              <a:off x="2018550" y="155899"/>
              <a:ext cx="1559478" cy="766357"/>
            </a:xfrm>
            <a:prstGeom prst="rect">
              <a:avLst/>
            </a:prstGeom>
          </p:spPr>
          <p:txBody>
            <a:bodyPr anchor="t" rtlCol="false" tIns="0" lIns="0" bIns="0" rIns="0">
              <a:spAutoFit/>
            </a:bodyPr>
            <a:lstStyle/>
            <a:p>
              <a:pPr algn="ctr" marL="0" indent="0" lvl="0">
                <a:lnSpc>
                  <a:spcPts val="5423"/>
                </a:lnSpc>
              </a:pPr>
              <a:r>
                <a:rPr lang="en-US" sz="2900">
                  <a:solidFill>
                    <a:srgbClr val="6F7351"/>
                  </a:solidFill>
                  <a:latin typeface="TAN Songbird"/>
                  <a:ea typeface="TAN Songbird"/>
                  <a:cs typeface="TAN Songbird"/>
                  <a:sym typeface="TAN Songbird"/>
                </a:rPr>
                <a:t>-</a:t>
              </a:r>
            </a:p>
          </p:txBody>
        </p:sp>
        <p:grpSp>
          <p:nvGrpSpPr>
            <p:cNvPr name="Group 11" id="11"/>
            <p:cNvGrpSpPr/>
            <p:nvPr/>
          </p:nvGrpSpPr>
          <p:grpSpPr>
            <a:xfrm rot="0">
              <a:off x="3819328" y="0"/>
              <a:ext cx="1777250" cy="1193454"/>
              <a:chOff x="0" y="0"/>
              <a:chExt cx="351062" cy="235744"/>
            </a:xfrm>
          </p:grpSpPr>
          <p:sp>
            <p:nvSpPr>
              <p:cNvPr name="Freeform 12" id="12"/>
              <p:cNvSpPr/>
              <p:nvPr/>
            </p:nvSpPr>
            <p:spPr>
              <a:xfrm flipH="false" flipV="false" rot="0">
                <a:off x="0" y="0"/>
                <a:ext cx="351062" cy="235744"/>
              </a:xfrm>
              <a:custGeom>
                <a:avLst/>
                <a:gdLst/>
                <a:ahLst/>
                <a:cxnLst/>
                <a:rect r="r" b="b" t="t" l="l"/>
                <a:pathLst>
                  <a:path h="235744" w="351062">
                    <a:moveTo>
                      <a:pt x="116163" y="0"/>
                    </a:moveTo>
                    <a:lnTo>
                      <a:pt x="234898" y="0"/>
                    </a:lnTo>
                    <a:cubicBezTo>
                      <a:pt x="265707" y="0"/>
                      <a:pt x="295253" y="12239"/>
                      <a:pt x="317038" y="34023"/>
                    </a:cubicBezTo>
                    <a:cubicBezTo>
                      <a:pt x="338823" y="55808"/>
                      <a:pt x="351062" y="85355"/>
                      <a:pt x="351062" y="116163"/>
                    </a:cubicBezTo>
                    <a:lnTo>
                      <a:pt x="351062" y="119581"/>
                    </a:lnTo>
                    <a:cubicBezTo>
                      <a:pt x="351062" y="150389"/>
                      <a:pt x="338823" y="179936"/>
                      <a:pt x="317038" y="201720"/>
                    </a:cubicBezTo>
                    <a:cubicBezTo>
                      <a:pt x="295253" y="223505"/>
                      <a:pt x="265707" y="235744"/>
                      <a:pt x="234898" y="235744"/>
                    </a:cubicBezTo>
                    <a:lnTo>
                      <a:pt x="116163" y="235744"/>
                    </a:lnTo>
                    <a:cubicBezTo>
                      <a:pt x="85355" y="235744"/>
                      <a:pt x="55808" y="223505"/>
                      <a:pt x="34023" y="201720"/>
                    </a:cubicBezTo>
                    <a:cubicBezTo>
                      <a:pt x="12239" y="179936"/>
                      <a:pt x="0" y="150389"/>
                      <a:pt x="0" y="119581"/>
                    </a:cubicBezTo>
                    <a:lnTo>
                      <a:pt x="0" y="116163"/>
                    </a:lnTo>
                    <a:cubicBezTo>
                      <a:pt x="0" y="85355"/>
                      <a:pt x="12239" y="55808"/>
                      <a:pt x="34023" y="34023"/>
                    </a:cubicBezTo>
                    <a:cubicBezTo>
                      <a:pt x="55808" y="12239"/>
                      <a:pt x="85355" y="0"/>
                      <a:pt x="116163" y="0"/>
                    </a:cubicBezTo>
                    <a:close/>
                  </a:path>
                </a:pathLst>
              </a:custGeom>
              <a:solidFill>
                <a:srgbClr val="FEF6F4"/>
              </a:solidFill>
            </p:spPr>
          </p:sp>
          <p:sp>
            <p:nvSpPr>
              <p:cNvPr name="TextBox 13" id="13"/>
              <p:cNvSpPr txBox="true"/>
              <p:nvPr/>
            </p:nvSpPr>
            <p:spPr>
              <a:xfrm>
                <a:off x="0" y="-85725"/>
                <a:ext cx="351062" cy="321469"/>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3946328" y="340476"/>
              <a:ext cx="1559478" cy="505164"/>
            </a:xfrm>
            <a:prstGeom prst="rect">
              <a:avLst/>
            </a:prstGeom>
          </p:spPr>
          <p:txBody>
            <a:bodyPr anchor="t" rtlCol="false" tIns="0" lIns="0" bIns="0" rIns="0">
              <a:spAutoFit/>
            </a:bodyPr>
            <a:lstStyle/>
            <a:p>
              <a:pPr algn="ctr" marL="0" indent="0" lvl="0">
                <a:lnSpc>
                  <a:spcPts val="3552"/>
                </a:lnSpc>
              </a:pPr>
              <a:r>
                <a:rPr lang="en-US" sz="1899">
                  <a:solidFill>
                    <a:srgbClr val="6F7351"/>
                  </a:solidFill>
                  <a:latin typeface="TAN Songbird"/>
                  <a:ea typeface="TAN Songbird"/>
                  <a:cs typeface="TAN Songbird"/>
                  <a:sym typeface="TAN Songbird"/>
                </a:rPr>
                <a:t>2017</a:t>
              </a:r>
            </a:p>
          </p:txBody>
        </p:sp>
      </p:grpSp>
      <p:sp>
        <p:nvSpPr>
          <p:cNvPr name="Freeform 15" id="15"/>
          <p:cNvSpPr/>
          <p:nvPr/>
        </p:nvSpPr>
        <p:spPr>
          <a:xfrm flipH="false" flipV="false" rot="0">
            <a:off x="1668293" y="6768022"/>
            <a:ext cx="2522278" cy="3071267"/>
          </a:xfrm>
          <a:custGeom>
            <a:avLst/>
            <a:gdLst/>
            <a:ahLst/>
            <a:cxnLst/>
            <a:rect r="r" b="b" t="t" l="l"/>
            <a:pathLst>
              <a:path h="3071267" w="2522278">
                <a:moveTo>
                  <a:pt x="0" y="0"/>
                </a:moveTo>
                <a:lnTo>
                  <a:pt x="2522278" y="0"/>
                </a:lnTo>
                <a:lnTo>
                  <a:pt x="2522278" y="3071268"/>
                </a:lnTo>
                <a:lnTo>
                  <a:pt x="0" y="30712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6692300" y="2198016"/>
            <a:ext cx="11116255" cy="7459696"/>
            <a:chOff x="0" y="0"/>
            <a:chExt cx="14821673" cy="9946261"/>
          </a:xfrm>
        </p:grpSpPr>
        <p:grpSp>
          <p:nvGrpSpPr>
            <p:cNvPr name="Group 17" id="17"/>
            <p:cNvGrpSpPr/>
            <p:nvPr/>
          </p:nvGrpSpPr>
          <p:grpSpPr>
            <a:xfrm rot="0">
              <a:off x="0" y="0"/>
              <a:ext cx="14821673" cy="9946261"/>
              <a:chOff x="0" y="0"/>
              <a:chExt cx="2927738" cy="1964694"/>
            </a:xfrm>
          </p:grpSpPr>
          <p:sp>
            <p:nvSpPr>
              <p:cNvPr name="Freeform 18" id="18"/>
              <p:cNvSpPr/>
              <p:nvPr/>
            </p:nvSpPr>
            <p:spPr>
              <a:xfrm flipH="false" flipV="false" rot="0">
                <a:off x="0" y="0"/>
                <a:ext cx="2927738" cy="1964694"/>
              </a:xfrm>
              <a:custGeom>
                <a:avLst/>
                <a:gdLst/>
                <a:ahLst/>
                <a:cxnLst/>
                <a:rect r="r" b="b" t="t" l="l"/>
                <a:pathLst>
                  <a:path h="1964694" w="2927738">
                    <a:moveTo>
                      <a:pt x="35519" y="0"/>
                    </a:moveTo>
                    <a:lnTo>
                      <a:pt x="2892219" y="0"/>
                    </a:lnTo>
                    <a:cubicBezTo>
                      <a:pt x="2901639" y="0"/>
                      <a:pt x="2910674" y="3742"/>
                      <a:pt x="2917335" y="10403"/>
                    </a:cubicBezTo>
                    <a:cubicBezTo>
                      <a:pt x="2923996" y="17064"/>
                      <a:pt x="2927738" y="26099"/>
                      <a:pt x="2927738" y="35519"/>
                    </a:cubicBezTo>
                    <a:lnTo>
                      <a:pt x="2927738" y="1929175"/>
                    </a:lnTo>
                    <a:cubicBezTo>
                      <a:pt x="2927738" y="1938595"/>
                      <a:pt x="2923996" y="1947629"/>
                      <a:pt x="2917335" y="1954290"/>
                    </a:cubicBezTo>
                    <a:cubicBezTo>
                      <a:pt x="2910674" y="1960951"/>
                      <a:pt x="2901639" y="1964694"/>
                      <a:pt x="2892219" y="1964694"/>
                    </a:cubicBezTo>
                    <a:lnTo>
                      <a:pt x="35519" y="1964694"/>
                    </a:lnTo>
                    <a:cubicBezTo>
                      <a:pt x="26099" y="1964694"/>
                      <a:pt x="17064" y="1960951"/>
                      <a:pt x="10403" y="1954290"/>
                    </a:cubicBezTo>
                    <a:cubicBezTo>
                      <a:pt x="3742" y="1947629"/>
                      <a:pt x="0" y="1938595"/>
                      <a:pt x="0" y="1929175"/>
                    </a:cubicBezTo>
                    <a:lnTo>
                      <a:pt x="0" y="35519"/>
                    </a:lnTo>
                    <a:cubicBezTo>
                      <a:pt x="0" y="26099"/>
                      <a:pt x="3742" y="17064"/>
                      <a:pt x="10403" y="10403"/>
                    </a:cubicBezTo>
                    <a:cubicBezTo>
                      <a:pt x="17064" y="3742"/>
                      <a:pt x="26099" y="0"/>
                      <a:pt x="35519" y="0"/>
                    </a:cubicBezTo>
                    <a:close/>
                  </a:path>
                </a:pathLst>
              </a:custGeom>
              <a:solidFill>
                <a:srgbClr val="FFFFFF"/>
              </a:solidFill>
              <a:ln cap="rnd">
                <a:noFill/>
                <a:prstDash val="solid"/>
                <a:round/>
              </a:ln>
            </p:spPr>
          </p:sp>
          <p:sp>
            <p:nvSpPr>
              <p:cNvPr name="TextBox 19" id="19"/>
              <p:cNvSpPr txBox="true"/>
              <p:nvPr/>
            </p:nvSpPr>
            <p:spPr>
              <a:xfrm>
                <a:off x="0" y="-85725"/>
                <a:ext cx="2927738" cy="2050419"/>
              </a:xfrm>
              <a:prstGeom prst="rect">
                <a:avLst/>
              </a:prstGeom>
            </p:spPr>
            <p:txBody>
              <a:bodyPr anchor="ctr" rtlCol="false" tIns="50800" lIns="50800" bIns="50800" rIns="50800"/>
              <a:lstStyle/>
              <a:p>
                <a:pPr algn="ctr">
                  <a:lnSpc>
                    <a:spcPts val="2659"/>
                  </a:lnSpc>
                </a:pPr>
              </a:p>
            </p:txBody>
          </p:sp>
        </p:grpSp>
        <p:pic>
          <p:nvPicPr>
            <p:cNvPr name="Picture 20" id="20">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378" t="10979" r="126" b="0"/>
            <a:stretch>
              <a:fillRect/>
            </a:stretch>
          </p:blipFill>
          <p:spPr>
            <a:xfrm flipH="false" flipV="false" rot="0">
              <a:off x="318067" y="418017"/>
              <a:ext cx="14238600" cy="9134699"/>
            </a:xfrm>
            <a:prstGeom prst="rect">
              <a:avLst/>
            </a:prstGeom>
          </p:spPr>
        </p:pic>
      </p:grpSp>
      <p:sp>
        <p:nvSpPr>
          <p:cNvPr name="TextBox 21" id="21"/>
          <p:cNvSpPr txBox="true"/>
          <p:nvPr/>
        </p:nvSpPr>
        <p:spPr>
          <a:xfrm rot="0">
            <a:off x="229403" y="3662713"/>
            <a:ext cx="6169968" cy="2733675"/>
          </a:xfrm>
          <a:prstGeom prst="rect">
            <a:avLst/>
          </a:prstGeom>
        </p:spPr>
        <p:txBody>
          <a:bodyPr anchor="t" rtlCol="false" tIns="0" lIns="0" bIns="0" rIns="0">
            <a:spAutoFit/>
          </a:bodyPr>
          <a:lstStyle/>
          <a:p>
            <a:pPr algn="l" marL="647702" indent="-323851" lvl="1">
              <a:lnSpc>
                <a:spcPts val="4200"/>
              </a:lnSpc>
              <a:buFont typeface="Arial"/>
              <a:buChar char="•"/>
            </a:pPr>
            <a:r>
              <a:rPr lang="en-US" b="true" sz="3000">
                <a:solidFill>
                  <a:srgbClr val="2F2F2F"/>
                </a:solidFill>
                <a:latin typeface="Agrandir Medium"/>
                <a:ea typeface="Agrandir Medium"/>
                <a:cs typeface="Agrandir Medium"/>
                <a:sym typeface="Agrandir Medium"/>
              </a:rPr>
              <a:t>Women Seat Ratio</a:t>
            </a:r>
          </a:p>
          <a:p>
            <a:pPr algn="l" marL="647702" indent="-323851" lvl="1">
              <a:lnSpc>
                <a:spcPts val="4200"/>
              </a:lnSpc>
              <a:buFont typeface="Arial"/>
              <a:buChar char="•"/>
            </a:pPr>
            <a:r>
              <a:rPr lang="en-US" b="true" sz="3000">
                <a:solidFill>
                  <a:srgbClr val="2F2F2F"/>
                </a:solidFill>
                <a:latin typeface="Agrandir Medium"/>
                <a:ea typeface="Agrandir Medium"/>
                <a:cs typeface="Agrandir Medium"/>
                <a:sym typeface="Agrandir Medium"/>
              </a:rPr>
              <a:t>Maternal Mortality Ratio</a:t>
            </a:r>
          </a:p>
          <a:p>
            <a:pPr algn="l" marL="647702" indent="-323851" lvl="1">
              <a:lnSpc>
                <a:spcPts val="4200"/>
              </a:lnSpc>
              <a:buFont typeface="Arial"/>
              <a:buChar char="•"/>
            </a:pPr>
            <a:r>
              <a:rPr lang="en-US" b="true" sz="3000">
                <a:solidFill>
                  <a:srgbClr val="2F2F2F"/>
                </a:solidFill>
                <a:latin typeface="Agrandir Medium"/>
                <a:ea typeface="Agrandir Medium"/>
                <a:cs typeface="Agrandir Medium"/>
                <a:sym typeface="Agrandir Medium"/>
              </a:rPr>
              <a:t>F/M Labor Force Participation</a:t>
            </a:r>
          </a:p>
          <a:p>
            <a:pPr algn="l" marL="647702" indent="-323851" lvl="1">
              <a:lnSpc>
                <a:spcPts val="4200"/>
              </a:lnSpc>
              <a:buFont typeface="Arial"/>
              <a:buChar char="•"/>
            </a:pPr>
            <a:r>
              <a:rPr lang="en-US" b="true" sz="3000">
                <a:solidFill>
                  <a:srgbClr val="2F2F2F"/>
                </a:solidFill>
                <a:latin typeface="Agrandir Medium"/>
                <a:ea typeface="Agrandir Medium"/>
                <a:cs typeface="Agrandir Medium"/>
                <a:sym typeface="Agrandir Medium"/>
              </a:rPr>
              <a:t>Adolescent Fertility Rate</a:t>
            </a:r>
          </a:p>
          <a:p>
            <a:pPr algn="l" marL="647702" indent="-323851" lvl="1">
              <a:lnSpc>
                <a:spcPts val="4200"/>
              </a:lnSpc>
              <a:buFont typeface="Arial"/>
              <a:buChar char="•"/>
            </a:pPr>
            <a:r>
              <a:rPr lang="en-US" b="true" sz="3000">
                <a:solidFill>
                  <a:srgbClr val="2F2F2F"/>
                </a:solidFill>
                <a:latin typeface="Agrandir Medium"/>
                <a:ea typeface="Agrandir Medium"/>
                <a:cs typeface="Agrandir Medium"/>
                <a:sym typeface="Agrandir Medium"/>
              </a:rPr>
              <a:t>Year Category</a:t>
            </a:r>
          </a:p>
        </p:txBody>
      </p:sp>
      <p:sp>
        <p:nvSpPr>
          <p:cNvPr name="TextBox 22" id="22"/>
          <p:cNvSpPr txBox="true"/>
          <p:nvPr/>
        </p:nvSpPr>
        <p:spPr>
          <a:xfrm rot="0">
            <a:off x="439607" y="578915"/>
            <a:ext cx="17368948" cy="839718"/>
          </a:xfrm>
          <a:prstGeom prst="rect">
            <a:avLst/>
          </a:prstGeom>
        </p:spPr>
        <p:txBody>
          <a:bodyPr anchor="t" rtlCol="false" tIns="0" lIns="0" bIns="0" rIns="0">
            <a:spAutoFit/>
          </a:bodyPr>
          <a:lstStyle/>
          <a:p>
            <a:pPr algn="ctr" marL="0" indent="0" lvl="0">
              <a:lnSpc>
                <a:spcPts val="7293"/>
              </a:lnSpc>
            </a:pPr>
            <a:r>
              <a:rPr lang="en-US" sz="3900">
                <a:solidFill>
                  <a:srgbClr val="E5654D"/>
                </a:solidFill>
                <a:latin typeface="TAN Songbird"/>
                <a:ea typeface="TAN Songbird"/>
                <a:cs typeface="TAN Songbird"/>
                <a:sym typeface="TAN Songbird"/>
              </a:rPr>
              <a:t>MAAŞ EŞİTSİZLİĞİ MODELİ YAKLAŞIMI</a:t>
            </a:r>
          </a:p>
        </p:txBody>
      </p:sp>
      <p:grpSp>
        <p:nvGrpSpPr>
          <p:cNvPr name="Group 23" id="23"/>
          <p:cNvGrpSpPr/>
          <p:nvPr/>
        </p:nvGrpSpPr>
        <p:grpSpPr>
          <a:xfrm rot="0">
            <a:off x="7131308" y="1918638"/>
            <a:ext cx="10238239" cy="538353"/>
            <a:chOff x="0" y="0"/>
            <a:chExt cx="2908472" cy="152935"/>
          </a:xfrm>
        </p:grpSpPr>
        <p:sp>
          <p:nvSpPr>
            <p:cNvPr name="Freeform 24" id="24"/>
            <p:cNvSpPr/>
            <p:nvPr/>
          </p:nvSpPr>
          <p:spPr>
            <a:xfrm flipH="false" flipV="false" rot="0">
              <a:off x="0" y="0"/>
              <a:ext cx="2908472" cy="152935"/>
            </a:xfrm>
            <a:custGeom>
              <a:avLst/>
              <a:gdLst/>
              <a:ahLst/>
              <a:cxnLst/>
              <a:rect r="r" b="b" t="t" l="l"/>
              <a:pathLst>
                <a:path h="152935" w="2908472">
                  <a:moveTo>
                    <a:pt x="38565" y="0"/>
                  </a:moveTo>
                  <a:lnTo>
                    <a:pt x="2869907" y="0"/>
                  </a:lnTo>
                  <a:cubicBezTo>
                    <a:pt x="2880135" y="0"/>
                    <a:pt x="2889944" y="4063"/>
                    <a:pt x="2897176" y="11295"/>
                  </a:cubicBezTo>
                  <a:cubicBezTo>
                    <a:pt x="2904409" y="18528"/>
                    <a:pt x="2908472" y="28337"/>
                    <a:pt x="2908472" y="38565"/>
                  </a:cubicBezTo>
                  <a:lnTo>
                    <a:pt x="2908472" y="114370"/>
                  </a:lnTo>
                  <a:cubicBezTo>
                    <a:pt x="2908472" y="135669"/>
                    <a:pt x="2891206" y="152935"/>
                    <a:pt x="2869907" y="152935"/>
                  </a:cubicBezTo>
                  <a:lnTo>
                    <a:pt x="38565" y="152935"/>
                  </a:lnTo>
                  <a:cubicBezTo>
                    <a:pt x="17266" y="152935"/>
                    <a:pt x="0" y="135669"/>
                    <a:pt x="0" y="114370"/>
                  </a:cubicBezTo>
                  <a:lnTo>
                    <a:pt x="0" y="38565"/>
                  </a:lnTo>
                  <a:cubicBezTo>
                    <a:pt x="0" y="17266"/>
                    <a:pt x="17266" y="0"/>
                    <a:pt x="38565" y="0"/>
                  </a:cubicBezTo>
                  <a:close/>
                </a:path>
              </a:pathLst>
            </a:custGeom>
            <a:solidFill>
              <a:srgbClr val="6F7351"/>
            </a:solidFill>
            <a:ln cap="rnd">
              <a:noFill/>
              <a:prstDash val="solid"/>
              <a:round/>
            </a:ln>
          </p:spPr>
        </p:sp>
        <p:sp>
          <p:nvSpPr>
            <p:cNvPr name="TextBox 25" id="25"/>
            <p:cNvSpPr txBox="true"/>
            <p:nvPr/>
          </p:nvSpPr>
          <p:spPr>
            <a:xfrm>
              <a:off x="0" y="-85725"/>
              <a:ext cx="2908472" cy="238660"/>
            </a:xfrm>
            <a:prstGeom prst="rect">
              <a:avLst/>
            </a:prstGeom>
          </p:spPr>
          <p:txBody>
            <a:bodyPr anchor="ctr" rtlCol="false" tIns="47097" lIns="47097" bIns="47097" rIns="47097"/>
            <a:lstStyle/>
            <a:p>
              <a:pPr algn="ctr">
                <a:lnSpc>
                  <a:spcPts val="2660"/>
                </a:lnSpc>
              </a:pPr>
            </a:p>
          </p:txBody>
        </p:sp>
      </p:grpSp>
      <p:sp>
        <p:nvSpPr>
          <p:cNvPr name="TextBox 26" id="26"/>
          <p:cNvSpPr txBox="true"/>
          <p:nvPr/>
        </p:nvSpPr>
        <p:spPr>
          <a:xfrm rot="0">
            <a:off x="7374950" y="1900265"/>
            <a:ext cx="9750957" cy="470325"/>
          </a:xfrm>
          <a:prstGeom prst="rect">
            <a:avLst/>
          </a:prstGeom>
        </p:spPr>
        <p:txBody>
          <a:bodyPr anchor="t" rtlCol="false" tIns="0" lIns="0" bIns="0" rIns="0">
            <a:spAutoFit/>
          </a:bodyPr>
          <a:lstStyle/>
          <a:p>
            <a:pPr algn="ctr">
              <a:lnSpc>
                <a:spcPts val="3387"/>
              </a:lnSpc>
            </a:pPr>
            <a:r>
              <a:rPr lang="en-US" sz="2419" b="true">
                <a:solidFill>
                  <a:srgbClr val="FFFFFF"/>
                </a:solidFill>
                <a:latin typeface="Agrandir Heavy"/>
                <a:ea typeface="Agrandir Heavy"/>
                <a:cs typeface="Agrandir Heavy"/>
                <a:sym typeface="Agrandir Heavy"/>
              </a:rPr>
              <a:t>Maaş Eşitsizliği modelinde yer alan ülkeler</a:t>
            </a:r>
          </a:p>
        </p:txBody>
      </p:sp>
    </p:spTree>
  </p:cSld>
  <p:clrMapOvr>
    <a:masterClrMapping/>
  </p:clrMapOvr>
  <p:timing>
    <p:tnLst>
      <p:par>
        <p:cTn dur="indefinite" restart="never" nodeType="tmRoot">
          <p:childTnLst>
            <p:video>
              <p:cMediaNode vol="0">
                <p:cTn fill="hold" display="false">
                  <p:stCondLst>
                    <p:cond delay="indefinite"/>
                  </p:stCondLst>
                </p:cTn>
                <p:tgtEl>
                  <p:spTgt spid="20"/>
                </p:tgtEl>
              </p:cMediaNode>
            </p:video>
          </p:childTnLst>
        </p:cTn>
      </p:par>
    </p:tnLst>
  </p:timing>
</p:sld>
</file>

<file path=ppt/slides/slide5.xml><?xml version="1.0" encoding="utf-8"?>
<p:sld xmlns:p="http://schemas.openxmlformats.org/presentationml/2006/main" xmlns:a="http://schemas.openxmlformats.org/drawingml/2006/main">
  <p:cSld>
    <p:bg>
      <p:bgPr>
        <a:solidFill>
          <a:srgbClr val="F6D9CE"/>
        </a:solidFill>
      </p:bgPr>
    </p:bg>
    <p:spTree>
      <p:nvGrpSpPr>
        <p:cNvPr id="1" name=""/>
        <p:cNvGrpSpPr/>
        <p:nvPr/>
      </p:nvGrpSpPr>
      <p:grpSpPr>
        <a:xfrm>
          <a:off x="0" y="0"/>
          <a:ext cx="0" cy="0"/>
          <a:chOff x="0" y="0"/>
          <a:chExt cx="0" cy="0"/>
        </a:xfrm>
      </p:grpSpPr>
      <p:grpSp>
        <p:nvGrpSpPr>
          <p:cNvPr name="Group 2" id="2"/>
          <p:cNvGrpSpPr/>
          <p:nvPr/>
        </p:nvGrpSpPr>
        <p:grpSpPr>
          <a:xfrm rot="0">
            <a:off x="1172413" y="4788603"/>
            <a:ext cx="5283640" cy="994918"/>
            <a:chOff x="0" y="0"/>
            <a:chExt cx="7044853" cy="1326558"/>
          </a:xfrm>
        </p:grpSpPr>
        <p:grpSp>
          <p:nvGrpSpPr>
            <p:cNvPr name="Group 3" id="3"/>
            <p:cNvGrpSpPr/>
            <p:nvPr/>
          </p:nvGrpSpPr>
          <p:grpSpPr>
            <a:xfrm rot="0">
              <a:off x="0" y="0"/>
              <a:ext cx="7044853" cy="1326558"/>
              <a:chOff x="0" y="0"/>
              <a:chExt cx="1391576" cy="262036"/>
            </a:xfrm>
          </p:grpSpPr>
          <p:sp>
            <p:nvSpPr>
              <p:cNvPr name="Freeform 4" id="4"/>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FEF6F4"/>
              </a:solidFill>
            </p:spPr>
          </p:sp>
          <p:sp>
            <p:nvSpPr>
              <p:cNvPr name="TextBox 5" id="5"/>
              <p:cNvSpPr txBox="true"/>
              <p:nvPr/>
            </p:nvSpPr>
            <p:spPr>
              <a:xfrm>
                <a:off x="0" y="-76200"/>
                <a:ext cx="1391576" cy="338236"/>
              </a:xfrm>
              <a:prstGeom prst="rect">
                <a:avLst/>
              </a:prstGeom>
            </p:spPr>
            <p:txBody>
              <a:bodyPr anchor="ctr" rtlCol="false" tIns="50800" lIns="50800" bIns="50800" rIns="50800"/>
              <a:lstStyle/>
              <a:p>
                <a:pPr algn="ctr">
                  <a:lnSpc>
                    <a:spcPts val="2380"/>
                  </a:lnSpc>
                </a:pPr>
              </a:p>
            </p:txBody>
          </p:sp>
        </p:grpSp>
        <p:sp>
          <p:nvSpPr>
            <p:cNvPr name="TextBox 6" id="6"/>
            <p:cNvSpPr txBox="true"/>
            <p:nvPr/>
          </p:nvSpPr>
          <p:spPr>
            <a:xfrm rot="0">
              <a:off x="409988" y="185970"/>
              <a:ext cx="6224877" cy="824865"/>
            </a:xfrm>
            <a:prstGeom prst="rect">
              <a:avLst/>
            </a:prstGeom>
          </p:spPr>
          <p:txBody>
            <a:bodyPr anchor="t" rtlCol="false" tIns="0" lIns="0" bIns="0" rIns="0">
              <a:spAutoFit/>
            </a:bodyPr>
            <a:lstStyle/>
            <a:p>
              <a:pPr algn="ctr">
                <a:lnSpc>
                  <a:spcPts val="4620"/>
                </a:lnSpc>
              </a:pPr>
              <a:r>
                <a:rPr lang="en-US" sz="3300" b="true">
                  <a:solidFill>
                    <a:srgbClr val="2E2025"/>
                  </a:solidFill>
                  <a:latin typeface="Agrandir Medium"/>
                  <a:ea typeface="Agrandir Medium"/>
                  <a:cs typeface="Agrandir Medium"/>
                  <a:sym typeface="Agrandir Medium"/>
                </a:rPr>
                <a:t>MSE: 18.56</a:t>
              </a:r>
            </a:p>
          </p:txBody>
        </p:sp>
      </p:grpSp>
      <p:grpSp>
        <p:nvGrpSpPr>
          <p:cNvPr name="Group 7" id="7"/>
          <p:cNvGrpSpPr/>
          <p:nvPr/>
        </p:nvGrpSpPr>
        <p:grpSpPr>
          <a:xfrm rot="0">
            <a:off x="1172413" y="7159439"/>
            <a:ext cx="5283640" cy="994918"/>
            <a:chOff x="0" y="0"/>
            <a:chExt cx="7044853" cy="1326558"/>
          </a:xfrm>
        </p:grpSpPr>
        <p:grpSp>
          <p:nvGrpSpPr>
            <p:cNvPr name="Group 8" id="8"/>
            <p:cNvGrpSpPr/>
            <p:nvPr/>
          </p:nvGrpSpPr>
          <p:grpSpPr>
            <a:xfrm rot="0">
              <a:off x="0" y="0"/>
              <a:ext cx="7044853" cy="1326558"/>
              <a:chOff x="0" y="0"/>
              <a:chExt cx="1391576" cy="262036"/>
            </a:xfrm>
          </p:grpSpPr>
          <p:sp>
            <p:nvSpPr>
              <p:cNvPr name="Freeform 9" id="9"/>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FEF6F4"/>
              </a:solidFill>
            </p:spPr>
          </p:sp>
          <p:sp>
            <p:nvSpPr>
              <p:cNvPr name="TextBox 10" id="10"/>
              <p:cNvSpPr txBox="true"/>
              <p:nvPr/>
            </p:nvSpPr>
            <p:spPr>
              <a:xfrm>
                <a:off x="0" y="-76200"/>
                <a:ext cx="1391576" cy="338236"/>
              </a:xfrm>
              <a:prstGeom prst="rect">
                <a:avLst/>
              </a:prstGeom>
            </p:spPr>
            <p:txBody>
              <a:bodyPr anchor="ctr" rtlCol="false" tIns="50800" lIns="50800" bIns="50800" rIns="50800"/>
              <a:lstStyle/>
              <a:p>
                <a:pPr algn="ctr">
                  <a:lnSpc>
                    <a:spcPts val="2380"/>
                  </a:lnSpc>
                </a:pPr>
              </a:p>
            </p:txBody>
          </p:sp>
        </p:grpSp>
        <p:sp>
          <p:nvSpPr>
            <p:cNvPr name="TextBox 11" id="11"/>
            <p:cNvSpPr txBox="true"/>
            <p:nvPr/>
          </p:nvSpPr>
          <p:spPr>
            <a:xfrm rot="0">
              <a:off x="409988" y="185970"/>
              <a:ext cx="6224877" cy="824865"/>
            </a:xfrm>
            <a:prstGeom prst="rect">
              <a:avLst/>
            </a:prstGeom>
          </p:spPr>
          <p:txBody>
            <a:bodyPr anchor="t" rtlCol="false" tIns="0" lIns="0" bIns="0" rIns="0">
              <a:spAutoFit/>
            </a:bodyPr>
            <a:lstStyle/>
            <a:p>
              <a:pPr algn="ctr">
                <a:lnSpc>
                  <a:spcPts val="4620"/>
                </a:lnSpc>
              </a:pPr>
              <a:r>
                <a:rPr lang="en-US" sz="3300" b="true">
                  <a:solidFill>
                    <a:srgbClr val="2E2025"/>
                  </a:solidFill>
                  <a:latin typeface="Agrandir Medium"/>
                  <a:ea typeface="Agrandir Medium"/>
                  <a:cs typeface="Agrandir Medium"/>
                  <a:sym typeface="Agrandir Medium"/>
                </a:rPr>
                <a:t>MAE: 2.90</a:t>
              </a:r>
            </a:p>
          </p:txBody>
        </p:sp>
      </p:grpSp>
      <p:grpSp>
        <p:nvGrpSpPr>
          <p:cNvPr name="Group 12" id="12"/>
          <p:cNvGrpSpPr/>
          <p:nvPr/>
        </p:nvGrpSpPr>
        <p:grpSpPr>
          <a:xfrm rot="0">
            <a:off x="1172413" y="8342674"/>
            <a:ext cx="5283640" cy="994918"/>
            <a:chOff x="0" y="0"/>
            <a:chExt cx="7044853" cy="1326558"/>
          </a:xfrm>
        </p:grpSpPr>
        <p:grpSp>
          <p:nvGrpSpPr>
            <p:cNvPr name="Group 13" id="13"/>
            <p:cNvGrpSpPr/>
            <p:nvPr/>
          </p:nvGrpSpPr>
          <p:grpSpPr>
            <a:xfrm rot="0">
              <a:off x="0" y="0"/>
              <a:ext cx="7044853" cy="1326558"/>
              <a:chOff x="0" y="0"/>
              <a:chExt cx="1391576" cy="262036"/>
            </a:xfrm>
          </p:grpSpPr>
          <p:sp>
            <p:nvSpPr>
              <p:cNvPr name="Freeform 14" id="14"/>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FEF6F4"/>
              </a:solidFill>
            </p:spPr>
          </p:sp>
          <p:sp>
            <p:nvSpPr>
              <p:cNvPr name="TextBox 15" id="15"/>
              <p:cNvSpPr txBox="true"/>
              <p:nvPr/>
            </p:nvSpPr>
            <p:spPr>
              <a:xfrm>
                <a:off x="0" y="-76200"/>
                <a:ext cx="1391576" cy="338236"/>
              </a:xfrm>
              <a:prstGeom prst="rect">
                <a:avLst/>
              </a:prstGeom>
            </p:spPr>
            <p:txBody>
              <a:bodyPr anchor="ctr" rtlCol="false" tIns="50800" lIns="50800" bIns="50800" rIns="50800"/>
              <a:lstStyle/>
              <a:p>
                <a:pPr algn="ctr">
                  <a:lnSpc>
                    <a:spcPts val="2380"/>
                  </a:lnSpc>
                </a:pPr>
              </a:p>
            </p:txBody>
          </p:sp>
        </p:grpSp>
        <p:sp>
          <p:nvSpPr>
            <p:cNvPr name="TextBox 16" id="16"/>
            <p:cNvSpPr txBox="true"/>
            <p:nvPr/>
          </p:nvSpPr>
          <p:spPr>
            <a:xfrm rot="0">
              <a:off x="409988" y="185970"/>
              <a:ext cx="6224877" cy="824865"/>
            </a:xfrm>
            <a:prstGeom prst="rect">
              <a:avLst/>
            </a:prstGeom>
          </p:spPr>
          <p:txBody>
            <a:bodyPr anchor="t" rtlCol="false" tIns="0" lIns="0" bIns="0" rIns="0">
              <a:spAutoFit/>
            </a:bodyPr>
            <a:lstStyle/>
            <a:p>
              <a:pPr algn="ctr">
                <a:lnSpc>
                  <a:spcPts val="4620"/>
                </a:lnSpc>
              </a:pPr>
              <a:r>
                <a:rPr lang="en-US" sz="3300" b="true">
                  <a:solidFill>
                    <a:srgbClr val="2E2025"/>
                  </a:solidFill>
                  <a:latin typeface="Agrandir Medium"/>
                  <a:ea typeface="Agrandir Medium"/>
                  <a:cs typeface="Agrandir Medium"/>
                  <a:sym typeface="Agrandir Medium"/>
                </a:rPr>
                <a:t>R-Squared: 0.80</a:t>
              </a:r>
            </a:p>
          </p:txBody>
        </p:sp>
      </p:grpSp>
      <p:grpSp>
        <p:nvGrpSpPr>
          <p:cNvPr name="Group 17" id="17"/>
          <p:cNvGrpSpPr/>
          <p:nvPr/>
        </p:nvGrpSpPr>
        <p:grpSpPr>
          <a:xfrm rot="0">
            <a:off x="1172413" y="5974021"/>
            <a:ext cx="5283640" cy="994918"/>
            <a:chOff x="0" y="0"/>
            <a:chExt cx="7044853" cy="1326558"/>
          </a:xfrm>
        </p:grpSpPr>
        <p:grpSp>
          <p:nvGrpSpPr>
            <p:cNvPr name="Group 18" id="18"/>
            <p:cNvGrpSpPr/>
            <p:nvPr/>
          </p:nvGrpSpPr>
          <p:grpSpPr>
            <a:xfrm rot="0">
              <a:off x="0" y="0"/>
              <a:ext cx="7044853" cy="1326558"/>
              <a:chOff x="0" y="0"/>
              <a:chExt cx="1391576" cy="262036"/>
            </a:xfrm>
          </p:grpSpPr>
          <p:sp>
            <p:nvSpPr>
              <p:cNvPr name="Freeform 19" id="19"/>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FEF6F4"/>
              </a:solidFill>
            </p:spPr>
          </p:sp>
          <p:sp>
            <p:nvSpPr>
              <p:cNvPr name="TextBox 20" id="20"/>
              <p:cNvSpPr txBox="true"/>
              <p:nvPr/>
            </p:nvSpPr>
            <p:spPr>
              <a:xfrm>
                <a:off x="0" y="-76200"/>
                <a:ext cx="1391576" cy="338236"/>
              </a:xfrm>
              <a:prstGeom prst="rect">
                <a:avLst/>
              </a:prstGeom>
            </p:spPr>
            <p:txBody>
              <a:bodyPr anchor="ctr" rtlCol="false" tIns="50800" lIns="50800" bIns="50800" rIns="50800"/>
              <a:lstStyle/>
              <a:p>
                <a:pPr algn="ctr">
                  <a:lnSpc>
                    <a:spcPts val="2380"/>
                  </a:lnSpc>
                </a:pPr>
              </a:p>
            </p:txBody>
          </p:sp>
        </p:grpSp>
        <p:sp>
          <p:nvSpPr>
            <p:cNvPr name="TextBox 21" id="21"/>
            <p:cNvSpPr txBox="true"/>
            <p:nvPr/>
          </p:nvSpPr>
          <p:spPr>
            <a:xfrm rot="0">
              <a:off x="409988" y="185970"/>
              <a:ext cx="6224877" cy="824865"/>
            </a:xfrm>
            <a:prstGeom prst="rect">
              <a:avLst/>
            </a:prstGeom>
          </p:spPr>
          <p:txBody>
            <a:bodyPr anchor="t" rtlCol="false" tIns="0" lIns="0" bIns="0" rIns="0">
              <a:spAutoFit/>
            </a:bodyPr>
            <a:lstStyle/>
            <a:p>
              <a:pPr algn="ctr">
                <a:lnSpc>
                  <a:spcPts val="4620"/>
                </a:lnSpc>
              </a:pPr>
              <a:r>
                <a:rPr lang="en-US" sz="3300" b="true">
                  <a:solidFill>
                    <a:srgbClr val="2E2025"/>
                  </a:solidFill>
                  <a:latin typeface="Agrandir Medium"/>
                  <a:ea typeface="Agrandir Medium"/>
                  <a:cs typeface="Agrandir Medium"/>
                  <a:sym typeface="Agrandir Medium"/>
                </a:rPr>
                <a:t>RMSE: 4.31</a:t>
              </a:r>
            </a:p>
          </p:txBody>
        </p:sp>
      </p:grpSp>
      <p:grpSp>
        <p:nvGrpSpPr>
          <p:cNvPr name="Group 22" id="22"/>
          <p:cNvGrpSpPr/>
          <p:nvPr/>
        </p:nvGrpSpPr>
        <p:grpSpPr>
          <a:xfrm rot="0">
            <a:off x="1172413" y="3588668"/>
            <a:ext cx="5283640" cy="994918"/>
            <a:chOff x="0" y="0"/>
            <a:chExt cx="1391576" cy="262036"/>
          </a:xfrm>
        </p:grpSpPr>
        <p:sp>
          <p:nvSpPr>
            <p:cNvPr name="Freeform 23" id="23"/>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6F7351"/>
            </a:solidFill>
          </p:spPr>
        </p:sp>
        <p:sp>
          <p:nvSpPr>
            <p:cNvPr name="TextBox 24" id="24"/>
            <p:cNvSpPr txBox="true"/>
            <p:nvPr/>
          </p:nvSpPr>
          <p:spPr>
            <a:xfrm>
              <a:off x="0" y="-76200"/>
              <a:ext cx="1391576" cy="338236"/>
            </a:xfrm>
            <a:prstGeom prst="rect">
              <a:avLst/>
            </a:prstGeom>
          </p:spPr>
          <p:txBody>
            <a:bodyPr anchor="ctr" rtlCol="false" tIns="50800" lIns="50800" bIns="50800" rIns="50800"/>
            <a:lstStyle/>
            <a:p>
              <a:pPr algn="ctr">
                <a:lnSpc>
                  <a:spcPts val="2380"/>
                </a:lnSpc>
              </a:pPr>
            </a:p>
          </p:txBody>
        </p:sp>
      </p:grpSp>
      <p:sp>
        <p:nvSpPr>
          <p:cNvPr name="TextBox 25" id="25"/>
          <p:cNvSpPr txBox="true"/>
          <p:nvPr/>
        </p:nvSpPr>
        <p:spPr>
          <a:xfrm rot="0">
            <a:off x="1479904" y="3687665"/>
            <a:ext cx="4668658" cy="692150"/>
          </a:xfrm>
          <a:prstGeom prst="rect">
            <a:avLst/>
          </a:prstGeom>
        </p:spPr>
        <p:txBody>
          <a:bodyPr anchor="t" rtlCol="false" tIns="0" lIns="0" bIns="0" rIns="0">
            <a:spAutoFit/>
          </a:bodyPr>
          <a:lstStyle/>
          <a:p>
            <a:pPr algn="ctr">
              <a:lnSpc>
                <a:spcPts val="4899"/>
              </a:lnSpc>
            </a:pPr>
            <a:r>
              <a:rPr lang="en-US" sz="3499" b="true">
                <a:solidFill>
                  <a:srgbClr val="FFFFFF"/>
                </a:solidFill>
                <a:latin typeface="Agrandir Bold"/>
                <a:ea typeface="Agrandir Bold"/>
                <a:cs typeface="Agrandir Bold"/>
                <a:sym typeface="Agrandir Bold"/>
              </a:rPr>
              <a:t>Model </a:t>
            </a:r>
          </a:p>
        </p:txBody>
      </p:sp>
      <p:grpSp>
        <p:nvGrpSpPr>
          <p:cNvPr name="Group 26" id="26"/>
          <p:cNvGrpSpPr/>
          <p:nvPr/>
        </p:nvGrpSpPr>
        <p:grpSpPr>
          <a:xfrm rot="0">
            <a:off x="6741802" y="4788603"/>
            <a:ext cx="5283640" cy="994918"/>
            <a:chOff x="0" y="0"/>
            <a:chExt cx="1391576" cy="262036"/>
          </a:xfrm>
        </p:grpSpPr>
        <p:sp>
          <p:nvSpPr>
            <p:cNvPr name="Freeform 27" id="27"/>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F5918B"/>
            </a:solidFill>
          </p:spPr>
        </p:sp>
        <p:sp>
          <p:nvSpPr>
            <p:cNvPr name="TextBox 28" id="28"/>
            <p:cNvSpPr txBox="true"/>
            <p:nvPr/>
          </p:nvSpPr>
          <p:spPr>
            <a:xfrm>
              <a:off x="0" y="-85725"/>
              <a:ext cx="1391576" cy="347761"/>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7049293" y="4887599"/>
            <a:ext cx="4668658" cy="659130"/>
          </a:xfrm>
          <a:prstGeom prst="rect">
            <a:avLst/>
          </a:prstGeom>
        </p:spPr>
        <p:txBody>
          <a:bodyPr anchor="t" rtlCol="false" tIns="0" lIns="0" bIns="0" rIns="0">
            <a:spAutoFit/>
          </a:bodyPr>
          <a:lstStyle/>
          <a:p>
            <a:pPr algn="ctr">
              <a:lnSpc>
                <a:spcPts val="4620"/>
              </a:lnSpc>
            </a:pPr>
            <a:r>
              <a:rPr lang="en-US" sz="3300" b="true">
                <a:solidFill>
                  <a:srgbClr val="FEF6F4"/>
                </a:solidFill>
                <a:latin typeface="Agrandir Medium"/>
                <a:ea typeface="Agrandir Medium"/>
                <a:cs typeface="Agrandir Medium"/>
                <a:sym typeface="Agrandir Medium"/>
              </a:rPr>
              <a:t> MSE: 13.24</a:t>
            </a:r>
          </a:p>
        </p:txBody>
      </p:sp>
      <p:grpSp>
        <p:nvGrpSpPr>
          <p:cNvPr name="Group 30" id="30"/>
          <p:cNvGrpSpPr/>
          <p:nvPr/>
        </p:nvGrpSpPr>
        <p:grpSpPr>
          <a:xfrm rot="0">
            <a:off x="6741802" y="8342674"/>
            <a:ext cx="5283640" cy="994918"/>
            <a:chOff x="0" y="0"/>
            <a:chExt cx="1391576" cy="262036"/>
          </a:xfrm>
        </p:grpSpPr>
        <p:sp>
          <p:nvSpPr>
            <p:cNvPr name="Freeform 31" id="31"/>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F5918B"/>
            </a:solidFill>
          </p:spPr>
        </p:sp>
        <p:sp>
          <p:nvSpPr>
            <p:cNvPr name="TextBox 32" id="32"/>
            <p:cNvSpPr txBox="true"/>
            <p:nvPr/>
          </p:nvSpPr>
          <p:spPr>
            <a:xfrm>
              <a:off x="0" y="-85725"/>
              <a:ext cx="1391576" cy="347761"/>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7049293" y="8441670"/>
            <a:ext cx="4668658" cy="692150"/>
          </a:xfrm>
          <a:prstGeom prst="rect">
            <a:avLst/>
          </a:prstGeom>
        </p:spPr>
        <p:txBody>
          <a:bodyPr anchor="t" rtlCol="false" tIns="0" lIns="0" bIns="0" rIns="0">
            <a:spAutoFit/>
          </a:bodyPr>
          <a:lstStyle/>
          <a:p>
            <a:pPr algn="ctr">
              <a:lnSpc>
                <a:spcPts val="4899"/>
              </a:lnSpc>
            </a:pPr>
          </a:p>
        </p:txBody>
      </p:sp>
      <p:sp>
        <p:nvSpPr>
          <p:cNvPr name="TextBox 34" id="34"/>
          <p:cNvSpPr txBox="true"/>
          <p:nvPr/>
        </p:nvSpPr>
        <p:spPr>
          <a:xfrm rot="0">
            <a:off x="6895548" y="8439079"/>
            <a:ext cx="4976149" cy="659130"/>
          </a:xfrm>
          <a:prstGeom prst="rect">
            <a:avLst/>
          </a:prstGeom>
        </p:spPr>
        <p:txBody>
          <a:bodyPr anchor="t" rtlCol="false" tIns="0" lIns="0" bIns="0" rIns="0">
            <a:spAutoFit/>
          </a:bodyPr>
          <a:lstStyle/>
          <a:p>
            <a:pPr algn="ctr" marL="0" indent="0" lvl="0">
              <a:lnSpc>
                <a:spcPts val="4620"/>
              </a:lnSpc>
              <a:spcBef>
                <a:spcPct val="0"/>
              </a:spcBef>
            </a:pPr>
            <a:r>
              <a:rPr lang="en-US" b="true" sz="3300" strike="noStrike" u="none">
                <a:solidFill>
                  <a:srgbClr val="FEF6F4"/>
                </a:solidFill>
                <a:latin typeface="Agrandir Medium"/>
                <a:ea typeface="Agrandir Medium"/>
                <a:cs typeface="Agrandir Medium"/>
                <a:sym typeface="Agrandir Medium"/>
              </a:rPr>
              <a:t> R-Squared: 0.87</a:t>
            </a:r>
          </a:p>
        </p:txBody>
      </p:sp>
      <p:grpSp>
        <p:nvGrpSpPr>
          <p:cNvPr name="Group 35" id="35"/>
          <p:cNvGrpSpPr/>
          <p:nvPr/>
        </p:nvGrpSpPr>
        <p:grpSpPr>
          <a:xfrm rot="0">
            <a:off x="6741802" y="5974021"/>
            <a:ext cx="5283640" cy="994918"/>
            <a:chOff x="0" y="0"/>
            <a:chExt cx="1391576" cy="262036"/>
          </a:xfrm>
        </p:grpSpPr>
        <p:sp>
          <p:nvSpPr>
            <p:cNvPr name="Freeform 36" id="36"/>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F5918B"/>
            </a:solidFill>
          </p:spPr>
        </p:sp>
        <p:sp>
          <p:nvSpPr>
            <p:cNvPr name="TextBox 37" id="37"/>
            <p:cNvSpPr txBox="true"/>
            <p:nvPr/>
          </p:nvSpPr>
          <p:spPr>
            <a:xfrm>
              <a:off x="0" y="-85725"/>
              <a:ext cx="1391576" cy="347761"/>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7049293" y="6073018"/>
            <a:ext cx="4668658" cy="659130"/>
          </a:xfrm>
          <a:prstGeom prst="rect">
            <a:avLst/>
          </a:prstGeom>
        </p:spPr>
        <p:txBody>
          <a:bodyPr anchor="t" rtlCol="false" tIns="0" lIns="0" bIns="0" rIns="0">
            <a:spAutoFit/>
          </a:bodyPr>
          <a:lstStyle/>
          <a:p>
            <a:pPr algn="ctr">
              <a:lnSpc>
                <a:spcPts val="4620"/>
              </a:lnSpc>
            </a:pPr>
            <a:r>
              <a:rPr lang="en-US" sz="3300" b="true">
                <a:solidFill>
                  <a:srgbClr val="FEF6F4"/>
                </a:solidFill>
                <a:latin typeface="Agrandir Medium"/>
                <a:ea typeface="Agrandir Medium"/>
                <a:cs typeface="Agrandir Medium"/>
                <a:sym typeface="Agrandir Medium"/>
              </a:rPr>
              <a:t> RMSE: 3.64</a:t>
            </a:r>
          </a:p>
        </p:txBody>
      </p:sp>
      <p:grpSp>
        <p:nvGrpSpPr>
          <p:cNvPr name="Group 39" id="39"/>
          <p:cNvGrpSpPr/>
          <p:nvPr/>
        </p:nvGrpSpPr>
        <p:grpSpPr>
          <a:xfrm rot="0">
            <a:off x="6741802" y="3588668"/>
            <a:ext cx="5283640" cy="994918"/>
            <a:chOff x="0" y="0"/>
            <a:chExt cx="1391576" cy="262036"/>
          </a:xfrm>
        </p:grpSpPr>
        <p:sp>
          <p:nvSpPr>
            <p:cNvPr name="Freeform 40" id="40"/>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6F7351"/>
            </a:solidFill>
          </p:spPr>
        </p:sp>
        <p:sp>
          <p:nvSpPr>
            <p:cNvPr name="TextBox 41" id="41"/>
            <p:cNvSpPr txBox="true"/>
            <p:nvPr/>
          </p:nvSpPr>
          <p:spPr>
            <a:xfrm>
              <a:off x="0" y="-85725"/>
              <a:ext cx="1391576" cy="347761"/>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7049293" y="3687665"/>
            <a:ext cx="4668658" cy="692150"/>
          </a:xfrm>
          <a:prstGeom prst="rect">
            <a:avLst/>
          </a:prstGeom>
        </p:spPr>
        <p:txBody>
          <a:bodyPr anchor="t" rtlCol="false" tIns="0" lIns="0" bIns="0" rIns="0">
            <a:spAutoFit/>
          </a:bodyPr>
          <a:lstStyle/>
          <a:p>
            <a:pPr algn="ctr">
              <a:lnSpc>
                <a:spcPts val="4899"/>
              </a:lnSpc>
            </a:pPr>
            <a:r>
              <a:rPr lang="en-US" sz="3499" b="true">
                <a:solidFill>
                  <a:srgbClr val="FFFFFF"/>
                </a:solidFill>
                <a:latin typeface="Agrandir Bold"/>
                <a:ea typeface="Agrandir Bold"/>
                <a:cs typeface="Agrandir Bold"/>
                <a:sym typeface="Agrandir Bold"/>
              </a:rPr>
              <a:t>Train</a:t>
            </a:r>
          </a:p>
        </p:txBody>
      </p:sp>
      <p:grpSp>
        <p:nvGrpSpPr>
          <p:cNvPr name="Group 43" id="43"/>
          <p:cNvGrpSpPr/>
          <p:nvPr/>
        </p:nvGrpSpPr>
        <p:grpSpPr>
          <a:xfrm rot="0">
            <a:off x="6741802" y="7158347"/>
            <a:ext cx="5283640" cy="994918"/>
            <a:chOff x="0" y="0"/>
            <a:chExt cx="7044853" cy="1326558"/>
          </a:xfrm>
        </p:grpSpPr>
        <p:grpSp>
          <p:nvGrpSpPr>
            <p:cNvPr name="Group 44" id="44"/>
            <p:cNvGrpSpPr/>
            <p:nvPr/>
          </p:nvGrpSpPr>
          <p:grpSpPr>
            <a:xfrm rot="0">
              <a:off x="0" y="0"/>
              <a:ext cx="7044853" cy="1326558"/>
              <a:chOff x="0" y="0"/>
              <a:chExt cx="1391576" cy="262036"/>
            </a:xfrm>
          </p:grpSpPr>
          <p:sp>
            <p:nvSpPr>
              <p:cNvPr name="Freeform 45" id="45"/>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F5918B"/>
              </a:solidFill>
            </p:spPr>
          </p:sp>
          <p:sp>
            <p:nvSpPr>
              <p:cNvPr name="TextBox 46" id="46"/>
              <p:cNvSpPr txBox="true"/>
              <p:nvPr/>
            </p:nvSpPr>
            <p:spPr>
              <a:xfrm>
                <a:off x="0" y="-85725"/>
                <a:ext cx="1391576" cy="347761"/>
              </a:xfrm>
              <a:prstGeom prst="rect">
                <a:avLst/>
              </a:prstGeom>
            </p:spPr>
            <p:txBody>
              <a:bodyPr anchor="ctr" rtlCol="false" tIns="50800" lIns="50800" bIns="50800" rIns="50800"/>
              <a:lstStyle/>
              <a:p>
                <a:pPr algn="ctr">
                  <a:lnSpc>
                    <a:spcPts val="2659"/>
                  </a:lnSpc>
                </a:pPr>
              </a:p>
            </p:txBody>
          </p:sp>
        </p:grpSp>
        <p:sp>
          <p:nvSpPr>
            <p:cNvPr name="TextBox 47" id="47"/>
            <p:cNvSpPr txBox="true"/>
            <p:nvPr/>
          </p:nvSpPr>
          <p:spPr>
            <a:xfrm rot="0">
              <a:off x="409988" y="185970"/>
              <a:ext cx="6224877" cy="824865"/>
            </a:xfrm>
            <a:prstGeom prst="rect">
              <a:avLst/>
            </a:prstGeom>
          </p:spPr>
          <p:txBody>
            <a:bodyPr anchor="t" rtlCol="false" tIns="0" lIns="0" bIns="0" rIns="0">
              <a:spAutoFit/>
            </a:bodyPr>
            <a:lstStyle/>
            <a:p>
              <a:pPr algn="ctr" marL="0" indent="0" lvl="0">
                <a:lnSpc>
                  <a:spcPts val="4620"/>
                </a:lnSpc>
                <a:spcBef>
                  <a:spcPct val="0"/>
                </a:spcBef>
              </a:pPr>
              <a:r>
                <a:rPr lang="en-US" b="true" sz="3300" strike="noStrike" u="none">
                  <a:solidFill>
                    <a:srgbClr val="FEF6F4"/>
                  </a:solidFill>
                  <a:latin typeface="Agrandir Medium"/>
                  <a:ea typeface="Agrandir Medium"/>
                  <a:cs typeface="Agrandir Medium"/>
                  <a:sym typeface="Agrandir Medium"/>
                </a:rPr>
                <a:t>MAE: 2.50</a:t>
              </a:r>
            </a:p>
          </p:txBody>
        </p:sp>
      </p:grpSp>
      <p:grpSp>
        <p:nvGrpSpPr>
          <p:cNvPr name="Group 48" id="48"/>
          <p:cNvGrpSpPr/>
          <p:nvPr/>
        </p:nvGrpSpPr>
        <p:grpSpPr>
          <a:xfrm rot="0">
            <a:off x="12310677" y="4788603"/>
            <a:ext cx="5283640" cy="994918"/>
            <a:chOff x="0" y="0"/>
            <a:chExt cx="1391576" cy="262036"/>
          </a:xfrm>
        </p:grpSpPr>
        <p:sp>
          <p:nvSpPr>
            <p:cNvPr name="Freeform 49" id="49"/>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EF913F"/>
            </a:solidFill>
          </p:spPr>
        </p:sp>
        <p:sp>
          <p:nvSpPr>
            <p:cNvPr name="TextBox 50" id="50"/>
            <p:cNvSpPr txBox="true"/>
            <p:nvPr/>
          </p:nvSpPr>
          <p:spPr>
            <a:xfrm>
              <a:off x="0" y="-85725"/>
              <a:ext cx="1391576" cy="347761"/>
            </a:xfrm>
            <a:prstGeom prst="rect">
              <a:avLst/>
            </a:prstGeom>
          </p:spPr>
          <p:txBody>
            <a:bodyPr anchor="ctr" rtlCol="false" tIns="50800" lIns="50800" bIns="50800" rIns="50800"/>
            <a:lstStyle/>
            <a:p>
              <a:pPr algn="ctr">
                <a:lnSpc>
                  <a:spcPts val="2659"/>
                </a:lnSpc>
              </a:pPr>
            </a:p>
          </p:txBody>
        </p:sp>
      </p:grpSp>
      <p:sp>
        <p:nvSpPr>
          <p:cNvPr name="TextBox 51" id="51"/>
          <p:cNvSpPr txBox="true"/>
          <p:nvPr/>
        </p:nvSpPr>
        <p:spPr>
          <a:xfrm rot="0">
            <a:off x="12618168" y="4887599"/>
            <a:ext cx="4668658" cy="659130"/>
          </a:xfrm>
          <a:prstGeom prst="rect">
            <a:avLst/>
          </a:prstGeom>
        </p:spPr>
        <p:txBody>
          <a:bodyPr anchor="t" rtlCol="false" tIns="0" lIns="0" bIns="0" rIns="0">
            <a:spAutoFit/>
          </a:bodyPr>
          <a:lstStyle/>
          <a:p>
            <a:pPr algn="ctr">
              <a:lnSpc>
                <a:spcPts val="4620"/>
              </a:lnSpc>
            </a:pPr>
            <a:r>
              <a:rPr lang="en-US" sz="3300" b="true">
                <a:solidFill>
                  <a:srgbClr val="FEF6F4"/>
                </a:solidFill>
                <a:latin typeface="Agrandir Medium"/>
                <a:ea typeface="Agrandir Medium"/>
                <a:cs typeface="Agrandir Medium"/>
                <a:sym typeface="Agrandir Medium"/>
              </a:rPr>
              <a:t>MSE: 39.61</a:t>
            </a:r>
          </a:p>
        </p:txBody>
      </p:sp>
      <p:grpSp>
        <p:nvGrpSpPr>
          <p:cNvPr name="Group 52" id="52"/>
          <p:cNvGrpSpPr/>
          <p:nvPr/>
        </p:nvGrpSpPr>
        <p:grpSpPr>
          <a:xfrm rot="0">
            <a:off x="12310677" y="8342674"/>
            <a:ext cx="5283640" cy="994918"/>
            <a:chOff x="0" y="0"/>
            <a:chExt cx="7044853" cy="1326558"/>
          </a:xfrm>
        </p:grpSpPr>
        <p:grpSp>
          <p:nvGrpSpPr>
            <p:cNvPr name="Group 53" id="53"/>
            <p:cNvGrpSpPr/>
            <p:nvPr/>
          </p:nvGrpSpPr>
          <p:grpSpPr>
            <a:xfrm rot="0">
              <a:off x="0" y="0"/>
              <a:ext cx="7044853" cy="1326558"/>
              <a:chOff x="0" y="0"/>
              <a:chExt cx="1391576" cy="262036"/>
            </a:xfrm>
          </p:grpSpPr>
          <p:sp>
            <p:nvSpPr>
              <p:cNvPr name="Freeform 54" id="54"/>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EF913F"/>
              </a:solidFill>
              <a:ln cap="rnd">
                <a:noFill/>
                <a:prstDash val="solid"/>
                <a:round/>
              </a:ln>
            </p:spPr>
          </p:sp>
          <p:sp>
            <p:nvSpPr>
              <p:cNvPr name="TextBox 55" id="55"/>
              <p:cNvSpPr txBox="true"/>
              <p:nvPr/>
            </p:nvSpPr>
            <p:spPr>
              <a:xfrm>
                <a:off x="0" y="-85725"/>
                <a:ext cx="1391576" cy="34776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6" id="56"/>
            <p:cNvSpPr txBox="true"/>
            <p:nvPr/>
          </p:nvSpPr>
          <p:spPr>
            <a:xfrm rot="0">
              <a:off x="205681" y="182516"/>
              <a:ext cx="6634865" cy="824865"/>
            </a:xfrm>
            <a:prstGeom prst="rect">
              <a:avLst/>
            </a:prstGeom>
          </p:spPr>
          <p:txBody>
            <a:bodyPr anchor="t" rtlCol="false" tIns="0" lIns="0" bIns="0" rIns="0">
              <a:spAutoFit/>
            </a:bodyPr>
            <a:lstStyle/>
            <a:p>
              <a:pPr algn="ctr">
                <a:lnSpc>
                  <a:spcPts val="4620"/>
                </a:lnSpc>
              </a:pPr>
              <a:r>
                <a:rPr lang="en-US" sz="3300" b="true">
                  <a:solidFill>
                    <a:srgbClr val="FEF6F4"/>
                  </a:solidFill>
                  <a:latin typeface="Agrandir Medium"/>
                  <a:ea typeface="Agrandir Medium"/>
                  <a:cs typeface="Agrandir Medium"/>
                  <a:sym typeface="Agrandir Medium"/>
                </a:rPr>
                <a:t>R-Squared: 0.46</a:t>
              </a:r>
            </a:p>
          </p:txBody>
        </p:sp>
      </p:grpSp>
      <p:grpSp>
        <p:nvGrpSpPr>
          <p:cNvPr name="Group 57" id="57"/>
          <p:cNvGrpSpPr/>
          <p:nvPr/>
        </p:nvGrpSpPr>
        <p:grpSpPr>
          <a:xfrm rot="0">
            <a:off x="12310677" y="5974021"/>
            <a:ext cx="5283640" cy="994918"/>
            <a:chOff x="0" y="0"/>
            <a:chExt cx="7044853" cy="1326558"/>
          </a:xfrm>
        </p:grpSpPr>
        <p:grpSp>
          <p:nvGrpSpPr>
            <p:cNvPr name="Group 58" id="58"/>
            <p:cNvGrpSpPr/>
            <p:nvPr/>
          </p:nvGrpSpPr>
          <p:grpSpPr>
            <a:xfrm rot="0">
              <a:off x="0" y="0"/>
              <a:ext cx="7044853" cy="1326558"/>
              <a:chOff x="0" y="0"/>
              <a:chExt cx="1391576" cy="262036"/>
            </a:xfrm>
          </p:grpSpPr>
          <p:sp>
            <p:nvSpPr>
              <p:cNvPr name="Freeform 59" id="59"/>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EF913F"/>
              </a:solidFill>
            </p:spPr>
          </p:sp>
          <p:sp>
            <p:nvSpPr>
              <p:cNvPr name="TextBox 60" id="60"/>
              <p:cNvSpPr txBox="true"/>
              <p:nvPr/>
            </p:nvSpPr>
            <p:spPr>
              <a:xfrm>
                <a:off x="0" y="-85725"/>
                <a:ext cx="1391576" cy="347761"/>
              </a:xfrm>
              <a:prstGeom prst="rect">
                <a:avLst/>
              </a:prstGeom>
            </p:spPr>
            <p:txBody>
              <a:bodyPr anchor="ctr" rtlCol="false" tIns="50800" lIns="50800" bIns="50800" rIns="50800"/>
              <a:lstStyle/>
              <a:p>
                <a:pPr algn="ctr">
                  <a:lnSpc>
                    <a:spcPts val="2659"/>
                  </a:lnSpc>
                </a:pPr>
              </a:p>
            </p:txBody>
          </p:sp>
        </p:grpSp>
        <p:sp>
          <p:nvSpPr>
            <p:cNvPr name="TextBox 61" id="61"/>
            <p:cNvSpPr txBox="true"/>
            <p:nvPr/>
          </p:nvSpPr>
          <p:spPr>
            <a:xfrm rot="0">
              <a:off x="409988" y="185970"/>
              <a:ext cx="6224877" cy="824865"/>
            </a:xfrm>
            <a:prstGeom prst="rect">
              <a:avLst/>
            </a:prstGeom>
          </p:spPr>
          <p:txBody>
            <a:bodyPr anchor="t" rtlCol="false" tIns="0" lIns="0" bIns="0" rIns="0">
              <a:spAutoFit/>
            </a:bodyPr>
            <a:lstStyle/>
            <a:p>
              <a:pPr algn="ctr">
                <a:lnSpc>
                  <a:spcPts val="4620"/>
                </a:lnSpc>
              </a:pPr>
              <a:r>
                <a:rPr lang="en-US" sz="3300" b="true">
                  <a:solidFill>
                    <a:srgbClr val="FEF6F4"/>
                  </a:solidFill>
                  <a:latin typeface="Agrandir Medium"/>
                  <a:ea typeface="Agrandir Medium"/>
                  <a:cs typeface="Agrandir Medium"/>
                  <a:sym typeface="Agrandir Medium"/>
                </a:rPr>
                <a:t>RMSE: 6.29</a:t>
              </a:r>
            </a:p>
          </p:txBody>
        </p:sp>
      </p:grpSp>
      <p:grpSp>
        <p:nvGrpSpPr>
          <p:cNvPr name="Group 62" id="62"/>
          <p:cNvGrpSpPr/>
          <p:nvPr/>
        </p:nvGrpSpPr>
        <p:grpSpPr>
          <a:xfrm rot="0">
            <a:off x="12310677" y="3588668"/>
            <a:ext cx="5283640" cy="994918"/>
            <a:chOff x="0" y="0"/>
            <a:chExt cx="1391576" cy="262036"/>
          </a:xfrm>
        </p:grpSpPr>
        <p:sp>
          <p:nvSpPr>
            <p:cNvPr name="Freeform 63" id="63"/>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6F7351"/>
            </a:solidFill>
          </p:spPr>
        </p:sp>
        <p:sp>
          <p:nvSpPr>
            <p:cNvPr name="TextBox 64" id="64"/>
            <p:cNvSpPr txBox="true"/>
            <p:nvPr/>
          </p:nvSpPr>
          <p:spPr>
            <a:xfrm>
              <a:off x="0" y="-85725"/>
              <a:ext cx="1391576" cy="347761"/>
            </a:xfrm>
            <a:prstGeom prst="rect">
              <a:avLst/>
            </a:prstGeom>
          </p:spPr>
          <p:txBody>
            <a:bodyPr anchor="ctr" rtlCol="false" tIns="50800" lIns="50800" bIns="50800" rIns="50800"/>
            <a:lstStyle/>
            <a:p>
              <a:pPr algn="ctr">
                <a:lnSpc>
                  <a:spcPts val="2659"/>
                </a:lnSpc>
              </a:pPr>
            </a:p>
          </p:txBody>
        </p:sp>
      </p:grpSp>
      <p:sp>
        <p:nvSpPr>
          <p:cNvPr name="TextBox 65" id="65"/>
          <p:cNvSpPr txBox="true"/>
          <p:nvPr/>
        </p:nvSpPr>
        <p:spPr>
          <a:xfrm rot="0">
            <a:off x="12618168" y="3687665"/>
            <a:ext cx="4668658" cy="692150"/>
          </a:xfrm>
          <a:prstGeom prst="rect">
            <a:avLst/>
          </a:prstGeom>
        </p:spPr>
        <p:txBody>
          <a:bodyPr anchor="t" rtlCol="false" tIns="0" lIns="0" bIns="0" rIns="0">
            <a:spAutoFit/>
          </a:bodyPr>
          <a:lstStyle/>
          <a:p>
            <a:pPr algn="ctr">
              <a:lnSpc>
                <a:spcPts val="4899"/>
              </a:lnSpc>
            </a:pPr>
            <a:r>
              <a:rPr lang="en-US" sz="3499" b="true">
                <a:solidFill>
                  <a:srgbClr val="FFFFFF"/>
                </a:solidFill>
                <a:latin typeface="Agrandir Bold"/>
                <a:ea typeface="Agrandir Bold"/>
                <a:cs typeface="Agrandir Bold"/>
                <a:sym typeface="Agrandir Bold"/>
              </a:rPr>
              <a:t>Test</a:t>
            </a:r>
          </a:p>
        </p:txBody>
      </p:sp>
      <p:grpSp>
        <p:nvGrpSpPr>
          <p:cNvPr name="Group 66" id="66"/>
          <p:cNvGrpSpPr/>
          <p:nvPr/>
        </p:nvGrpSpPr>
        <p:grpSpPr>
          <a:xfrm rot="0">
            <a:off x="12311192" y="7159439"/>
            <a:ext cx="5283640" cy="994918"/>
            <a:chOff x="0" y="0"/>
            <a:chExt cx="7044853" cy="1326558"/>
          </a:xfrm>
        </p:grpSpPr>
        <p:grpSp>
          <p:nvGrpSpPr>
            <p:cNvPr name="Group 67" id="67"/>
            <p:cNvGrpSpPr/>
            <p:nvPr/>
          </p:nvGrpSpPr>
          <p:grpSpPr>
            <a:xfrm rot="0">
              <a:off x="0" y="0"/>
              <a:ext cx="7044853" cy="1326558"/>
              <a:chOff x="0" y="0"/>
              <a:chExt cx="1391576" cy="262036"/>
            </a:xfrm>
          </p:grpSpPr>
          <p:sp>
            <p:nvSpPr>
              <p:cNvPr name="Freeform 68" id="68"/>
              <p:cNvSpPr/>
              <p:nvPr/>
            </p:nvSpPr>
            <p:spPr>
              <a:xfrm flipH="false" flipV="false" rot="0">
                <a:off x="0" y="0"/>
                <a:ext cx="1391576" cy="262036"/>
              </a:xfrm>
              <a:custGeom>
                <a:avLst/>
                <a:gdLst/>
                <a:ahLst/>
                <a:cxnLst/>
                <a:rect r="r" b="b" t="t" l="l"/>
                <a:pathLst>
                  <a:path h="262036" w="1391576">
                    <a:moveTo>
                      <a:pt x="131018" y="0"/>
                    </a:moveTo>
                    <a:lnTo>
                      <a:pt x="1260558" y="0"/>
                    </a:lnTo>
                    <a:cubicBezTo>
                      <a:pt x="1332917" y="0"/>
                      <a:pt x="1391576" y="58659"/>
                      <a:pt x="1391576" y="131018"/>
                    </a:cubicBezTo>
                    <a:lnTo>
                      <a:pt x="1391576" y="131018"/>
                    </a:lnTo>
                    <a:cubicBezTo>
                      <a:pt x="1391576" y="203377"/>
                      <a:pt x="1332917" y="262036"/>
                      <a:pt x="1260558" y="262036"/>
                    </a:cubicBezTo>
                    <a:lnTo>
                      <a:pt x="131018" y="262036"/>
                    </a:lnTo>
                    <a:cubicBezTo>
                      <a:pt x="58659" y="262036"/>
                      <a:pt x="0" y="203377"/>
                      <a:pt x="0" y="131018"/>
                    </a:cubicBezTo>
                    <a:lnTo>
                      <a:pt x="0" y="131018"/>
                    </a:lnTo>
                    <a:cubicBezTo>
                      <a:pt x="0" y="58659"/>
                      <a:pt x="58659" y="0"/>
                      <a:pt x="131018" y="0"/>
                    </a:cubicBezTo>
                    <a:close/>
                  </a:path>
                </a:pathLst>
              </a:custGeom>
              <a:solidFill>
                <a:srgbClr val="EF913F"/>
              </a:solidFill>
            </p:spPr>
          </p:sp>
          <p:sp>
            <p:nvSpPr>
              <p:cNvPr name="TextBox 69" id="69"/>
              <p:cNvSpPr txBox="true"/>
              <p:nvPr/>
            </p:nvSpPr>
            <p:spPr>
              <a:xfrm>
                <a:off x="0" y="-85725"/>
                <a:ext cx="1391576" cy="347761"/>
              </a:xfrm>
              <a:prstGeom prst="rect">
                <a:avLst/>
              </a:prstGeom>
            </p:spPr>
            <p:txBody>
              <a:bodyPr anchor="ctr" rtlCol="false" tIns="50800" lIns="50800" bIns="50800" rIns="50800"/>
              <a:lstStyle/>
              <a:p>
                <a:pPr algn="ctr">
                  <a:lnSpc>
                    <a:spcPts val="2659"/>
                  </a:lnSpc>
                </a:pPr>
              </a:p>
            </p:txBody>
          </p:sp>
        </p:grpSp>
        <p:sp>
          <p:nvSpPr>
            <p:cNvPr name="TextBox 70" id="70"/>
            <p:cNvSpPr txBox="true"/>
            <p:nvPr/>
          </p:nvSpPr>
          <p:spPr>
            <a:xfrm rot="0">
              <a:off x="409988" y="185970"/>
              <a:ext cx="6224877" cy="824865"/>
            </a:xfrm>
            <a:prstGeom prst="rect">
              <a:avLst/>
            </a:prstGeom>
          </p:spPr>
          <p:txBody>
            <a:bodyPr anchor="t" rtlCol="false" tIns="0" lIns="0" bIns="0" rIns="0">
              <a:spAutoFit/>
            </a:bodyPr>
            <a:lstStyle/>
            <a:p>
              <a:pPr algn="ctr">
                <a:lnSpc>
                  <a:spcPts val="4620"/>
                </a:lnSpc>
              </a:pPr>
              <a:r>
                <a:rPr lang="en-US" sz="3300" b="true">
                  <a:solidFill>
                    <a:srgbClr val="FFFFFF"/>
                  </a:solidFill>
                  <a:latin typeface="Agrandir Medium"/>
                  <a:ea typeface="Agrandir Medium"/>
                  <a:cs typeface="Agrandir Medium"/>
                  <a:sym typeface="Agrandir Medium"/>
                </a:rPr>
                <a:t>MAE: 4.49</a:t>
              </a:r>
            </a:p>
          </p:txBody>
        </p:sp>
      </p:grpSp>
      <p:sp>
        <p:nvSpPr>
          <p:cNvPr name="TextBox 71" id="71"/>
          <p:cNvSpPr txBox="true"/>
          <p:nvPr/>
        </p:nvSpPr>
        <p:spPr>
          <a:xfrm rot="0">
            <a:off x="1930460" y="636065"/>
            <a:ext cx="14427079" cy="1763643"/>
          </a:xfrm>
          <a:prstGeom prst="rect">
            <a:avLst/>
          </a:prstGeom>
        </p:spPr>
        <p:txBody>
          <a:bodyPr anchor="t" rtlCol="false" tIns="0" lIns="0" bIns="0" rIns="0">
            <a:spAutoFit/>
          </a:bodyPr>
          <a:lstStyle/>
          <a:p>
            <a:pPr algn="ctr" marL="0" indent="0" lvl="0">
              <a:lnSpc>
                <a:spcPts val="7293"/>
              </a:lnSpc>
            </a:pPr>
            <a:r>
              <a:rPr lang="en-US" sz="3900">
                <a:solidFill>
                  <a:srgbClr val="E5654D"/>
                </a:solidFill>
                <a:latin typeface="TAN Songbird"/>
                <a:ea typeface="TAN Songbird"/>
                <a:cs typeface="TAN Songbird"/>
                <a:sym typeface="TAN Songbird"/>
              </a:rPr>
              <a:t>MAAŞ EŞİTSİZLİĞİ MODELİ BAŞARI METRİKLERİ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D9CE"/>
        </a:solidFill>
      </p:bgPr>
    </p:bg>
    <p:spTree>
      <p:nvGrpSpPr>
        <p:cNvPr id="1" name=""/>
        <p:cNvGrpSpPr/>
        <p:nvPr/>
      </p:nvGrpSpPr>
      <p:grpSpPr>
        <a:xfrm>
          <a:off x="0" y="0"/>
          <a:ext cx="0" cy="0"/>
          <a:chOff x="0" y="0"/>
          <a:chExt cx="0" cy="0"/>
        </a:xfrm>
      </p:grpSpPr>
      <p:grpSp>
        <p:nvGrpSpPr>
          <p:cNvPr name="Group 2" id="2"/>
          <p:cNvGrpSpPr/>
          <p:nvPr/>
        </p:nvGrpSpPr>
        <p:grpSpPr>
          <a:xfrm rot="0">
            <a:off x="1168612" y="1125213"/>
            <a:ext cx="15950775" cy="8342199"/>
            <a:chOff x="0" y="0"/>
            <a:chExt cx="4201027" cy="2197122"/>
          </a:xfrm>
        </p:grpSpPr>
        <p:sp>
          <p:nvSpPr>
            <p:cNvPr name="Freeform 3" id="3"/>
            <p:cNvSpPr/>
            <p:nvPr/>
          </p:nvSpPr>
          <p:spPr>
            <a:xfrm flipH="false" flipV="false" rot="0">
              <a:off x="0" y="0"/>
              <a:ext cx="4201027" cy="2197122"/>
            </a:xfrm>
            <a:custGeom>
              <a:avLst/>
              <a:gdLst/>
              <a:ahLst/>
              <a:cxnLst/>
              <a:rect r="r" b="b" t="t" l="l"/>
              <a:pathLst>
                <a:path h="2197122" w="4201027">
                  <a:moveTo>
                    <a:pt x="24754" y="0"/>
                  </a:moveTo>
                  <a:lnTo>
                    <a:pt x="4176274" y="0"/>
                  </a:lnTo>
                  <a:cubicBezTo>
                    <a:pt x="4189945" y="0"/>
                    <a:pt x="4201027" y="11083"/>
                    <a:pt x="4201027" y="24754"/>
                  </a:cubicBezTo>
                  <a:lnTo>
                    <a:pt x="4201027" y="2172369"/>
                  </a:lnTo>
                  <a:cubicBezTo>
                    <a:pt x="4201027" y="2186040"/>
                    <a:pt x="4189945" y="2197122"/>
                    <a:pt x="4176274" y="2197122"/>
                  </a:cubicBezTo>
                  <a:lnTo>
                    <a:pt x="24754" y="2197122"/>
                  </a:lnTo>
                  <a:cubicBezTo>
                    <a:pt x="11083" y="2197122"/>
                    <a:pt x="0" y="2186040"/>
                    <a:pt x="0" y="2172369"/>
                  </a:cubicBezTo>
                  <a:lnTo>
                    <a:pt x="0" y="24754"/>
                  </a:lnTo>
                  <a:cubicBezTo>
                    <a:pt x="0" y="11083"/>
                    <a:pt x="11083" y="0"/>
                    <a:pt x="24754" y="0"/>
                  </a:cubicBezTo>
                  <a:close/>
                </a:path>
              </a:pathLst>
            </a:custGeom>
            <a:solidFill>
              <a:srgbClr val="FFFFFF"/>
            </a:solidFill>
          </p:spPr>
        </p:sp>
        <p:sp>
          <p:nvSpPr>
            <p:cNvPr name="TextBox 4" id="4"/>
            <p:cNvSpPr txBox="true"/>
            <p:nvPr/>
          </p:nvSpPr>
          <p:spPr>
            <a:xfrm>
              <a:off x="0" y="-85725"/>
              <a:ext cx="4201027" cy="2282847"/>
            </a:xfrm>
            <a:prstGeom prst="rect">
              <a:avLst/>
            </a:prstGeom>
          </p:spPr>
          <p:txBody>
            <a:bodyPr anchor="ctr" rtlCol="false" tIns="50800" lIns="50800" bIns="50800" rIns="50800"/>
            <a:lstStyle/>
            <a:p>
              <a:pPr algn="ctr">
                <a:lnSpc>
                  <a:spcPts val="2511"/>
                </a:lnSpc>
              </a:pPr>
            </a:p>
          </p:txBody>
        </p:sp>
      </p:grpSp>
      <p:grpSp>
        <p:nvGrpSpPr>
          <p:cNvPr name="Group 5" id="5"/>
          <p:cNvGrpSpPr/>
          <p:nvPr/>
        </p:nvGrpSpPr>
        <p:grpSpPr>
          <a:xfrm rot="0">
            <a:off x="609498" y="548940"/>
            <a:ext cx="17069005" cy="1542923"/>
            <a:chOff x="0" y="0"/>
            <a:chExt cx="22758673" cy="2057231"/>
          </a:xfrm>
        </p:grpSpPr>
        <p:grpSp>
          <p:nvGrpSpPr>
            <p:cNvPr name="Group 6" id="6"/>
            <p:cNvGrpSpPr/>
            <p:nvPr/>
          </p:nvGrpSpPr>
          <p:grpSpPr>
            <a:xfrm rot="0">
              <a:off x="0" y="0"/>
              <a:ext cx="22758673" cy="2057231"/>
              <a:chOff x="0" y="0"/>
              <a:chExt cx="4495540" cy="406367"/>
            </a:xfrm>
          </p:grpSpPr>
          <p:sp>
            <p:nvSpPr>
              <p:cNvPr name="Freeform 7" id="7"/>
              <p:cNvSpPr/>
              <p:nvPr/>
            </p:nvSpPr>
            <p:spPr>
              <a:xfrm flipH="false" flipV="false" rot="0">
                <a:off x="0" y="0"/>
                <a:ext cx="4495540" cy="406367"/>
              </a:xfrm>
              <a:custGeom>
                <a:avLst/>
                <a:gdLst/>
                <a:ahLst/>
                <a:cxnLst/>
                <a:rect r="r" b="b" t="t" l="l"/>
                <a:pathLst>
                  <a:path h="406367" w="4495540">
                    <a:moveTo>
                      <a:pt x="23132" y="0"/>
                    </a:moveTo>
                    <a:lnTo>
                      <a:pt x="4472408" y="0"/>
                    </a:lnTo>
                    <a:cubicBezTo>
                      <a:pt x="4485184" y="0"/>
                      <a:pt x="4495540" y="10356"/>
                      <a:pt x="4495540" y="23132"/>
                    </a:cubicBezTo>
                    <a:lnTo>
                      <a:pt x="4495540" y="383235"/>
                    </a:lnTo>
                    <a:cubicBezTo>
                      <a:pt x="4495540" y="389370"/>
                      <a:pt x="4493103" y="395253"/>
                      <a:pt x="4488765" y="399591"/>
                    </a:cubicBezTo>
                    <a:cubicBezTo>
                      <a:pt x="4484427" y="403930"/>
                      <a:pt x="4478543" y="406367"/>
                      <a:pt x="4472408" y="406367"/>
                    </a:cubicBezTo>
                    <a:lnTo>
                      <a:pt x="23132" y="406367"/>
                    </a:lnTo>
                    <a:cubicBezTo>
                      <a:pt x="16997" y="406367"/>
                      <a:pt x="11113" y="403930"/>
                      <a:pt x="6775" y="399591"/>
                    </a:cubicBezTo>
                    <a:cubicBezTo>
                      <a:pt x="2437" y="395253"/>
                      <a:pt x="0" y="389370"/>
                      <a:pt x="0" y="383235"/>
                    </a:cubicBezTo>
                    <a:lnTo>
                      <a:pt x="0" y="23132"/>
                    </a:lnTo>
                    <a:cubicBezTo>
                      <a:pt x="0" y="16997"/>
                      <a:pt x="2437" y="11113"/>
                      <a:pt x="6775" y="6775"/>
                    </a:cubicBezTo>
                    <a:cubicBezTo>
                      <a:pt x="11113" y="2437"/>
                      <a:pt x="16997" y="0"/>
                      <a:pt x="23132" y="0"/>
                    </a:cubicBezTo>
                    <a:close/>
                  </a:path>
                </a:pathLst>
              </a:custGeom>
              <a:solidFill>
                <a:srgbClr val="6F7351"/>
              </a:solidFill>
              <a:ln cap="rnd">
                <a:noFill/>
                <a:prstDash val="solid"/>
                <a:round/>
              </a:ln>
            </p:spPr>
          </p:sp>
          <p:sp>
            <p:nvSpPr>
              <p:cNvPr name="TextBox 8" id="8"/>
              <p:cNvSpPr txBox="true"/>
              <p:nvPr/>
            </p:nvSpPr>
            <p:spPr>
              <a:xfrm>
                <a:off x="0" y="-76200"/>
                <a:ext cx="4495540" cy="482567"/>
              </a:xfrm>
              <a:prstGeom prst="rect">
                <a:avLst/>
              </a:prstGeom>
            </p:spPr>
            <p:txBody>
              <a:bodyPr anchor="ctr" rtlCol="false" tIns="50800" lIns="50800" bIns="50800" rIns="50800"/>
              <a:lstStyle/>
              <a:p>
                <a:pPr algn="ctr">
                  <a:lnSpc>
                    <a:spcPts val="2380"/>
                  </a:lnSpc>
                </a:pPr>
              </a:p>
            </p:txBody>
          </p:sp>
        </p:grpSp>
        <p:sp>
          <p:nvSpPr>
            <p:cNvPr name="TextBox 9" id="9"/>
            <p:cNvSpPr txBox="true"/>
            <p:nvPr/>
          </p:nvSpPr>
          <p:spPr>
            <a:xfrm rot="0">
              <a:off x="1324481" y="147870"/>
              <a:ext cx="20109711" cy="1599565"/>
            </a:xfrm>
            <a:prstGeom prst="rect">
              <a:avLst/>
            </a:prstGeom>
          </p:spPr>
          <p:txBody>
            <a:bodyPr anchor="t" rtlCol="false" tIns="0" lIns="0" bIns="0" rIns="0">
              <a:spAutoFit/>
            </a:bodyPr>
            <a:lstStyle/>
            <a:p>
              <a:pPr algn="ctr">
                <a:lnSpc>
                  <a:spcPts val="4620"/>
                </a:lnSpc>
              </a:pPr>
              <a:r>
                <a:rPr lang="en-US" sz="3300" b="true">
                  <a:solidFill>
                    <a:srgbClr val="FFFFFF"/>
                  </a:solidFill>
                  <a:latin typeface="Agrandir Heavy"/>
                  <a:ea typeface="Agrandir Heavy"/>
                  <a:cs typeface="Agrandir Heavy"/>
                  <a:sym typeface="Agrandir Heavy"/>
                </a:rPr>
                <a:t>Kadınların, işe yerleşebilmeleri için daha yüksek </a:t>
              </a:r>
            </a:p>
            <a:p>
              <a:pPr algn="ctr">
                <a:lnSpc>
                  <a:spcPts val="4620"/>
                </a:lnSpc>
              </a:pPr>
              <a:r>
                <a:rPr lang="en-US" sz="3300" b="true">
                  <a:solidFill>
                    <a:srgbClr val="FFFFFF"/>
                  </a:solidFill>
                  <a:latin typeface="Agrandir Heavy"/>
                  <a:ea typeface="Agrandir Heavy"/>
                  <a:cs typeface="Agrandir Heavy"/>
                  <a:sym typeface="Agrandir Heavy"/>
                </a:rPr>
                <a:t>not ortalamasına sahip olmaları bekleniyor.</a:t>
              </a:r>
            </a:p>
          </p:txBody>
        </p:sp>
      </p:grpSp>
      <p:sp>
        <p:nvSpPr>
          <p:cNvPr name="Freeform 10" id="10"/>
          <p:cNvSpPr/>
          <p:nvPr/>
        </p:nvSpPr>
        <p:spPr>
          <a:xfrm flipH="false" flipV="false" rot="0">
            <a:off x="927538" y="4011753"/>
            <a:ext cx="3945377" cy="4634804"/>
          </a:xfrm>
          <a:custGeom>
            <a:avLst/>
            <a:gdLst/>
            <a:ahLst/>
            <a:cxnLst/>
            <a:rect r="r" b="b" t="t" l="l"/>
            <a:pathLst>
              <a:path h="4634804" w="3945377">
                <a:moveTo>
                  <a:pt x="0" y="0"/>
                </a:moveTo>
                <a:lnTo>
                  <a:pt x="3945377" y="0"/>
                </a:lnTo>
                <a:lnTo>
                  <a:pt x="3945377" y="4634804"/>
                </a:lnTo>
                <a:lnTo>
                  <a:pt x="0" y="46348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6417513" y="2579448"/>
            <a:ext cx="10344328" cy="6503496"/>
          </a:xfrm>
          <a:custGeom>
            <a:avLst/>
            <a:gdLst/>
            <a:ahLst/>
            <a:cxnLst/>
            <a:rect r="r" b="b" t="t" l="l"/>
            <a:pathLst>
              <a:path h="6503496" w="10344328">
                <a:moveTo>
                  <a:pt x="0" y="0"/>
                </a:moveTo>
                <a:lnTo>
                  <a:pt x="10344328" y="0"/>
                </a:lnTo>
                <a:lnTo>
                  <a:pt x="10344328" y="6503496"/>
                </a:lnTo>
                <a:lnTo>
                  <a:pt x="0" y="6503496"/>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D9CE"/>
        </a:solidFill>
      </p:bgPr>
    </p:bg>
    <p:spTree>
      <p:nvGrpSpPr>
        <p:cNvPr id="1" name=""/>
        <p:cNvGrpSpPr/>
        <p:nvPr/>
      </p:nvGrpSpPr>
      <p:grpSpPr>
        <a:xfrm>
          <a:off x="0" y="0"/>
          <a:ext cx="0" cy="0"/>
          <a:chOff x="0" y="0"/>
          <a:chExt cx="0" cy="0"/>
        </a:xfrm>
      </p:grpSpPr>
      <p:grpSp>
        <p:nvGrpSpPr>
          <p:cNvPr name="Group 2" id="2"/>
          <p:cNvGrpSpPr/>
          <p:nvPr/>
        </p:nvGrpSpPr>
        <p:grpSpPr>
          <a:xfrm rot="0">
            <a:off x="202222" y="1028700"/>
            <a:ext cx="17883557" cy="8464153"/>
            <a:chOff x="0" y="0"/>
            <a:chExt cx="4710073" cy="2229242"/>
          </a:xfrm>
        </p:grpSpPr>
        <p:sp>
          <p:nvSpPr>
            <p:cNvPr name="Freeform 3" id="3"/>
            <p:cNvSpPr/>
            <p:nvPr/>
          </p:nvSpPr>
          <p:spPr>
            <a:xfrm flipH="false" flipV="false" rot="0">
              <a:off x="0" y="0"/>
              <a:ext cx="4710073" cy="2229242"/>
            </a:xfrm>
            <a:custGeom>
              <a:avLst/>
              <a:gdLst/>
              <a:ahLst/>
              <a:cxnLst/>
              <a:rect r="r" b="b" t="t" l="l"/>
              <a:pathLst>
                <a:path h="2229242" w="4710073">
                  <a:moveTo>
                    <a:pt x="22078" y="0"/>
                  </a:moveTo>
                  <a:lnTo>
                    <a:pt x="4687994" y="0"/>
                  </a:lnTo>
                  <a:cubicBezTo>
                    <a:pt x="4700188" y="0"/>
                    <a:pt x="4710073" y="9885"/>
                    <a:pt x="4710073" y="22078"/>
                  </a:cubicBezTo>
                  <a:lnTo>
                    <a:pt x="4710073" y="2207164"/>
                  </a:lnTo>
                  <a:cubicBezTo>
                    <a:pt x="4710073" y="2219357"/>
                    <a:pt x="4700188" y="2229242"/>
                    <a:pt x="4687994" y="2229242"/>
                  </a:cubicBezTo>
                  <a:lnTo>
                    <a:pt x="22078" y="2229242"/>
                  </a:lnTo>
                  <a:cubicBezTo>
                    <a:pt x="9885" y="2229242"/>
                    <a:pt x="0" y="2219357"/>
                    <a:pt x="0" y="2207164"/>
                  </a:cubicBezTo>
                  <a:lnTo>
                    <a:pt x="0" y="22078"/>
                  </a:lnTo>
                  <a:cubicBezTo>
                    <a:pt x="0" y="9885"/>
                    <a:pt x="9885" y="0"/>
                    <a:pt x="22078" y="0"/>
                  </a:cubicBezTo>
                  <a:close/>
                </a:path>
              </a:pathLst>
            </a:custGeom>
            <a:solidFill>
              <a:srgbClr val="FFFFFF"/>
            </a:solidFill>
            <a:ln cap="rnd">
              <a:noFill/>
              <a:prstDash val="solid"/>
              <a:round/>
            </a:ln>
          </p:spPr>
        </p:sp>
        <p:sp>
          <p:nvSpPr>
            <p:cNvPr name="TextBox 4" id="4"/>
            <p:cNvSpPr txBox="true"/>
            <p:nvPr/>
          </p:nvSpPr>
          <p:spPr>
            <a:xfrm>
              <a:off x="0" y="-85725"/>
              <a:ext cx="4710073" cy="23149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277968" y="1826911"/>
            <a:ext cx="6782307" cy="6817293"/>
            <a:chOff x="0" y="0"/>
            <a:chExt cx="9043076" cy="9089725"/>
          </a:xfrm>
        </p:grpSpPr>
        <p:sp>
          <p:nvSpPr>
            <p:cNvPr name="Freeform 6" id="6"/>
            <p:cNvSpPr/>
            <p:nvPr/>
          </p:nvSpPr>
          <p:spPr>
            <a:xfrm flipH="false" flipV="false" rot="0">
              <a:off x="0" y="0"/>
              <a:ext cx="9043076" cy="9089725"/>
            </a:xfrm>
            <a:custGeom>
              <a:avLst/>
              <a:gdLst/>
              <a:ahLst/>
              <a:cxnLst/>
              <a:rect r="r" b="b" t="t" l="l"/>
              <a:pathLst>
                <a:path h="9089725" w="9043076">
                  <a:moveTo>
                    <a:pt x="0" y="0"/>
                  </a:moveTo>
                  <a:lnTo>
                    <a:pt x="9043076" y="0"/>
                  </a:lnTo>
                  <a:lnTo>
                    <a:pt x="9043076" y="9089725"/>
                  </a:lnTo>
                  <a:lnTo>
                    <a:pt x="0" y="9089725"/>
                  </a:lnTo>
                  <a:lnTo>
                    <a:pt x="0" y="0"/>
                  </a:lnTo>
                  <a:close/>
                </a:path>
              </a:pathLst>
            </a:custGeom>
            <a:blipFill>
              <a:blip r:embed="rId2"/>
              <a:stretch>
                <a:fillRect l="0" t="-935" r="0" b="0"/>
              </a:stretch>
            </a:blipFill>
          </p:spPr>
        </p:sp>
        <p:sp>
          <p:nvSpPr>
            <p:cNvPr name="Freeform 7" id="7"/>
            <p:cNvSpPr/>
            <p:nvPr/>
          </p:nvSpPr>
          <p:spPr>
            <a:xfrm flipH="false" flipV="false" rot="0">
              <a:off x="3093475" y="4685335"/>
              <a:ext cx="5721295" cy="2859082"/>
            </a:xfrm>
            <a:custGeom>
              <a:avLst/>
              <a:gdLst/>
              <a:ahLst/>
              <a:cxnLst/>
              <a:rect r="r" b="b" t="t" l="l"/>
              <a:pathLst>
                <a:path h="2859082" w="5721295">
                  <a:moveTo>
                    <a:pt x="0" y="0"/>
                  </a:moveTo>
                  <a:lnTo>
                    <a:pt x="5721295" y="0"/>
                  </a:lnTo>
                  <a:lnTo>
                    <a:pt x="5721295" y="2859082"/>
                  </a:lnTo>
                  <a:lnTo>
                    <a:pt x="0" y="2859082"/>
                  </a:lnTo>
                  <a:lnTo>
                    <a:pt x="0" y="0"/>
                  </a:lnTo>
                  <a:close/>
                </a:path>
              </a:pathLst>
            </a:custGeom>
            <a:blipFill>
              <a:blip r:embed="rId3"/>
              <a:stretch>
                <a:fillRect l="-965" t="0" r="-23578" b="-1857"/>
              </a:stretch>
            </a:blipFill>
          </p:spPr>
        </p:sp>
        <p:grpSp>
          <p:nvGrpSpPr>
            <p:cNvPr name="Group 8" id="8"/>
            <p:cNvGrpSpPr/>
            <p:nvPr/>
          </p:nvGrpSpPr>
          <p:grpSpPr>
            <a:xfrm rot="0">
              <a:off x="7924643" y="6460401"/>
              <a:ext cx="953963" cy="476982"/>
              <a:chOff x="0" y="0"/>
              <a:chExt cx="993140" cy="496570"/>
            </a:xfrm>
          </p:grpSpPr>
          <p:sp>
            <p:nvSpPr>
              <p:cNvPr name="Freeform 9" id="9"/>
              <p:cNvSpPr/>
              <p:nvPr/>
            </p:nvSpPr>
            <p:spPr>
              <a:xfrm flipH="false" flipV="false" rot="0">
                <a:off x="1270" y="-29210"/>
                <a:ext cx="1008380" cy="506730"/>
              </a:xfrm>
              <a:custGeom>
                <a:avLst/>
                <a:gdLst/>
                <a:ahLst/>
                <a:cxnLst/>
                <a:rect r="r" b="b" t="t" l="l"/>
                <a:pathLst>
                  <a:path h="506730" w="1008380">
                    <a:moveTo>
                      <a:pt x="941070" y="450850"/>
                    </a:moveTo>
                    <a:cubicBezTo>
                      <a:pt x="336550" y="455930"/>
                      <a:pt x="283210" y="469900"/>
                      <a:pt x="219710" y="472440"/>
                    </a:cubicBezTo>
                    <a:cubicBezTo>
                      <a:pt x="161290" y="476250"/>
                      <a:pt x="83820" y="506730"/>
                      <a:pt x="49530" y="473710"/>
                    </a:cubicBezTo>
                    <a:cubicBezTo>
                      <a:pt x="0" y="424180"/>
                      <a:pt x="1270" y="154940"/>
                      <a:pt x="49530" y="105410"/>
                    </a:cubicBezTo>
                    <a:cubicBezTo>
                      <a:pt x="83820" y="71120"/>
                      <a:pt x="158750" y="107950"/>
                      <a:pt x="217170" y="104140"/>
                    </a:cubicBezTo>
                    <a:cubicBezTo>
                      <a:pt x="280670" y="101600"/>
                      <a:pt x="335280" y="87630"/>
                      <a:pt x="417830" y="82550"/>
                    </a:cubicBezTo>
                    <a:cubicBezTo>
                      <a:pt x="551180" y="74930"/>
                      <a:pt x="861060" y="0"/>
                      <a:pt x="941070" y="80010"/>
                    </a:cubicBezTo>
                    <a:cubicBezTo>
                      <a:pt x="1008380" y="146050"/>
                      <a:pt x="941070" y="450850"/>
                      <a:pt x="941070" y="450850"/>
                    </a:cubicBezTo>
                  </a:path>
                </a:pathLst>
              </a:custGeom>
              <a:solidFill>
                <a:srgbClr val="EF2E52">
                  <a:alpha val="13333"/>
                </a:srgbClr>
              </a:solidFill>
              <a:ln cap="sq">
                <a:noFill/>
                <a:prstDash val="solid"/>
                <a:miter/>
              </a:ln>
            </p:spPr>
          </p:sp>
        </p:grpSp>
      </p:grpSp>
      <p:sp>
        <p:nvSpPr>
          <p:cNvPr name="TextBox 10" id="10"/>
          <p:cNvSpPr txBox="true"/>
          <p:nvPr/>
        </p:nvSpPr>
        <p:spPr>
          <a:xfrm rot="0">
            <a:off x="188397" y="550340"/>
            <a:ext cx="17842942" cy="839718"/>
          </a:xfrm>
          <a:prstGeom prst="rect">
            <a:avLst/>
          </a:prstGeom>
        </p:spPr>
        <p:txBody>
          <a:bodyPr anchor="t" rtlCol="false" tIns="0" lIns="0" bIns="0" rIns="0">
            <a:spAutoFit/>
          </a:bodyPr>
          <a:lstStyle/>
          <a:p>
            <a:pPr algn="ctr" marL="0" indent="0" lvl="0">
              <a:lnSpc>
                <a:spcPts val="7293"/>
              </a:lnSpc>
            </a:pPr>
            <a:r>
              <a:rPr lang="en-US" sz="3900">
                <a:solidFill>
                  <a:srgbClr val="E5654D"/>
                </a:solidFill>
                <a:latin typeface="TAN Songbird"/>
                <a:ea typeface="TAN Songbird"/>
                <a:cs typeface="TAN Songbird"/>
                <a:sym typeface="TAN Songbird"/>
              </a:rPr>
              <a:t>İŞE YERLEŞME MODEL METRİKLERİ</a:t>
            </a:r>
          </a:p>
        </p:txBody>
      </p:sp>
      <p:grpSp>
        <p:nvGrpSpPr>
          <p:cNvPr name="Group 11" id="11"/>
          <p:cNvGrpSpPr/>
          <p:nvPr/>
        </p:nvGrpSpPr>
        <p:grpSpPr>
          <a:xfrm rot="0">
            <a:off x="216822" y="1826911"/>
            <a:ext cx="11061146" cy="6817293"/>
            <a:chOff x="0" y="0"/>
            <a:chExt cx="14748195" cy="9089725"/>
          </a:xfrm>
        </p:grpSpPr>
        <p:sp>
          <p:nvSpPr>
            <p:cNvPr name="Freeform 12" id="12"/>
            <p:cNvSpPr/>
            <p:nvPr/>
          </p:nvSpPr>
          <p:spPr>
            <a:xfrm flipH="false" flipV="false" rot="0">
              <a:off x="0" y="0"/>
              <a:ext cx="14748195" cy="8061968"/>
            </a:xfrm>
            <a:custGeom>
              <a:avLst/>
              <a:gdLst/>
              <a:ahLst/>
              <a:cxnLst/>
              <a:rect r="r" b="b" t="t" l="l"/>
              <a:pathLst>
                <a:path h="8061968" w="14748195">
                  <a:moveTo>
                    <a:pt x="0" y="0"/>
                  </a:moveTo>
                  <a:lnTo>
                    <a:pt x="14748195" y="0"/>
                  </a:lnTo>
                  <a:lnTo>
                    <a:pt x="14748195" y="8061968"/>
                  </a:lnTo>
                  <a:lnTo>
                    <a:pt x="0" y="8061968"/>
                  </a:lnTo>
                  <a:lnTo>
                    <a:pt x="0" y="0"/>
                  </a:lnTo>
                  <a:close/>
                </a:path>
              </a:pathLst>
            </a:custGeom>
            <a:blipFill>
              <a:blip r:embed="rId4"/>
              <a:stretch>
                <a:fillRect l="-2685" t="-140" r="0" b="-754"/>
              </a:stretch>
            </a:blipFill>
          </p:spPr>
        </p:sp>
        <p:grpSp>
          <p:nvGrpSpPr>
            <p:cNvPr name="Group 13" id="13"/>
            <p:cNvGrpSpPr/>
            <p:nvPr/>
          </p:nvGrpSpPr>
          <p:grpSpPr>
            <a:xfrm rot="0">
              <a:off x="2057198" y="5131080"/>
              <a:ext cx="993140" cy="496570"/>
              <a:chOff x="0" y="0"/>
              <a:chExt cx="993140" cy="496570"/>
            </a:xfrm>
          </p:grpSpPr>
          <p:sp>
            <p:nvSpPr>
              <p:cNvPr name="Freeform 14" id="14"/>
              <p:cNvSpPr/>
              <p:nvPr/>
            </p:nvSpPr>
            <p:spPr>
              <a:xfrm flipH="false" flipV="false" rot="0">
                <a:off x="1270" y="-29210"/>
                <a:ext cx="1008380" cy="506730"/>
              </a:xfrm>
              <a:custGeom>
                <a:avLst/>
                <a:gdLst/>
                <a:ahLst/>
                <a:cxnLst/>
                <a:rect r="r" b="b" t="t" l="l"/>
                <a:pathLst>
                  <a:path h="506730" w="1008380">
                    <a:moveTo>
                      <a:pt x="941070" y="450850"/>
                    </a:moveTo>
                    <a:cubicBezTo>
                      <a:pt x="336550" y="455930"/>
                      <a:pt x="283210" y="469900"/>
                      <a:pt x="219710" y="472440"/>
                    </a:cubicBezTo>
                    <a:cubicBezTo>
                      <a:pt x="161290" y="476250"/>
                      <a:pt x="83820" y="506730"/>
                      <a:pt x="49530" y="473710"/>
                    </a:cubicBezTo>
                    <a:cubicBezTo>
                      <a:pt x="0" y="424180"/>
                      <a:pt x="1270" y="154940"/>
                      <a:pt x="49530" y="105410"/>
                    </a:cubicBezTo>
                    <a:cubicBezTo>
                      <a:pt x="83820" y="71120"/>
                      <a:pt x="158750" y="107950"/>
                      <a:pt x="217170" y="104140"/>
                    </a:cubicBezTo>
                    <a:cubicBezTo>
                      <a:pt x="280670" y="101600"/>
                      <a:pt x="335280" y="87630"/>
                      <a:pt x="417830" y="82550"/>
                    </a:cubicBezTo>
                    <a:cubicBezTo>
                      <a:pt x="551180" y="74930"/>
                      <a:pt x="861060" y="0"/>
                      <a:pt x="941070" y="80010"/>
                    </a:cubicBezTo>
                    <a:cubicBezTo>
                      <a:pt x="1008380" y="146050"/>
                      <a:pt x="941070" y="450850"/>
                      <a:pt x="941070" y="450850"/>
                    </a:cubicBezTo>
                  </a:path>
                </a:pathLst>
              </a:custGeom>
              <a:solidFill>
                <a:srgbClr val="EF2E52">
                  <a:alpha val="13333"/>
                </a:srgbClr>
              </a:solidFill>
              <a:ln cap="sq">
                <a:noFill/>
                <a:prstDash val="solid"/>
                <a:miter/>
              </a:ln>
            </p:spPr>
          </p:sp>
        </p:grpSp>
        <p:grpSp>
          <p:nvGrpSpPr>
            <p:cNvPr name="Group 15" id="15"/>
            <p:cNvGrpSpPr/>
            <p:nvPr/>
          </p:nvGrpSpPr>
          <p:grpSpPr>
            <a:xfrm rot="0">
              <a:off x="6573730" y="7724928"/>
              <a:ext cx="4114800" cy="1364797"/>
              <a:chOff x="0" y="0"/>
              <a:chExt cx="812800" cy="269589"/>
            </a:xfrm>
          </p:grpSpPr>
          <p:sp>
            <p:nvSpPr>
              <p:cNvPr name="Freeform 16" id="16"/>
              <p:cNvSpPr/>
              <p:nvPr/>
            </p:nvSpPr>
            <p:spPr>
              <a:xfrm flipH="false" flipV="false" rot="0">
                <a:off x="0" y="0"/>
                <a:ext cx="812800" cy="269589"/>
              </a:xfrm>
              <a:custGeom>
                <a:avLst/>
                <a:gdLst/>
                <a:ahLst/>
                <a:cxnLst/>
                <a:rect r="r" b="b" t="t" l="l"/>
                <a:pathLst>
                  <a:path h="269589" w="812800">
                    <a:moveTo>
                      <a:pt x="0" y="0"/>
                    </a:moveTo>
                    <a:lnTo>
                      <a:pt x="812800" y="0"/>
                    </a:lnTo>
                    <a:lnTo>
                      <a:pt x="812800" y="269589"/>
                    </a:lnTo>
                    <a:lnTo>
                      <a:pt x="0" y="269589"/>
                    </a:lnTo>
                    <a:close/>
                  </a:path>
                </a:pathLst>
              </a:custGeom>
              <a:solidFill>
                <a:srgbClr val="FFFFFF"/>
              </a:solidFill>
            </p:spPr>
          </p:sp>
          <p:sp>
            <p:nvSpPr>
              <p:cNvPr name="TextBox 17" id="17"/>
              <p:cNvSpPr txBox="true"/>
              <p:nvPr/>
            </p:nvSpPr>
            <p:spPr>
              <a:xfrm>
                <a:off x="0" y="-76200"/>
                <a:ext cx="812800" cy="345789"/>
              </a:xfrm>
              <a:prstGeom prst="rect">
                <a:avLst/>
              </a:prstGeom>
            </p:spPr>
            <p:txBody>
              <a:bodyPr anchor="ctr" rtlCol="false" tIns="50800" lIns="50800" bIns="50800" rIns="50800"/>
              <a:lstStyle/>
              <a:p>
                <a:pPr algn="ctr">
                  <a:lnSpc>
                    <a:spcPts val="2380"/>
                  </a:lnSpc>
                </a:pPr>
              </a:p>
            </p:txBody>
          </p:sp>
        </p:grpSp>
        <p:sp>
          <p:nvSpPr>
            <p:cNvPr name="TextBox 18" id="18"/>
            <p:cNvSpPr txBox="true"/>
            <p:nvPr/>
          </p:nvSpPr>
          <p:spPr>
            <a:xfrm rot="0">
              <a:off x="6497530" y="7757380"/>
              <a:ext cx="2335017" cy="330411"/>
            </a:xfrm>
            <a:prstGeom prst="rect">
              <a:avLst/>
            </a:prstGeom>
          </p:spPr>
          <p:txBody>
            <a:bodyPr anchor="t" rtlCol="false" tIns="0" lIns="0" bIns="0" rIns="0">
              <a:spAutoFit/>
            </a:bodyPr>
            <a:lstStyle/>
            <a:p>
              <a:pPr algn="ctr">
                <a:lnSpc>
                  <a:spcPts val="1960"/>
                </a:lnSpc>
                <a:spcBef>
                  <a:spcPct val="0"/>
                </a:spcBef>
              </a:pPr>
              <a:r>
                <a:rPr lang="en-US" b="true" sz="1400" spc="-7">
                  <a:solidFill>
                    <a:srgbClr val="606060"/>
                  </a:solidFill>
                  <a:latin typeface="Arimo Bold"/>
                  <a:ea typeface="Arimo Bold"/>
                  <a:cs typeface="Arimo Bold"/>
                  <a:sym typeface="Arimo Bold"/>
                </a:rPr>
                <a:t>Coefficient Value</a:t>
              </a:r>
            </a:p>
          </p:txBody>
        </p:sp>
      </p:grpSp>
      <p:sp>
        <p:nvSpPr>
          <p:cNvPr name="Freeform 19" id="19"/>
          <p:cNvSpPr/>
          <p:nvPr/>
        </p:nvSpPr>
        <p:spPr>
          <a:xfrm flipH="false" flipV="false" rot="0">
            <a:off x="3217445" y="7833672"/>
            <a:ext cx="5892422" cy="6493027"/>
          </a:xfrm>
          <a:custGeom>
            <a:avLst/>
            <a:gdLst/>
            <a:ahLst/>
            <a:cxnLst/>
            <a:rect r="r" b="b" t="t" l="l"/>
            <a:pathLst>
              <a:path h="6493027" w="5892422">
                <a:moveTo>
                  <a:pt x="0" y="0"/>
                </a:moveTo>
                <a:lnTo>
                  <a:pt x="5892422" y="0"/>
                </a:lnTo>
                <a:lnTo>
                  <a:pt x="5892422" y="6493027"/>
                </a:lnTo>
                <a:lnTo>
                  <a:pt x="0" y="64930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D9CE"/>
        </a:solidFill>
      </p:bgPr>
    </p:bg>
    <p:spTree>
      <p:nvGrpSpPr>
        <p:cNvPr id="1" name=""/>
        <p:cNvGrpSpPr/>
        <p:nvPr/>
      </p:nvGrpSpPr>
      <p:grpSpPr>
        <a:xfrm>
          <a:off x="0" y="0"/>
          <a:ext cx="0" cy="0"/>
          <a:chOff x="0" y="0"/>
          <a:chExt cx="0" cy="0"/>
        </a:xfrm>
      </p:grpSpPr>
      <p:grpSp>
        <p:nvGrpSpPr>
          <p:cNvPr name="Group 2" id="2"/>
          <p:cNvGrpSpPr/>
          <p:nvPr/>
        </p:nvGrpSpPr>
        <p:grpSpPr>
          <a:xfrm rot="0">
            <a:off x="377329" y="812550"/>
            <a:ext cx="7576006" cy="8661901"/>
            <a:chOff x="0" y="0"/>
            <a:chExt cx="10101342" cy="11549201"/>
          </a:xfrm>
        </p:grpSpPr>
        <p:sp>
          <p:nvSpPr>
            <p:cNvPr name="Freeform 3" id="3"/>
            <p:cNvSpPr/>
            <p:nvPr/>
          </p:nvSpPr>
          <p:spPr>
            <a:xfrm flipH="false" flipV="false" rot="0">
              <a:off x="0" y="135256"/>
              <a:ext cx="10101342" cy="11413946"/>
            </a:xfrm>
            <a:custGeom>
              <a:avLst/>
              <a:gdLst/>
              <a:ahLst/>
              <a:cxnLst/>
              <a:rect r="r" b="b" t="t" l="l"/>
              <a:pathLst>
                <a:path h="11413946" w="10101342">
                  <a:moveTo>
                    <a:pt x="0" y="0"/>
                  </a:moveTo>
                  <a:lnTo>
                    <a:pt x="10101342" y="0"/>
                  </a:lnTo>
                  <a:lnTo>
                    <a:pt x="10101342" y="11413945"/>
                  </a:lnTo>
                  <a:lnTo>
                    <a:pt x="0" y="114139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1095205">
              <a:off x="880720" y="748481"/>
              <a:ext cx="4758841" cy="1670581"/>
            </a:xfrm>
            <a:prstGeom prst="rect">
              <a:avLst/>
            </a:prstGeom>
          </p:spPr>
          <p:txBody>
            <a:bodyPr anchor="t" rtlCol="false" tIns="0" lIns="0" bIns="0" rIns="0">
              <a:spAutoFit/>
            </a:bodyPr>
            <a:lstStyle/>
            <a:p>
              <a:pPr algn="l">
                <a:lnSpc>
                  <a:spcPts val="4894"/>
                </a:lnSpc>
              </a:pPr>
              <a:r>
                <a:rPr lang="en-US" sz="4409">
                  <a:solidFill>
                    <a:srgbClr val="2E2025"/>
                  </a:solidFill>
                  <a:latin typeface="Distillery Script"/>
                  <a:ea typeface="Distillery Script"/>
                  <a:cs typeface="Distillery Script"/>
                  <a:sym typeface="Distillery Script"/>
                </a:rPr>
                <a:t>Hoşça </a:t>
              </a:r>
            </a:p>
            <a:p>
              <a:pPr algn="l">
                <a:lnSpc>
                  <a:spcPts val="4894"/>
                </a:lnSpc>
              </a:pPr>
              <a:r>
                <a:rPr lang="en-US" sz="4409">
                  <a:solidFill>
                    <a:srgbClr val="2E2025"/>
                  </a:solidFill>
                  <a:latin typeface="Distillery Script"/>
                  <a:ea typeface="Distillery Script"/>
                  <a:cs typeface="Distillery Script"/>
                  <a:sym typeface="Distillery Script"/>
                </a:rPr>
                <a:t>kalın...</a:t>
              </a:r>
            </a:p>
          </p:txBody>
        </p:sp>
      </p:grpSp>
      <p:sp>
        <p:nvSpPr>
          <p:cNvPr name="TextBox 5" id="5"/>
          <p:cNvSpPr txBox="true"/>
          <p:nvPr/>
        </p:nvSpPr>
        <p:spPr>
          <a:xfrm rot="0">
            <a:off x="8746736" y="1323404"/>
            <a:ext cx="8860295" cy="2854833"/>
          </a:xfrm>
          <a:prstGeom prst="rect">
            <a:avLst/>
          </a:prstGeom>
        </p:spPr>
        <p:txBody>
          <a:bodyPr anchor="t" rtlCol="false" tIns="0" lIns="0" bIns="0" rIns="0">
            <a:spAutoFit/>
          </a:bodyPr>
          <a:lstStyle/>
          <a:p>
            <a:pPr algn="l">
              <a:lnSpc>
                <a:spcPts val="11781"/>
              </a:lnSpc>
            </a:pPr>
            <a:r>
              <a:rPr lang="en-US" sz="6300">
                <a:solidFill>
                  <a:srgbClr val="E5654D"/>
                </a:solidFill>
                <a:latin typeface="TAN Songbird"/>
                <a:ea typeface="TAN Songbird"/>
                <a:cs typeface="TAN Songbird"/>
                <a:sym typeface="TAN Songbird"/>
              </a:rPr>
              <a:t>TEŞEKKÜR</a:t>
            </a:r>
          </a:p>
          <a:p>
            <a:pPr algn="l" marL="0" indent="0" lvl="0">
              <a:lnSpc>
                <a:spcPts val="11781"/>
              </a:lnSpc>
            </a:pPr>
            <a:r>
              <a:rPr lang="en-US" sz="6300">
                <a:solidFill>
                  <a:srgbClr val="E5654D"/>
                </a:solidFill>
                <a:latin typeface="TAN Songbird"/>
                <a:ea typeface="TAN Songbird"/>
                <a:cs typeface="TAN Songbird"/>
                <a:sym typeface="TAN Songbird"/>
              </a:rPr>
              <a:t>EDERİZ</a:t>
            </a:r>
          </a:p>
        </p:txBody>
      </p:sp>
      <p:grpSp>
        <p:nvGrpSpPr>
          <p:cNvPr name="Group 6" id="6"/>
          <p:cNvGrpSpPr/>
          <p:nvPr/>
        </p:nvGrpSpPr>
        <p:grpSpPr>
          <a:xfrm rot="0">
            <a:off x="8105735" y="5086350"/>
            <a:ext cx="9714996" cy="4625572"/>
            <a:chOff x="0" y="0"/>
            <a:chExt cx="12953328" cy="6167429"/>
          </a:xfrm>
        </p:grpSpPr>
        <p:sp>
          <p:nvSpPr>
            <p:cNvPr name="TextBox 7" id="7"/>
            <p:cNvSpPr txBox="true"/>
            <p:nvPr/>
          </p:nvSpPr>
          <p:spPr>
            <a:xfrm rot="0">
              <a:off x="6319077" y="495906"/>
              <a:ext cx="6634250" cy="4714308"/>
            </a:xfrm>
            <a:prstGeom prst="rect">
              <a:avLst/>
            </a:prstGeom>
          </p:spPr>
          <p:txBody>
            <a:bodyPr anchor="t" rtlCol="false" tIns="0" lIns="0" bIns="0" rIns="0">
              <a:spAutoFit/>
            </a:bodyPr>
            <a:lstStyle/>
            <a:p>
              <a:pPr algn="l">
                <a:lnSpc>
                  <a:spcPts val="3654"/>
                </a:lnSpc>
              </a:pPr>
              <a:r>
                <a:rPr lang="en-US" sz="3045" b="true">
                  <a:solidFill>
                    <a:srgbClr val="2E2025"/>
                  </a:solidFill>
                  <a:latin typeface="Agrandir Bold"/>
                  <a:ea typeface="Agrandir Bold"/>
                  <a:cs typeface="Agrandir Bold"/>
                  <a:sym typeface="Agrandir Bold"/>
                </a:rPr>
                <a:t>Dilara Çankaya</a:t>
              </a:r>
            </a:p>
            <a:p>
              <a:pPr algn="l">
                <a:lnSpc>
                  <a:spcPts val="3654"/>
                </a:lnSpc>
              </a:pPr>
              <a:r>
                <a:rPr lang="en-US" sz="3045" i="true">
                  <a:solidFill>
                    <a:srgbClr val="2E2025"/>
                  </a:solidFill>
                  <a:latin typeface="Agrandir Italics"/>
                  <a:ea typeface="Agrandir Italics"/>
                  <a:cs typeface="Agrandir Italics"/>
                  <a:sym typeface="Agrandir Italics"/>
                </a:rPr>
                <a:t>dilara.cankaya@gmail.com</a:t>
              </a:r>
            </a:p>
            <a:p>
              <a:pPr algn="l">
                <a:lnSpc>
                  <a:spcPts val="2679"/>
                </a:lnSpc>
              </a:pPr>
            </a:p>
            <a:p>
              <a:pPr algn="l">
                <a:lnSpc>
                  <a:spcPts val="3654"/>
                </a:lnSpc>
              </a:pPr>
              <a:r>
                <a:rPr lang="en-US" sz="3045" b="true">
                  <a:solidFill>
                    <a:srgbClr val="2E2025"/>
                  </a:solidFill>
                  <a:latin typeface="Agrandir Bold"/>
                  <a:ea typeface="Agrandir Bold"/>
                  <a:cs typeface="Agrandir Bold"/>
                  <a:sym typeface="Agrandir Bold"/>
                </a:rPr>
                <a:t>Eda Çelikeloğlu</a:t>
              </a:r>
            </a:p>
            <a:p>
              <a:pPr algn="l">
                <a:lnSpc>
                  <a:spcPts val="3654"/>
                </a:lnSpc>
              </a:pPr>
              <a:r>
                <a:rPr lang="en-US" sz="3045" i="true">
                  <a:solidFill>
                    <a:srgbClr val="2E2025"/>
                  </a:solidFill>
                  <a:latin typeface="Agrandir Italics"/>
                  <a:ea typeface="Agrandir Italics"/>
                  <a:cs typeface="Agrandir Italics"/>
                  <a:sym typeface="Agrandir Italics"/>
                </a:rPr>
                <a:t>edacelikeloglu@gmail.com</a:t>
              </a:r>
            </a:p>
            <a:p>
              <a:pPr algn="l">
                <a:lnSpc>
                  <a:spcPts val="2679"/>
                </a:lnSpc>
              </a:pPr>
            </a:p>
            <a:p>
              <a:pPr algn="l">
                <a:lnSpc>
                  <a:spcPts val="3654"/>
                </a:lnSpc>
              </a:pPr>
              <a:r>
                <a:rPr lang="en-US" sz="3045" b="true">
                  <a:solidFill>
                    <a:srgbClr val="2E2025"/>
                  </a:solidFill>
                  <a:latin typeface="Agrandir Bold"/>
                  <a:ea typeface="Agrandir Bold"/>
                  <a:cs typeface="Agrandir Bold"/>
                  <a:sym typeface="Agrandir Bold"/>
                </a:rPr>
                <a:t>Gizem Öge</a:t>
              </a:r>
            </a:p>
            <a:p>
              <a:pPr algn="l">
                <a:lnSpc>
                  <a:spcPts val="3654"/>
                </a:lnSpc>
              </a:pPr>
              <a:r>
                <a:rPr lang="en-US" sz="3045" i="true">
                  <a:solidFill>
                    <a:srgbClr val="2E2025"/>
                  </a:solidFill>
                  <a:latin typeface="Agrandir Italics"/>
                  <a:ea typeface="Agrandir Italics"/>
                  <a:cs typeface="Agrandir Italics"/>
                  <a:sym typeface="Agrandir Italics"/>
                </a:rPr>
                <a:t>gizemoge2@gmail.com</a:t>
              </a:r>
            </a:p>
          </p:txBody>
        </p:sp>
        <p:sp>
          <p:nvSpPr>
            <p:cNvPr name="Freeform 8" id="8"/>
            <p:cNvSpPr/>
            <p:nvPr/>
          </p:nvSpPr>
          <p:spPr>
            <a:xfrm flipH="false" flipV="false" rot="0">
              <a:off x="0" y="591156"/>
              <a:ext cx="4842063" cy="5576273"/>
            </a:xfrm>
            <a:custGeom>
              <a:avLst/>
              <a:gdLst/>
              <a:ahLst/>
              <a:cxnLst/>
              <a:rect r="r" b="b" t="t" l="l"/>
              <a:pathLst>
                <a:path h="5576273" w="4842063">
                  <a:moveTo>
                    <a:pt x="0" y="0"/>
                  </a:moveTo>
                  <a:lnTo>
                    <a:pt x="4842063" y="0"/>
                  </a:lnTo>
                  <a:lnTo>
                    <a:pt x="4842063" y="5576273"/>
                  </a:lnTo>
                  <a:lnTo>
                    <a:pt x="0" y="5576273"/>
                  </a:lnTo>
                  <a:lnTo>
                    <a:pt x="0" y="0"/>
                  </a:lnTo>
                  <a:close/>
                </a:path>
              </a:pathLst>
            </a:custGeom>
            <a:blipFill>
              <a:blip r:embed="rId4"/>
              <a:stretch>
                <a:fillRect l="0" t="0" r="0" b="0"/>
              </a:stretch>
            </a:blipFill>
          </p:spPr>
        </p:sp>
        <p:sp>
          <p:nvSpPr>
            <p:cNvPr name="TextBox 9" id="9"/>
            <p:cNvSpPr txBox="true"/>
            <p:nvPr/>
          </p:nvSpPr>
          <p:spPr>
            <a:xfrm rot="0">
              <a:off x="892767" y="-66675"/>
              <a:ext cx="5154684" cy="574675"/>
            </a:xfrm>
            <a:prstGeom prst="rect">
              <a:avLst/>
            </a:prstGeom>
          </p:spPr>
          <p:txBody>
            <a:bodyPr anchor="t" rtlCol="false" tIns="0" lIns="0" bIns="0" rIns="0">
              <a:spAutoFit/>
            </a:bodyPr>
            <a:lstStyle/>
            <a:p>
              <a:pPr algn="l">
                <a:lnSpc>
                  <a:spcPts val="3054"/>
                </a:lnSpc>
              </a:pPr>
              <a:r>
                <a:rPr lang="en-US" sz="2545" i="true">
                  <a:solidFill>
                    <a:srgbClr val="606060"/>
                  </a:solidFill>
                  <a:latin typeface="Agrandir Italics"/>
                  <a:ea typeface="Agrandir Italics"/>
                  <a:cs typeface="Agrandir Italics"/>
                  <a:sym typeface="Agrandir Italics"/>
                </a:rPr>
                <a:t>Kaggle notebook için: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DAGCmgs7Uhc</dc:identifier>
  <dcterms:modified xsi:type="dcterms:W3CDTF">2011-08-01T06:04:30Z</dcterms:modified>
  <cp:revision>1</cp:revision>
  <dc:title>Women in Datathon - Mar24</dc:title>
</cp:coreProperties>
</file>